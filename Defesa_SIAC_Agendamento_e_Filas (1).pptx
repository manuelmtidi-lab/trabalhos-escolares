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0" r:id="rId21"/>
    <p:sldId id="265" r:id="rId11"/>
    <p:sldId id="266" r:id="rId12"/>
    <p:sldId id="267" r:id="rId13"/>
    <p:sldId id="271" r:id="rId22"/>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c8963d2e-3610-9a29-f569-f03e96f553c3}">
          <p14:sldIdLst>
            <p14:sldId id="256"/>
          </p14:sldIdLst>
        </p14:section>
        <p14:section name="Enquadramento" id="{60d8ba0b-faa3-a776-ab5e-64d1437cb475}">
          <p14:sldIdLst>
            <p14:sldId id="257"/>
            <p14:sldId id="258"/>
            <p14:sldId id="259"/>
            <p14:sldId id="260"/>
          </p14:sldIdLst>
        </p14:section>
        <p14:section name="Metodologia e comparação" id="{a3f71f14-8d16-a255-54b4-08ffe630dde8}">
          <p14:sldIdLst>
            <p14:sldId id="261"/>
            <p14:sldId id="262"/>
            <p14:sldId id="263"/>
          </p14:sldIdLst>
        </p14:section>
        <p14:section name="Solução proposta" id="{c5f3b127-8815-4c02-fb80-17b6f1a71a07}">
          <p14:sldIdLst>
            <p14:sldId id="264"/>
            <p14:sldId id="265"/>
            <p14:sldId id="266"/>
            <p14:sldId id="267"/>
            <p14:sldId id="268"/>
          </p14:sldIdLst>
        </p14:section>
        <p14:section name="Fecho" id="{7df06e71-f7a4-bc3b-ee17-b66f3df0acdb}">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0.xml"/><Relationship Id="rId22"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Bom dia/boa tarde. Eu sou o Manuel Mavitidi Da Cunha, nº 15, turma CTI. O meu trabalho é um estudo de caso: o desenvolvimento de um sistema angolano de agendamento e gestão de filas de atendimento para o SIAC. Vou apresentar o problema, o que já existe, a solução que proponho e as tecnologias que escolhi, e porquê. O trabalho está na fase de proposta e de desenho: ainda não há protótipo nem dados medidos no posto.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SIAC é um estabelecimento público do Estado, com âmbito nacional, que funciona como balcão único: o BI, o registo e outros serviços no mesmo sítio. Por isso é de esperar muita procura, mas ainda não temos dados medidos do posto que vamos estudar. O Estatuto Orgânico até atribui ao SIAC a avaliação estatística dos serviços para redimensionar o atendimento. O ambiente está a mudar: o Governo anunciou que quer levar a emissão do BI aos BUAP e a cerca de 600 postos, e melhorar o atendimento nos picos, como férias escolares e concursos públicos (Ver Angola, 2024). Foram também noticiadas taxas mais altas no SIAC (Expansão, s.d.-b), o que torna razoável esperar um atendimento melhor.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Imaginem: uma pessoa acorda às quatro da manhã, passa horas na fila para conseguir senha e, ao chegar ao balcão, descobre que falta um documento. Perdeu a manhã. Isto pode afectar os dois lados. O utente: esperas longas, viagens em vão e sem poder planear. O SIAC: dificuldade em decidir quantos funcionários pôr em cada balcão e falta de dados sobre a duração dos atendimentos e as horas de pico. Atenção: as fontes que consultei mostram filas noutros balcões, como o registo eleitoral em BUAP e uma repartição de identificação, mas não mostram, para o SIAC, quanto se espera. Por isso estas consequências são hipóteses, que vou verificar no posto.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pergunta principal é: de que forma um sistema angolano de agendamento e gestão de filas, complementar ao sistema de senhas já existente, pode diminuir o tempo de espera e as idas em vão dos utentes do SIAC e ser sustentado em Angola? Para responder, divido em seis perguntas mais pequenas: quanto se espera hoje e o que provoca idas em vão; como ligar a aplicação às senhas e aos ecrãs existentes; o que querem utentes e funcionários; o que fazem bem e mal os sistemas semelhantes; que requisitos e tecnologias servem Angola; e quem mantém o sistema depois de construído. Tenho três hipóteses: reservar à distância e saber o que levar reduz idas em vão e espera; avisos por SMS permitem esperar fora do posto e reduzem faltas; e o sistema só será usado se for simples, leve e gratuito, e só dura se a manutenção couber nos recursos do SIAC e da equipa.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objectivo geral é desenvolver um sistema angolano de agendamento e gestão de filas para o SIAC, complementar ao sistema de senhas já existente, para que utentes e funcionários percam menos tempo e para que o sistema possa ser mantido em Angola. No documento tenho nove objectivos específicos; aqui agrupei-os em seis: caracterizar o caso e definir a metodologia; comparar soluções existentes; especificar os requisitos funcionais e não funcionais; definir a arquitectura, os dados e a ligação às senhas; justificar as tecnologias e avaliar a sustentabilidade; e, por fim, construir o protótipo e testá-lo. Este trabalho cobre sobretudo a proposta e o desenho; a recolha de dados e os testes são a fase seguinte.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as conclusões não dependerem de uma única fonte, uso cinco métodos: observação, cronómetro, inquérito a cerca de 30 a 50 utentes, entrevistas e pesquisa em documentos. O tempo de espera conta desde que o utente recebe a senha até ser chamado ao balcão, e o de atendimento desde que chega ao balcão até ao fim; são registados em separado, com a proposta de pelo menos 30 casos por serviço. O caso é delimitado a um posto do SIAC em Luanda, aos dois ou três serviços mais procurados, num dia normal e num dia de muito movimento. Depois do protótipo, faria um teste de usabilidade com 5 a 8 pessoas; mas só um piloto no posto, com tempos medidos antes e depois, pode provar que a espera diminuiu. Recolher dados numa instituição pública exige autorização, pedida com carta de apresentação da escola. Os números são propostas e o posto ainda não está definido.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Comparei soluções que o SIAC poderia, em teoria, adoptar ou contratar: os portais do SME e do DTSER, que já contam cerca de 400 mil utilizadores; a Qmatic, um sistema comercial internacional de filas; e a Waitwhile, uma plataforma de listas de espera. Analisei ainda, só como referência de ideias, o Poupatempo, em São Paulo, os consulados angolanos e o gov.pt, em Portugal. Onde diz A confirmar, a informação pública não deixa afirmar nem negar. A nossa proposta mostra o que pretendemos alcançar, não algo já construído. Os preços da Qmatic não são públicos, por isso não presumi valores. Além do que está na tabela, o documento compara também relatórios para a gestão, língua, local dos dados e suporte.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 comparação tiro cinco ideias, que juntei em quatro. Um: marcar online já é possível em Angola, o desafio é adaptá-lo a um atendimento presencial com muita gente. Dois: falta a ligação à vez no próprio posto; esta conclusão é provisória, por causa dos campos a confirmar. Três: é preciso incluir quem não tem smartphone: no fim de 2025, só 44,8% dos angolanos usavam a internet. Quatro: os sistemas comerciais são completos, mas pouco práticos aqui, por causa dos custos, da moeda e da dependência; e o centro de apoio criado pelo SME mostra que a tecnologia não substitui o balcão. A nossa proposta não quer substituir o que existe, quer juntar as melhores ideias numa solução de baixo custo, feita em Angola, com dados em Angola e suporte local. Reconheço que os outros são mais maduros: por isso proponho um piloto pequeno antes de qualquer expansão.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Antes de escolher tecnologias, defini o que o sistema tem de fazer. São 15 requisitos funcionais, por exemplo criar conta com confirmação do telemóvel, consultar serviços e documentos, marcar, cancelar e alterar, receber comprovativo e avisos, validação pelo funcionário, marcação assistida para quem não tem telemóvel, relatórios e avaliação do atendimento. E 9 não funcionais: funcionar em telemóveis simples e com internet lenta, ser fácil de usar em português, ser seguro, proteger os dados segundo a Lei 22/11, nunca impedir o atendimento, aguentar os dias de pico sem dar a mesma vaga a duas pessoas, ser fácil de manter, ter uma API documentada e ter custo recorrente baixo. O caminho principal, no modo A: o utente marca e recebe o comprovativo; o sistema guarda e envia lembretes; no posto, o funcionário valida o comprovativo e pede a senha no sistema que o SIAC já tem; o utente segue o circuito normal; e o funcionário regista o início e o fim do atendimento, que alimentam os relatórios.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sistema tem cinco camadas. Os canais de acesso: a aplicação web do utente, os painéis do funcionário e do administrador, e as mensagens SMS. A aplicação, ou back-end: a parte que o utilizador não vê, onde ficam as regras, como quem pode marcar, quantas vagas há e como se calculam as esperas. Os dados: utentes, postos, serviços, vagas, marcações e atendimentos; cada atendimento guarda a hora de chegada, de início e de fim, e é com elas que os relatórios calculam a espera e a duração. As ligações ao exterior: o SMS, o sistema de senhas do SIAC, se permitir, e no futuro a identidade digital e a RUPE. E a infra-estrutura: o servidor, as cópias de segurança e, de preferência, o alojamento em território nacional.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Django: já vem seguro, com login, perfis e protecção contra os ataques mais comuns, o que importa porque vamos guardar dados pessoais; tem painel de administração pronto; é rápido de desenvolver; e Python combina com análise de dados para os relatórios. Uso a versão 5.2 LTS, com correcções de segurança até Abril de 2028. Comparei com Spring Boot, Laravel e Node.js: o Spring Boot é a alternativa mais forte, mas dá mais trabalho a configurar; se o professor preferir Java, o projecto continua válido, só muda a camada da aplicação. PostgreSQL: impede duas pessoas ficarem com a mesma vaga, mesmo com muita gente a marcar ao mesmo tempo, graças às transacções e às restrições de unicidade; é gratuito e a versão 18 tem suporte até Novembro de 2030. O MySQL também serviria. No front-end uso HTML, CSS e JavaScript simples, sem frameworks pesadas, numa PWA: um site que funciona como aplicação, sem instalar, em Android, iPhone e computador. O SMS será a principal despesa recorrente, por isso uso notificações da PWA sempre que possível. Docker, Nginx e Gunicorn tornam a instalação simples e repetível.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Um sistema só serve se chegar a toda a gente. O SMS chega a qualquer telemóvel, mas tem custo por mensagem, por isso uso-o só em momentos indispensáveis. As notificações da PWA não têm custo por mensagem, para quem tem smartphone. Quem não tem telemóvel ou não sabe usar tecnologia pede ao balcão de apoio que marque por si. O WhatsApp Business e o USSD ficam para uma fase seguinte, porque exigem confirmar custos e acordos com as operadoras. Quanto à segurança, está pensada desde o princípio: HTTPS, palavras-passe guardadas em hash, perfis com permissões, confirmação do telemóvel, limite de marcações, registo de acções e cópias de segurança. Recolho apenas nome, BI e telemóvel, em linha com a Lei 22/11, de 17 de Junho, e de preferência o sistema fica alojado em Angola, por exemplo no Data Center e Cloud Nacional, se o Estado o permitir. O código QR não prova identidade: o funcionário confirma sempre com o BI. Estas medidas ajudam, mas a conformidade legal deve ser validada por um jurista.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cada risco há uma medida de prevenção. Se o SIAC não autorizar a recolha de dados ou o piloto, insisto por carta da escola e começo com voluntários e dados fictícios. Se o sistema de senhas não permitir ligação técnica, uso o modo A, que não depende dela. Se houver pouca adesão, há marcação assistida, SMS e ajuda no posto. Se os SMS saírem mais caros, uso-os só quando necessário e negoceio com as operadoras. Se a rede, a energia ou a aplicação falharem, o posto continua a atender por ordem de chegada com o sistema existente: o atendimento nunca depende da aplicação. E os dados pessoais são protegidos com HTTPS, permissões, recolha mínima e alojamento nacional. Há ainda outros riscos no documento, como funcionários que não gostam da mudança e a equipa deixar de poder manter o sistema. Termino com as limitações: ainda não há dados medidos nem protótipo testado, e os custos dependem de orçamentos reais.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resumo: marcar online já é possível em Angola, mas falta ligar a marcação à vez no próprio posto. A resposta que dou à pergunta de pesquisa é provisória: um sistema que complemente as senhas e os ecrãs já existentes, com marcação, lista de documentos, validação por um funcionário, avisos e relatórios, tem condições para ajudar a reduzir a espera e as viagens em vão, e pode ser mantido em Angola com tecnologias abertas, desde que as hipóteses se confirmem no posto e o SIAC aceite o piloto. Ainda não há protótipo nem dados medidos. Os próximos passos são obter a autorização do SIAC, medir no posto, confirmar o sistema de senhas, construir o protótipo e testá-lo com utentes e funcionários. Obrigado pela atenção; estou disponível para perguntas.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é a parte do projecto que mais depende do SIAC, por isso desenhei dois modos. No modo A, que é o ponto de partida do piloto, não há integração técnica: o utente mostra o comprovativo, o funcionário do balcão de apoio valida-o, confere o BI e pede uma senha no sistema que o posto já usa, registando o número da senha na nossa aplicação. Assim existe uma só fila, a das senhas. A desvantagem é que o sistema só conhece o que o funcionário regista, por isso a estimativa de espera é aproximada. No modo B, se o SIAC permitir, o nosso servidor lê a senha actual e a fila directamente, e os avisos saem automaticamente. Não parto do princípio de que existe uma API. A ordem entre quem tem marcação e quem não tem, a tolerância de atraso e a quota para quem não marca são decisões do SIAC; eu não as invento. O que falta confirmar é que sistema de senhas existe e se permite ligação.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Construir o sistema é só metade do trabalho; a outra metade é garantir que continua a funcionar daqui a um, dois ou cinco anos. Analisei a sustentabilidade em três dimensões. Técnica: só escolhi tecnologias que a equipa consegue aprender e manter, e o código fica num repositório com acesso para pelo menos duas pessoas, com documentação. Financeira: não há licenças; as despesas são alojamento, SMS, domínio, cópias de segurança e manutenção. Só o preço de referência do SMS tem fonte pública, em euros, de um fornecedor internacional; os restantes custos ainda precisam de cotações em kwanzas, e eu não inventei números. O decreto das taxas do SIAC determina que o valor cobrado reverte a 100% a favor do SIAC, o que sugere que há fonte própria para custos pequenos, mas é uma proposta a discutir. Organizacional: protocolo escrito entre a escola e o SIAC, um responsável no SIAC e passagem de testemunho no fim do piloto. Avanço em três fases: protótipo escolar com dados fictícios, piloto num posto e, por fim, expansão e entrega da manutenção.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1417320"/>
            <a:ext cx="4663440" cy="1600200"/>
          </a:xfrm>
          <a:prstGeom prst="rect">
            <a:avLst/>
          </a:prstGeom>
          <a:noFill/>
          <a:ln/>
        </p:spPr>
        <p:txBody>
          <a:bodyPr wrap="square" rtlCol="0"/>
          <a:lstStyle>
            <a:lvl1pPr algn="l" indent="0" marL="0">
              <a:buNone/>
              <a:defRPr lang="en-US" sz="2800" b="1" dirty="0">
                <a:solidFill>
                  <a:schemeClr val="accent1"/>
                </a:solidFill>
              </a:defRPr>
            </a:lvl1pPr>
          </a:lstStyle>
          <a:p>
            <a:pPr algn="l" indent="0" marL="0">
              <a:buNone/>
            </a:pPr>
            <a:endParaRPr lang="en-US" sz="2800" dirty="0"/>
          </a:p>
        </p:txBody>
      </p:sp>
      <p:sp>
        <p:nvSpPr>
          <p:cNvPr id="3" name="Text 0"/>
          <p:cNvSpPr/>
          <p:nvPr>
            <p:ph idx="101" type="body" hasCustomPrompt="1"/>
          </p:nvPr>
        </p:nvSpPr>
        <p:spPr>
          <a:xfrm>
            <a:off x="594360" y="3108960"/>
            <a:ext cx="4663440" cy="365760"/>
          </a:xfrm>
          <a:prstGeom prst="rect">
            <a:avLst/>
          </a:prstGeom>
          <a:noFill/>
          <a:ln/>
        </p:spPr>
        <p:txBody>
          <a:bodyPr wrap="square" rtlCol="0"/>
          <a:lstStyle>
            <a:lvl1pPr algn="l" indent="0" marL="0">
              <a:buNone/>
              <a:defRPr lang="en-US" sz="1600" dirty="0">
                <a:solidFill>
                  <a:schemeClr val="accent5"/>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512064"/>
            <a:ext cx="256032" cy="201168"/>
          </a:xfrm>
          <a:prstGeom prst="rect">
            <a:avLst/>
          </a:prstGeom>
        </p:spPr>
      </p:pic>
      <p:sp>
        <p:nvSpPr>
          <p:cNvPr id="3" name="Text 0"/>
          <p:cNvSpPr/>
          <p:nvPr>
            <p:ph idx="101" type="title" hasCustomPrompt="1"/>
          </p:nvPr>
        </p:nvSpPr>
        <p:spPr>
          <a:xfrm>
            <a:off x="822960" y="274320"/>
            <a:ext cx="7863840" cy="68580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endParaRPr lang="en-US" sz="3000" dirty="0"/>
          </a:p>
        </p:txBody>
      </p:sp>
      <p:sp>
        <p:nvSpPr>
          <p:cNvPr id="4"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SIAC  ·  Agendamento e Gestão de Filas</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F20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512064"/>
            <a:ext cx="256032" cy="201168"/>
          </a:xfrm>
          <a:prstGeom prst="rect">
            <a:avLst/>
          </a:prstGeom>
        </p:spPr>
      </p:pic>
      <p:sp>
        <p:nvSpPr>
          <p:cNvPr id="3" name="Text 0"/>
          <p:cNvSpPr/>
          <p:nvPr>
            <p:ph idx="101" type="title" hasCustomPrompt="1"/>
          </p:nvPr>
        </p:nvSpPr>
        <p:spPr>
          <a:xfrm>
            <a:off x="822960" y="274320"/>
            <a:ext cx="786384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6"/>
                </a:solidFill>
              </a:rPr>
              <a:t>SIAC  ·  Agendamento e Gestão de Filas</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3.xml"/><Relationship Id="rId15"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6.xml"/><Relationship Id="rId9" Type="http://schemas.openxmlformats.org/officeDocument/2006/relationships/image" Target="../media/image-2-4.png"/><Relationship Id="rId10" Type="http://schemas.openxmlformats.org/officeDocument/2006/relationships/image" Target="../media/image-2-3.png"/><Relationship Id="rId11" Type="http://schemas.openxmlformats.org/officeDocument/2006/relationships/image" Target="../media/image-14-3.png"/><Relationship Id="rId12"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3.xml"/><Relationship Id="rId1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frame_out"/>
          <p:cNvSpPr/>
          <p:nvPr/>
        </p:nvSpPr>
        <p:spPr>
          <a:xfrm>
            <a:off x="228600" y="228600"/>
            <a:ext cx="8686800" cy="4686300"/>
          </a:xfrm>
          <a:prstGeom prst="rect">
            <a:avLst/>
          </a:prstGeom>
          <a:ln w="28575">
            <a:solidFill>
              <a:schemeClr val="tx1"/>
            </a:solidFill>
            <a:prstDash val="solid"/>
          </a:ln>
        </p:spPr>
      </p:sp>
      <p:sp>
        <p:nvSpPr>
          <p:cNvPr id="3" name="frame_in"/>
          <p:cNvSpPr/>
          <p:nvPr/>
        </p:nvSpPr>
        <p:spPr>
          <a:xfrm>
            <a:off x="301752" y="301752"/>
            <a:ext cx="8540496" cy="4539996"/>
          </a:xfrm>
          <a:prstGeom prst="rect">
            <a:avLst/>
          </a:prstGeom>
          <a:ln w="9525">
            <a:solidFill>
              <a:schemeClr val="tx1"/>
            </a:solidFill>
            <a:prstDash val="solid"/>
          </a:ln>
        </p:spPr>
      </p:sp>
      <p:pic>
        <p:nvPicPr>
          <p:cNvPr id="4" name="g0_itcl" descr="Logótipo do ITCL">    </p:cNvPr>
          <p:cNvPicPr>
            <a:picLocks noChangeAspect="1"/>
          </p:cNvPicPr>
          <p:nvPr/>
        </p:nvPicPr>
        <p:blipFill>
          <a:blip r:embed="rId1"/>
          <a:stretch>
            <a:fillRect/>
          </a:stretch>
        </p:blipFill>
        <p:spPr>
          <a:xfrm>
            <a:off x="594360" y="548640"/>
            <a:ext cx="1737360" cy="594360"/>
          </a:xfrm>
          <a:prstGeom prst="rect">
            <a:avLst/>
          </a:prstGeom>
        </p:spPr>
      </p:pic>
      <p:sp>
        <p:nvSpPr>
          <p:cNvPr id="5" name="g0_min"/>
          <p:cNvSpPr txBox="1"/>
          <p:nvPr/>
        </p:nvSpPr>
        <p:spPr>
          <a:xfrm>
            <a:off x="2560320" y="603504"/>
            <a:ext cx="4114800" cy="502920"/>
          </a:xfrm>
          <a:prstGeom prst="rect">
            <a:avLst/>
          </a:prstGeom>
          <a:noFill/>
          <a:ln/>
        </p:spPr>
        <p:txBody>
          <a:bodyPr wrap="square" lIns="0" tIns="0" rIns="0" bIns="0" rtlCol="0" anchor="t"/>
          <a:lstStyle/>
          <a:p>
            <a:pPr indent="0" marL="0">
              <a:buNone/>
            </a:pPr>
            <a:r>
              <a:rPr lang="en-US" sz="1200" b="1" dirty="0">
                <a:solidFill>
                  <a:schemeClr val="tx1"/>
                </a:solidFill>
              </a:rPr>
              <a:t>Ministério da Educação</a:t>
            </a:r>
            <a:endParaRPr lang="en-US" sz="1200" dirty="0"/>
          </a:p>
          <a:p>
            <a:pPr indent="0" marL="0">
              <a:buNone/>
            </a:pPr>
            <a:r>
              <a:rPr lang="en-US" sz="1200" b="1" dirty="0">
                <a:solidFill>
                  <a:schemeClr val="tx1"/>
                </a:solidFill>
              </a:rPr>
              <a:t>Instituto Técnico Comercial de Luanda</a:t>
            </a:r>
            <a:endParaRPr lang="en-US" sz="1200" dirty="0"/>
          </a:p>
        </p:txBody>
      </p:sp>
      <p:sp>
        <p:nvSpPr>
          <p:cNvPr id="6" name="Text 0"/>
          <p:cNvSpPr/>
          <p:nvPr>
            <p:ph idx="100" type="title" hasCustomPrompt="1"/>
          </p:nvPr>
        </p:nvSpPr>
        <p:spPr>
          <a:xfrm>
            <a:off x="594360" y="1417320"/>
            <a:ext cx="4663440" cy="1600200"/>
          </a:xfrm>
          <a:prstGeom prst="rect">
            <a:avLst/>
          </a:prstGeom>
          <a:noFill/>
          <a:ln/>
        </p:spPr>
        <p:txBody>
          <a:bodyPr wrap="square" lIns="0" tIns="0" rIns="0" bIns="0" rtlCol="0" anchor="t"/>
          <a:lstStyle/>
          <a:p>
            <a:pPr algn="l" indent="0" marL="0">
              <a:buNone/>
            </a:pPr>
            <a:r>
              <a:rPr lang="en-US" sz="2400" b="1" dirty="0">
                <a:solidFill>
                  <a:schemeClr val="accent1"/>
                </a:solidFill>
              </a:rPr>
              <a:t>Desenvolvimento de um Sistema Angolano de Agendamento e Gestão de Filas de Atendimento para o SIAC</a:t>
            </a:r>
            <a:endParaRPr lang="en-US" sz="2800" dirty="0"/>
          </a:p>
        </p:txBody>
      </p:sp>
      <p:sp>
        <p:nvSpPr>
          <p:cNvPr id="7" name="Text 0"/>
          <p:cNvSpPr/>
          <p:nvPr>
            <p:ph idx="101" type="body" hasCustomPrompt="1"/>
          </p:nvPr>
        </p:nvSpPr>
        <p:spPr>
          <a:xfrm>
            <a:off x="594360" y="3108960"/>
            <a:ext cx="4663440" cy="365760"/>
          </a:xfrm>
          <a:prstGeom prst="rect">
            <a:avLst/>
          </a:prstGeom>
          <a:noFill/>
          <a:ln/>
        </p:spPr>
        <p:txBody>
          <a:bodyPr wrap="square" lIns="0" tIns="0" rIns="0" bIns="0" rtlCol="0" anchor="t"/>
          <a:lstStyle/>
          <a:p>
            <a:pPr algn="l" indent="0" marL="0">
              <a:buNone/>
            </a:pPr>
            <a:r>
              <a:rPr lang="en-US" sz="1600" dirty="0">
                <a:solidFill>
                  <a:schemeClr val="accent5"/>
                </a:solidFill>
              </a:rPr>
              <a:t>Estudo de Caso  |  Defesa do trabalho</a:t>
            </a:r>
            <a:endParaRPr lang="en-US" sz="1600" dirty="0"/>
          </a:p>
        </p:txBody>
      </p:sp>
      <p:sp>
        <p:nvSpPr>
          <p:cNvPr id="8" name="g1_panel"/>
          <p:cNvSpPr/>
          <p:nvPr/>
        </p:nvSpPr>
        <p:spPr>
          <a:xfrm>
            <a:off x="5440680" y="1234440"/>
            <a:ext cx="3154680" cy="2194560"/>
          </a:xfrm>
          <a:prstGeom prst="roundRect">
            <a:avLst>
              <a:gd name="adj" fmla="val 6250"/>
            </a:avLst>
          </a:prstGeom>
          <a:solidFill>
            <a:schemeClr val="bg2"/>
          </a:solidFill>
          <a:ln/>
          <a:effectLst>
            <a:outerShdw sx="100000" sy="100000" kx="0" ky="0" algn="bl" rotWithShape="0" blurRad="101600" dist="25400" dir="5400000">
              <a:srgbClr val="000000">
                <a:alpha val="10000"/>
              </a:srgbClr>
            </a:outerShdw>
          </a:effectLst>
        </p:spPr>
      </p:sp>
      <p:pic>
        <p:nvPicPr>
          <p:cNvPr id="9" name="g1_siac" descr="Logótipo do SIAC">    </p:cNvPr>
          <p:cNvPicPr>
            <a:picLocks noChangeAspect="1"/>
          </p:cNvPicPr>
          <p:nvPr/>
        </p:nvPicPr>
        <p:blipFill>
          <a:blip r:embed="rId2"/>
          <a:stretch>
            <a:fillRect/>
          </a:stretch>
        </p:blipFill>
        <p:spPr>
          <a:xfrm>
            <a:off x="5669280" y="1645920"/>
            <a:ext cx="2697480" cy="1377086"/>
          </a:xfrm>
          <a:prstGeom prst="rect">
            <a:avLst/>
          </a:prstGeom>
        </p:spPr>
      </p:pic>
      <p:sp>
        <p:nvSpPr>
          <p:cNvPr id="10" name="g3_autor"/>
          <p:cNvSpPr txBox="1"/>
          <p:nvPr/>
        </p:nvSpPr>
        <p:spPr>
          <a:xfrm>
            <a:off x="594360" y="3840480"/>
            <a:ext cx="4754880" cy="64008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Autor: </a:t>
            </a:r>
            <a:r>
              <a:rPr lang="en-US" sz="1400" dirty="0">
                <a:solidFill>
                  <a:schemeClr val="tx1"/>
                </a:solidFill>
              </a:rPr>
              <a:t>Manuel Mavitidi Da Cunha</a:t>
            </a:r>
            <a:endParaRPr lang="en-US" sz="1400" dirty="0"/>
          </a:p>
          <a:p>
            <a:pPr indent="0" marL="0">
              <a:spcAft>
                <a:spcPts val="400"/>
              </a:spcAft>
              <a:buNone/>
            </a:pPr>
            <a:r>
              <a:rPr lang="en-US" sz="1400" dirty="0">
                <a:solidFill>
                  <a:schemeClr val="tx1"/>
                </a:solidFill>
              </a:rPr>
              <a:t>Nº 15   ·   Turma: CTI   ·   Turno: Tarde</a:t>
            </a:r>
            <a:endParaRPr lang="en-US" sz="1400" dirty="0"/>
          </a:p>
        </p:txBody>
      </p:sp>
      <p:sp>
        <p:nvSpPr>
          <p:cNvPr id="11" name="g3_doc"/>
          <p:cNvSpPr txBox="1"/>
          <p:nvPr/>
        </p:nvSpPr>
        <p:spPr>
          <a:xfrm>
            <a:off x="5669280" y="3840480"/>
            <a:ext cx="2926080" cy="640080"/>
          </a:xfrm>
          <a:prstGeom prst="rect">
            <a:avLst/>
          </a:prstGeom>
          <a:noFill/>
          <a:ln/>
        </p:spPr>
        <p:txBody>
          <a:bodyPr wrap="square" lIns="0" tIns="0" rIns="0" bIns="0" rtlCol="0" anchor="t"/>
          <a:lstStyle/>
          <a:p>
            <a:pPr indent="0" marL="0">
              <a:buNone/>
            </a:pPr>
            <a:r>
              <a:rPr lang="en-US" sz="1200" b="1" dirty="0">
                <a:solidFill>
                  <a:schemeClr val="accent5"/>
                </a:solidFill>
              </a:rPr>
              <a:t>Docente</a:t>
            </a:r>
            <a:endParaRPr lang="en-US" sz="1400" dirty="0"/>
          </a:p>
          <a:p>
            <a:pPr indent="0" marL="0">
              <a:buNone/>
            </a:pPr>
            <a:r>
              <a:rPr lang="en-US" sz="1400" b="1" u="sng" dirty="0">
                <a:solidFill>
                  <a:schemeClr val="tx1"/>
                </a:solidFill>
              </a:rPr>
              <a:t>Prof. Marcial Mbango</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2"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par>
                                <p:cTn id="13" presetID="10" presetClass="entr" presetSubtype="0" fill="hold" nodeType="withEffect">
                                  <p:stCondLst>
                                    <p:cond delay="22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50"/>
                                        <p:tgtEl>
                                          <p:spTgt spid="9"/>
                                        </p:tgtEl>
                                      </p:cBhvr>
                                    </p:animEffect>
                                  </p:childTnLst>
                                </p:cTn>
                              </p:par>
                              <p:par>
                                <p:cTn id="16" presetID="10" presetClass="entr" presetSubtype="0" fill="hold" grpId="0" nodeType="withEffect">
                                  <p:stCondLst>
                                    <p:cond delay="44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childTnLst>
                                </p:cTn>
                              </p:par>
                              <p:par>
                                <p:cTn id="19" presetID="10" presetClass="entr" presetSubtype="0" fill="hold" grpId="0" nodeType="withEffect">
                                  <p:stCondLst>
                                    <p:cond delay="44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O SIAC e a procura por atendimento</a:t>
            </a:r>
            <a:endParaRPr lang="en-US" sz="3000" dirty="0"/>
          </a:p>
        </p:txBody>
      </p:sp>
      <p:sp>
        <p:nvSpPr>
          <p:cNvPr id="3" name="g0_card"/>
          <p:cNvSpPr/>
          <p:nvPr/>
        </p:nvSpPr>
        <p:spPr>
          <a:xfrm>
            <a:off x="457200" y="1188720"/>
            <a:ext cx="3566160" cy="3246120"/>
          </a:xfrm>
          <a:prstGeom prst="roundRect">
            <a:avLst>
              <a:gd name="adj" fmla="val 3380"/>
            </a:avLst>
          </a:prstGeom>
          <a:solidFill>
            <a:schemeClr val="tx1"/>
          </a:solidFill>
          <a:ln/>
          <a:effectLst>
            <a:outerShdw sx="100000" sy="100000" kx="0" ky="0" algn="bl" rotWithShape="0" blurRad="101600" dist="25400" dir="5400000">
              <a:srgbClr val="000000">
                <a:alpha val="10000"/>
              </a:srgbClr>
            </a:outerShdw>
          </a:effectLst>
        </p:spPr>
      </p:sp>
      <p:sp>
        <p:nvSpPr>
          <p:cNvPr id="4" name="g0_ic"/>
          <p:cNvSpPr/>
          <p:nvPr/>
        </p:nvSpPr>
        <p:spPr>
          <a:xfrm>
            <a:off x="731520" y="1463040"/>
            <a:ext cx="594360" cy="594360"/>
          </a:xfrm>
          <a:prstGeom prst="ellipse">
            <a:avLst/>
          </a:prstGeom>
          <a:solidFill>
            <a:schemeClr val="accent3"/>
          </a:solidFill>
          <a:ln/>
        </p:spPr>
      </p:sp>
      <p:pic>
        <p:nvPicPr>
          <p:cNvPr id="5" name="g0_im" descr="ícone">    </p:cNvPr>
          <p:cNvPicPr>
            <a:picLocks noChangeAspect="1"/>
          </p:cNvPicPr>
          <p:nvPr/>
        </p:nvPicPr>
        <p:blipFill>
          <a:blip r:embed="rId1"/>
          <a:stretch>
            <a:fillRect/>
          </a:stretch>
        </p:blipFill>
        <p:spPr>
          <a:xfrm>
            <a:off x="874166" y="1605686"/>
            <a:ext cx="309067" cy="309067"/>
          </a:xfrm>
          <a:prstGeom prst="rect">
            <a:avLst/>
          </a:prstGeom>
        </p:spPr>
      </p:pic>
      <p:sp>
        <p:nvSpPr>
          <p:cNvPr id="6" name="g0_t1"/>
          <p:cNvSpPr txBox="1"/>
          <p:nvPr/>
        </p:nvSpPr>
        <p:spPr>
          <a:xfrm>
            <a:off x="731520" y="2286000"/>
            <a:ext cx="3017520" cy="36576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Balcão único do Estado</a:t>
            </a:r>
            <a:endParaRPr lang="en-US" sz="2000" dirty="0"/>
          </a:p>
        </p:txBody>
      </p:sp>
      <p:sp>
        <p:nvSpPr>
          <p:cNvPr id="7" name="g0_t2"/>
          <p:cNvSpPr txBox="1"/>
          <p:nvPr/>
        </p:nvSpPr>
        <p:spPr>
          <a:xfrm>
            <a:off x="731520" y="2788920"/>
            <a:ext cx="3017520" cy="1463040"/>
          </a:xfrm>
          <a:prstGeom prst="rect">
            <a:avLst/>
          </a:prstGeom>
          <a:noFill/>
          <a:ln/>
        </p:spPr>
        <p:txBody>
          <a:bodyPr wrap="square" lIns="0" tIns="0" rIns="0" bIns="0" rtlCol="0" anchor="t"/>
          <a:lstStyle/>
          <a:p>
            <a:pPr indent="0" marL="0">
              <a:buNone/>
            </a:pPr>
            <a:r>
              <a:rPr lang="en-US" sz="1400" dirty="0">
                <a:solidFill>
                  <a:schemeClr val="bg1"/>
                </a:solidFill>
              </a:rPr>
              <a:t>O cidadão trata do BI, do registo e de outros assuntos no mesmo sítio. Ainda não há dados medidos do posto: é um caso a estudar.</a:t>
            </a:r>
            <a:endParaRPr lang="en-US" sz="1400" dirty="0"/>
          </a:p>
        </p:txBody>
      </p:sp>
      <p:sp>
        <p:nvSpPr>
          <p:cNvPr id="8" name="g1_card"/>
          <p:cNvSpPr/>
          <p:nvPr/>
        </p:nvSpPr>
        <p:spPr>
          <a:xfrm>
            <a:off x="4297680" y="1188720"/>
            <a:ext cx="4389120" cy="960120"/>
          </a:xfrm>
          <a:prstGeom prst="roundRect">
            <a:avLst>
              <a:gd name="adj" fmla="val 11429"/>
            </a:avLst>
          </a:prstGeom>
          <a:solidFill>
            <a:schemeClr val="bg2"/>
          </a:solidFill>
          <a:ln/>
          <a:effectLst>
            <a:outerShdw sx="100000" sy="100000" kx="0" ky="0" algn="bl" rotWithShape="0" blurRad="101600" dist="25400" dir="5400000">
              <a:srgbClr val="000000">
                <a:alpha val="10000"/>
              </a:srgbClr>
            </a:outerShdw>
          </a:effectLst>
        </p:spPr>
      </p:sp>
      <p:sp>
        <p:nvSpPr>
          <p:cNvPr id="9" name="g1_ic"/>
          <p:cNvSpPr/>
          <p:nvPr/>
        </p:nvSpPr>
        <p:spPr>
          <a:xfrm>
            <a:off x="4480560" y="1389888"/>
            <a:ext cx="548640" cy="548640"/>
          </a:xfrm>
          <a:prstGeom prst="ellipse">
            <a:avLst/>
          </a:prstGeom>
          <a:solidFill>
            <a:schemeClr val="accent1"/>
          </a:solidFill>
          <a:ln/>
        </p:spPr>
      </p:sp>
      <p:pic>
        <p:nvPicPr>
          <p:cNvPr id="10" name="g1_im" descr="ícone">    </p:cNvPr>
          <p:cNvPicPr>
            <a:picLocks noChangeAspect="1"/>
          </p:cNvPicPr>
          <p:nvPr/>
        </p:nvPicPr>
        <p:blipFill>
          <a:blip r:embed="rId2"/>
          <a:stretch>
            <a:fillRect/>
          </a:stretch>
        </p:blipFill>
        <p:spPr>
          <a:xfrm>
            <a:off x="4612234" y="1521562"/>
            <a:ext cx="285293" cy="285293"/>
          </a:xfrm>
          <a:prstGeom prst="rect">
            <a:avLst/>
          </a:prstGeom>
        </p:spPr>
      </p:pic>
      <p:sp>
        <p:nvSpPr>
          <p:cNvPr id="11" name="g1_h"/>
          <p:cNvSpPr txBox="1"/>
          <p:nvPr/>
        </p:nvSpPr>
        <p:spPr>
          <a:xfrm>
            <a:off x="5212080" y="1298448"/>
            <a:ext cx="3291840" cy="274320"/>
          </a:xfrm>
          <a:prstGeom prst="rect">
            <a:avLst/>
          </a:prstGeom>
          <a:noFill/>
          <a:ln/>
        </p:spPr>
        <p:txBody>
          <a:bodyPr wrap="square" lIns="0" tIns="0" rIns="0" bIns="0" rtlCol="0" anchor="t"/>
          <a:lstStyle/>
          <a:p>
            <a:pPr indent="0" marL="0">
              <a:buNone/>
            </a:pPr>
            <a:r>
              <a:rPr lang="en-US" sz="1600" b="1" dirty="0">
                <a:solidFill>
                  <a:schemeClr val="tx1"/>
                </a:solidFill>
              </a:rPr>
              <a:t>BI mais perto do cidadão</a:t>
            </a:r>
            <a:endParaRPr lang="en-US" sz="1600" dirty="0"/>
          </a:p>
        </p:txBody>
      </p:sp>
      <p:sp>
        <p:nvSpPr>
          <p:cNvPr id="12" name="g1_b"/>
          <p:cNvSpPr txBox="1"/>
          <p:nvPr/>
        </p:nvSpPr>
        <p:spPr>
          <a:xfrm>
            <a:off x="5212080" y="1591056"/>
            <a:ext cx="3337560" cy="502920"/>
          </a:xfrm>
          <a:prstGeom prst="rect">
            <a:avLst/>
          </a:prstGeom>
          <a:noFill/>
          <a:ln/>
        </p:spPr>
        <p:txBody>
          <a:bodyPr wrap="square" lIns="0" tIns="0" rIns="0" bIns="0" rtlCol="0" anchor="t"/>
          <a:lstStyle/>
          <a:p>
            <a:pPr indent="0" marL="0">
              <a:buNone/>
            </a:pPr>
            <a:r>
              <a:rPr lang="en-US" sz="1300" dirty="0">
                <a:solidFill>
                  <a:schemeClr val="accent5"/>
                </a:solidFill>
              </a:rPr>
              <a:t>Emissão do BI nos BUAP e em cerca de 600 postos comunais e municipais.</a:t>
            </a:r>
            <a:endParaRPr lang="en-US" sz="1300" dirty="0"/>
          </a:p>
        </p:txBody>
      </p:sp>
      <p:sp>
        <p:nvSpPr>
          <p:cNvPr id="13" name="g2_card"/>
          <p:cNvSpPr/>
          <p:nvPr/>
        </p:nvSpPr>
        <p:spPr>
          <a:xfrm>
            <a:off x="4297680" y="2331720"/>
            <a:ext cx="4389120" cy="960120"/>
          </a:xfrm>
          <a:prstGeom prst="roundRect">
            <a:avLst>
              <a:gd name="adj" fmla="val 11429"/>
            </a:avLst>
          </a:prstGeom>
          <a:solidFill>
            <a:schemeClr val="bg2"/>
          </a:solidFill>
          <a:ln/>
          <a:effectLst>
            <a:outerShdw sx="100000" sy="100000" kx="0" ky="0" algn="bl" rotWithShape="0" blurRad="101600" dist="25400" dir="5400000">
              <a:srgbClr val="000000">
                <a:alpha val="10000"/>
              </a:srgbClr>
            </a:outerShdw>
          </a:effectLst>
        </p:spPr>
      </p:sp>
      <p:sp>
        <p:nvSpPr>
          <p:cNvPr id="14" name="g2_ic"/>
          <p:cNvSpPr/>
          <p:nvPr/>
        </p:nvSpPr>
        <p:spPr>
          <a:xfrm>
            <a:off x="4480560" y="2532888"/>
            <a:ext cx="548640" cy="548640"/>
          </a:xfrm>
          <a:prstGeom prst="ellipse">
            <a:avLst/>
          </a:prstGeom>
          <a:solidFill>
            <a:schemeClr val="accent2"/>
          </a:solidFill>
          <a:ln/>
        </p:spPr>
      </p:sp>
      <p:pic>
        <p:nvPicPr>
          <p:cNvPr id="15" name="g2_im" descr="ícone">    </p:cNvPr>
          <p:cNvPicPr>
            <a:picLocks noChangeAspect="1"/>
          </p:cNvPicPr>
          <p:nvPr/>
        </p:nvPicPr>
        <p:blipFill>
          <a:blip r:embed="rId3"/>
          <a:stretch>
            <a:fillRect/>
          </a:stretch>
        </p:blipFill>
        <p:spPr>
          <a:xfrm>
            <a:off x="4612234" y="2664562"/>
            <a:ext cx="285293" cy="285293"/>
          </a:xfrm>
          <a:prstGeom prst="rect">
            <a:avLst/>
          </a:prstGeom>
        </p:spPr>
      </p:pic>
      <p:sp>
        <p:nvSpPr>
          <p:cNvPr id="16" name="g2_h"/>
          <p:cNvSpPr txBox="1"/>
          <p:nvPr/>
        </p:nvSpPr>
        <p:spPr>
          <a:xfrm>
            <a:off x="5212080" y="2441448"/>
            <a:ext cx="3291840" cy="274320"/>
          </a:xfrm>
          <a:prstGeom prst="rect">
            <a:avLst/>
          </a:prstGeom>
          <a:noFill/>
          <a:ln/>
        </p:spPr>
        <p:txBody>
          <a:bodyPr wrap="square" lIns="0" tIns="0" rIns="0" bIns="0" rtlCol="0" anchor="t"/>
          <a:lstStyle/>
          <a:p>
            <a:pPr indent="0" marL="0">
              <a:buNone/>
            </a:pPr>
            <a:r>
              <a:rPr lang="en-US" sz="1600" b="1" dirty="0">
                <a:solidFill>
                  <a:schemeClr val="tx1"/>
                </a:solidFill>
              </a:rPr>
              <a:t>Picos de procura</a:t>
            </a:r>
            <a:endParaRPr lang="en-US" sz="1600" dirty="0"/>
          </a:p>
        </p:txBody>
      </p:sp>
      <p:sp>
        <p:nvSpPr>
          <p:cNvPr id="17" name="g2_b"/>
          <p:cNvSpPr txBox="1"/>
          <p:nvPr/>
        </p:nvSpPr>
        <p:spPr>
          <a:xfrm>
            <a:off x="5212080" y="2734056"/>
            <a:ext cx="3337560" cy="502920"/>
          </a:xfrm>
          <a:prstGeom prst="rect">
            <a:avLst/>
          </a:prstGeom>
          <a:noFill/>
          <a:ln/>
        </p:spPr>
        <p:txBody>
          <a:bodyPr wrap="square" lIns="0" tIns="0" rIns="0" bIns="0" rtlCol="0" anchor="t"/>
          <a:lstStyle/>
          <a:p>
            <a:pPr indent="0" marL="0">
              <a:buNone/>
            </a:pPr>
            <a:r>
              <a:rPr lang="en-US" sz="1300" dirty="0">
                <a:solidFill>
                  <a:schemeClr val="accent5"/>
                </a:solidFill>
              </a:rPr>
              <a:t>Férias escolares e concursos públicos: as alturas em que aparece mais gente.</a:t>
            </a:r>
            <a:endParaRPr lang="en-US" sz="1300" dirty="0"/>
          </a:p>
        </p:txBody>
      </p:sp>
      <p:sp>
        <p:nvSpPr>
          <p:cNvPr id="18" name="g3_card"/>
          <p:cNvSpPr/>
          <p:nvPr/>
        </p:nvSpPr>
        <p:spPr>
          <a:xfrm>
            <a:off x="4297680" y="3474720"/>
            <a:ext cx="4389120" cy="960120"/>
          </a:xfrm>
          <a:prstGeom prst="roundRect">
            <a:avLst>
              <a:gd name="adj" fmla="val 11429"/>
            </a:avLst>
          </a:prstGeom>
          <a:solidFill>
            <a:schemeClr val="bg2"/>
          </a:solidFill>
          <a:ln/>
          <a:effectLst>
            <a:outerShdw sx="100000" sy="100000" kx="0" ky="0" algn="bl" rotWithShape="0" blurRad="101600" dist="25400" dir="5400000">
              <a:srgbClr val="000000">
                <a:alpha val="10000"/>
              </a:srgbClr>
            </a:outerShdw>
          </a:effectLst>
        </p:spPr>
      </p:sp>
      <p:sp>
        <p:nvSpPr>
          <p:cNvPr id="19" name="g3_ic"/>
          <p:cNvSpPr/>
          <p:nvPr/>
        </p:nvSpPr>
        <p:spPr>
          <a:xfrm>
            <a:off x="4480560" y="3675888"/>
            <a:ext cx="548640" cy="548640"/>
          </a:xfrm>
          <a:prstGeom prst="ellipse">
            <a:avLst/>
          </a:prstGeom>
          <a:solidFill>
            <a:schemeClr val="accent3"/>
          </a:solidFill>
          <a:ln/>
        </p:spPr>
      </p:sp>
      <p:pic>
        <p:nvPicPr>
          <p:cNvPr id="20" name="g3_im" descr="ícone">    </p:cNvPr>
          <p:cNvPicPr>
            <a:picLocks noChangeAspect="1"/>
          </p:cNvPicPr>
          <p:nvPr/>
        </p:nvPicPr>
        <p:blipFill>
          <a:blip r:embed="rId4"/>
          <a:stretch>
            <a:fillRect/>
          </a:stretch>
        </p:blipFill>
        <p:spPr>
          <a:xfrm>
            <a:off x="4612234" y="3807562"/>
            <a:ext cx="285293" cy="285293"/>
          </a:xfrm>
          <a:prstGeom prst="rect">
            <a:avLst/>
          </a:prstGeom>
        </p:spPr>
      </p:pic>
      <p:sp>
        <p:nvSpPr>
          <p:cNvPr id="21" name="g3_h"/>
          <p:cNvSpPr txBox="1"/>
          <p:nvPr/>
        </p:nvSpPr>
        <p:spPr>
          <a:xfrm>
            <a:off x="5212080" y="3584448"/>
            <a:ext cx="3291840" cy="274320"/>
          </a:xfrm>
          <a:prstGeom prst="rect">
            <a:avLst/>
          </a:prstGeom>
          <a:noFill/>
          <a:ln/>
        </p:spPr>
        <p:txBody>
          <a:bodyPr wrap="square" lIns="0" tIns="0" rIns="0" bIns="0" rtlCol="0" anchor="t"/>
          <a:lstStyle/>
          <a:p>
            <a:pPr indent="0" marL="0">
              <a:buNone/>
            </a:pPr>
            <a:r>
              <a:rPr lang="en-US" sz="1600" b="1" dirty="0">
                <a:solidFill>
                  <a:schemeClr val="tx1"/>
                </a:solidFill>
              </a:rPr>
              <a:t>Taxas adicionais</a:t>
            </a:r>
            <a:endParaRPr lang="en-US" sz="1600" dirty="0"/>
          </a:p>
        </p:txBody>
      </p:sp>
      <p:sp>
        <p:nvSpPr>
          <p:cNvPr id="22" name="g3_b"/>
          <p:cNvSpPr txBox="1"/>
          <p:nvPr/>
        </p:nvSpPr>
        <p:spPr>
          <a:xfrm>
            <a:off x="5212080" y="3877056"/>
            <a:ext cx="3337560" cy="502920"/>
          </a:xfrm>
          <a:prstGeom prst="rect">
            <a:avLst/>
          </a:prstGeom>
          <a:noFill/>
          <a:ln/>
        </p:spPr>
        <p:txBody>
          <a:bodyPr wrap="square" lIns="0" tIns="0" rIns="0" bIns="0" rtlCol="0" anchor="t"/>
          <a:lstStyle/>
          <a:p>
            <a:pPr indent="0" marL="0">
              <a:buNone/>
            </a:pPr>
            <a:r>
              <a:rPr lang="en-US" sz="1300" dirty="0">
                <a:solidFill>
                  <a:schemeClr val="accent5"/>
                </a:solidFill>
              </a:rPr>
              <a:t>Noticiadas taxas 2 mil Kz acima das dos postos de identificação.</a:t>
            </a:r>
            <a:endParaRPr lang="en-US" sz="1300" dirty="0"/>
          </a:p>
        </p:txBody>
      </p:sp>
      <p:sp>
        <p:nvSpPr>
          <p:cNvPr id="23" name="g4_src"/>
          <p:cNvSpPr txBox="1"/>
          <p:nvPr/>
        </p:nvSpPr>
        <p:spPr>
          <a:xfrm>
            <a:off x="457200" y="4544568"/>
            <a:ext cx="5486400" cy="182880"/>
          </a:xfrm>
          <a:prstGeom prst="rect">
            <a:avLst/>
          </a:prstGeom>
          <a:noFill/>
          <a:ln/>
        </p:spPr>
        <p:txBody>
          <a:bodyPr wrap="square" lIns="0" tIns="0" rIns="0" bIns="0" rtlCol="0" anchor="t"/>
          <a:lstStyle/>
          <a:p>
            <a:pPr indent="0" marL="0">
              <a:buNone/>
            </a:pPr>
            <a:r>
              <a:rPr lang="en-US" sz="1000" dirty="0">
                <a:solidFill>
                  <a:schemeClr val="accent5"/>
                </a:solidFill>
              </a:rPr>
              <a:t>Fontes: República de Angola (2021a); Ver Angola (2024); Expansão (s.d.-b)</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nodeType="withEffect">
                                  <p:stCondLst>
                                    <p:cond delay="22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22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22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44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44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nodeType="withEffect">
                                  <p:stCondLst>
                                    <p:cond delay="44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44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44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66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66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nodeType="withEffect">
                                  <p:stCondLst>
                                    <p:cond delay="66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66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66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88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O problema: esperas e idas em vão</a:t>
            </a:r>
            <a:endParaRPr lang="en-US" sz="3000" dirty="0"/>
          </a:p>
        </p:txBody>
      </p:sp>
      <p:sp>
        <p:nvSpPr>
          <p:cNvPr id="3" name="g0_card"/>
          <p:cNvSpPr/>
          <p:nvPr/>
        </p:nvSpPr>
        <p:spPr>
          <a:xfrm>
            <a:off x="457200" y="1188720"/>
            <a:ext cx="4023360" cy="2834640"/>
          </a:xfrm>
          <a:prstGeom prst="roundRect">
            <a:avLst>
              <a:gd name="adj" fmla="val 3871"/>
            </a:avLst>
          </a:prstGeom>
          <a:solidFill>
            <a:schemeClr val="bg2"/>
          </a:solidFill>
          <a:ln/>
          <a:effectLst>
            <a:outerShdw sx="100000" sy="100000" kx="0" ky="0" algn="bl" rotWithShape="0" blurRad="101600" dist="25400" dir="5400000">
              <a:srgbClr val="000000">
                <a:alpha val="10000"/>
              </a:srgbClr>
            </a:outerShdw>
          </a:effectLst>
        </p:spPr>
      </p:sp>
      <p:sp>
        <p:nvSpPr>
          <p:cNvPr id="4" name="g0_ic"/>
          <p:cNvSpPr/>
          <p:nvPr/>
        </p:nvSpPr>
        <p:spPr>
          <a:xfrm>
            <a:off x="685800" y="1371600"/>
            <a:ext cx="502920" cy="502920"/>
          </a:xfrm>
          <a:prstGeom prst="ellipse">
            <a:avLst/>
          </a:prstGeom>
          <a:solidFill>
            <a:schemeClr val="accent1"/>
          </a:solidFill>
          <a:ln/>
        </p:spPr>
      </p:sp>
      <p:pic>
        <p:nvPicPr>
          <p:cNvPr id="5" name="g0_im" descr="ícone">    </p:cNvPr>
          <p:cNvPicPr>
            <a:picLocks noChangeAspect="1"/>
          </p:cNvPicPr>
          <p:nvPr/>
        </p:nvPicPr>
        <p:blipFill>
          <a:blip r:embed="rId1"/>
          <a:stretch>
            <a:fillRect/>
          </a:stretch>
        </p:blipFill>
        <p:spPr>
          <a:xfrm>
            <a:off x="806501" y="1492301"/>
            <a:ext cx="261518" cy="261518"/>
          </a:xfrm>
          <a:prstGeom prst="rect">
            <a:avLst/>
          </a:prstGeom>
        </p:spPr>
      </p:pic>
      <p:sp>
        <p:nvSpPr>
          <p:cNvPr id="6" name="g0_h"/>
          <p:cNvSpPr txBox="1"/>
          <p:nvPr/>
        </p:nvSpPr>
        <p:spPr>
          <a:xfrm>
            <a:off x="1371600" y="1371600"/>
            <a:ext cx="2926080" cy="502920"/>
          </a:xfrm>
          <a:prstGeom prst="rect">
            <a:avLst/>
          </a:prstGeom>
          <a:noFill/>
          <a:ln/>
        </p:spPr>
        <p:txBody>
          <a:bodyPr wrap="square" lIns="0" tIns="0" rIns="0" bIns="0" rtlCol="0" anchor="ctr"/>
          <a:lstStyle/>
          <a:p>
            <a:pPr indent="0" marL="0">
              <a:buNone/>
            </a:pPr>
            <a:r>
              <a:rPr lang="en-US" sz="1800" b="1" dirty="0">
                <a:solidFill>
                  <a:schemeClr val="accent1"/>
                </a:solidFill>
              </a:rPr>
              <a:t>Para o utente (a verificar)</a:t>
            </a:r>
            <a:endParaRPr lang="en-US" sz="1800" dirty="0"/>
          </a:p>
        </p:txBody>
      </p:sp>
      <p:sp>
        <p:nvSpPr>
          <p:cNvPr id="7" name="g0_i0"/>
          <p:cNvSpPr txBox="1"/>
          <p:nvPr/>
        </p:nvSpPr>
        <p:spPr>
          <a:xfrm>
            <a:off x="731520" y="2057400"/>
            <a:ext cx="3520440" cy="548640"/>
          </a:xfrm>
          <a:prstGeom prst="rect">
            <a:avLst/>
          </a:prstGeom>
          <a:noFill/>
          <a:ln/>
        </p:spPr>
        <p:txBody>
          <a:bodyPr wrap="square" lIns="0" tIns="0" rIns="0" bIns="0" rtlCol="0" anchor="t"/>
          <a:lstStyle/>
          <a:p>
            <a:pPr indent="0" marL="0">
              <a:buNone/>
            </a:pPr>
            <a:r>
              <a:rPr lang="en-US" sz="1400" b="1" dirty="0">
                <a:solidFill>
                  <a:schemeClr val="tx1"/>
                </a:solidFill>
              </a:rPr>
              <a:t>Esperas longas</a:t>
            </a:r>
            <a:endParaRPr lang="en-US" sz="1400" dirty="0"/>
          </a:p>
          <a:p>
            <a:pPr indent="0" marL="0">
              <a:buNone/>
            </a:pPr>
            <a:r>
              <a:rPr lang="en-US" sz="1400" dirty="0">
                <a:solidFill>
                  <a:schemeClr val="accent5"/>
                </a:solidFill>
              </a:rPr>
              <a:t>podem custar horas ou um dia de trabalho</a:t>
            </a:r>
            <a:endParaRPr lang="en-US" sz="1400" dirty="0"/>
          </a:p>
        </p:txBody>
      </p:sp>
      <p:sp>
        <p:nvSpPr>
          <p:cNvPr id="8" name="g0_i1"/>
          <p:cNvSpPr txBox="1"/>
          <p:nvPr/>
        </p:nvSpPr>
        <p:spPr>
          <a:xfrm>
            <a:off x="731520" y="2715768"/>
            <a:ext cx="3520440" cy="548640"/>
          </a:xfrm>
          <a:prstGeom prst="rect">
            <a:avLst/>
          </a:prstGeom>
          <a:noFill/>
          <a:ln/>
        </p:spPr>
        <p:txBody>
          <a:bodyPr wrap="square" lIns="0" tIns="0" rIns="0" bIns="0" rtlCol="0" anchor="t"/>
          <a:lstStyle/>
          <a:p>
            <a:pPr indent="0" marL="0">
              <a:buNone/>
            </a:pPr>
            <a:r>
              <a:rPr lang="en-US" sz="1400" b="1" dirty="0">
                <a:solidFill>
                  <a:schemeClr val="tx1"/>
                </a:solidFill>
              </a:rPr>
              <a:t>Viagens em vão</a:t>
            </a:r>
            <a:endParaRPr lang="en-US" sz="1400" dirty="0"/>
          </a:p>
          <a:p>
            <a:pPr indent="0" marL="0">
              <a:buNone/>
            </a:pPr>
            <a:r>
              <a:rPr lang="en-US" sz="1400" dirty="0">
                <a:solidFill>
                  <a:schemeClr val="accent5"/>
                </a:solidFill>
              </a:rPr>
              <a:t>falta um documento ou serviço indisponível</a:t>
            </a:r>
            <a:endParaRPr lang="en-US" sz="1400" dirty="0"/>
          </a:p>
        </p:txBody>
      </p:sp>
      <p:sp>
        <p:nvSpPr>
          <p:cNvPr id="9" name="g0_i2"/>
          <p:cNvSpPr txBox="1"/>
          <p:nvPr/>
        </p:nvSpPr>
        <p:spPr>
          <a:xfrm>
            <a:off x="731520" y="3374136"/>
            <a:ext cx="3520440" cy="548640"/>
          </a:xfrm>
          <a:prstGeom prst="rect">
            <a:avLst/>
          </a:prstGeom>
          <a:noFill/>
          <a:ln/>
        </p:spPr>
        <p:txBody>
          <a:bodyPr wrap="square" lIns="0" tIns="0" rIns="0" bIns="0" rtlCol="0" anchor="t"/>
          <a:lstStyle/>
          <a:p>
            <a:pPr indent="0" marL="0">
              <a:buNone/>
            </a:pPr>
            <a:r>
              <a:rPr lang="en-US" sz="1400" b="1" dirty="0">
                <a:solidFill>
                  <a:schemeClr val="tx1"/>
                </a:solidFill>
              </a:rPr>
              <a:t>Sem planeamento</a:t>
            </a:r>
            <a:endParaRPr lang="en-US" sz="1400" dirty="0"/>
          </a:p>
          <a:p>
            <a:pPr indent="0" marL="0">
              <a:buNone/>
            </a:pPr>
            <a:r>
              <a:rPr lang="en-US" sz="1400" dirty="0">
                <a:solidFill>
                  <a:schemeClr val="accent5"/>
                </a:solidFill>
              </a:rPr>
              <a:t>impossível escolher uma hora melhor</a:t>
            </a:r>
            <a:endParaRPr lang="en-US" sz="1400" dirty="0"/>
          </a:p>
        </p:txBody>
      </p:sp>
      <p:sp>
        <p:nvSpPr>
          <p:cNvPr id="10" name="g1_card"/>
          <p:cNvSpPr/>
          <p:nvPr/>
        </p:nvSpPr>
        <p:spPr>
          <a:xfrm>
            <a:off x="4663440" y="1188720"/>
            <a:ext cx="4023360" cy="2834640"/>
          </a:xfrm>
          <a:prstGeom prst="roundRect">
            <a:avLst>
              <a:gd name="adj" fmla="val 3871"/>
            </a:avLst>
          </a:prstGeom>
          <a:solidFill>
            <a:schemeClr val="bg2"/>
          </a:solidFill>
          <a:ln/>
          <a:effectLst>
            <a:outerShdw sx="100000" sy="100000" kx="0" ky="0" algn="bl" rotWithShape="0" blurRad="101600" dist="25400" dir="5400000">
              <a:srgbClr val="000000">
                <a:alpha val="10000"/>
              </a:srgbClr>
            </a:outerShdw>
          </a:effectLst>
        </p:spPr>
      </p:sp>
      <p:sp>
        <p:nvSpPr>
          <p:cNvPr id="11" name="g1_ic"/>
          <p:cNvSpPr/>
          <p:nvPr/>
        </p:nvSpPr>
        <p:spPr>
          <a:xfrm>
            <a:off x="4892040" y="1371600"/>
            <a:ext cx="502920" cy="502920"/>
          </a:xfrm>
          <a:prstGeom prst="ellipse">
            <a:avLst/>
          </a:prstGeom>
          <a:solidFill>
            <a:schemeClr val="accent2"/>
          </a:solidFill>
          <a:ln/>
        </p:spPr>
      </p:sp>
      <p:pic>
        <p:nvPicPr>
          <p:cNvPr id="12" name="g1_im" descr="ícone">    </p:cNvPr>
          <p:cNvPicPr>
            <a:picLocks noChangeAspect="1"/>
          </p:cNvPicPr>
          <p:nvPr/>
        </p:nvPicPr>
        <p:blipFill>
          <a:blip r:embed="rId2"/>
          <a:stretch>
            <a:fillRect/>
          </a:stretch>
        </p:blipFill>
        <p:spPr>
          <a:xfrm>
            <a:off x="5012741" y="1492301"/>
            <a:ext cx="261518" cy="261518"/>
          </a:xfrm>
          <a:prstGeom prst="rect">
            <a:avLst/>
          </a:prstGeom>
        </p:spPr>
      </p:pic>
      <p:sp>
        <p:nvSpPr>
          <p:cNvPr id="13" name="g1_h"/>
          <p:cNvSpPr txBox="1"/>
          <p:nvPr/>
        </p:nvSpPr>
        <p:spPr>
          <a:xfrm>
            <a:off x="5577840" y="1371600"/>
            <a:ext cx="2926080" cy="502920"/>
          </a:xfrm>
          <a:prstGeom prst="rect">
            <a:avLst/>
          </a:prstGeom>
          <a:noFill/>
          <a:ln/>
        </p:spPr>
        <p:txBody>
          <a:bodyPr wrap="square" lIns="0" tIns="0" rIns="0" bIns="0" rtlCol="0" anchor="ctr"/>
          <a:lstStyle/>
          <a:p>
            <a:pPr indent="0" marL="0">
              <a:buNone/>
            </a:pPr>
            <a:r>
              <a:rPr lang="en-US" sz="1800" b="1" dirty="0">
                <a:solidFill>
                  <a:schemeClr val="accent2"/>
                </a:solidFill>
              </a:rPr>
              <a:t>Para o SIAC (a verificar)</a:t>
            </a:r>
            <a:endParaRPr lang="en-US" sz="1800" dirty="0"/>
          </a:p>
        </p:txBody>
      </p:sp>
      <p:sp>
        <p:nvSpPr>
          <p:cNvPr id="14" name="g1_i0"/>
          <p:cNvSpPr txBox="1"/>
          <p:nvPr/>
        </p:nvSpPr>
        <p:spPr>
          <a:xfrm>
            <a:off x="4937760" y="2057400"/>
            <a:ext cx="3520440" cy="548640"/>
          </a:xfrm>
          <a:prstGeom prst="rect">
            <a:avLst/>
          </a:prstGeom>
          <a:noFill/>
          <a:ln/>
        </p:spPr>
        <p:txBody>
          <a:bodyPr wrap="square" lIns="0" tIns="0" rIns="0" bIns="0" rtlCol="0" anchor="t"/>
          <a:lstStyle/>
          <a:p>
            <a:pPr indent="0" marL="0">
              <a:buNone/>
            </a:pPr>
            <a:r>
              <a:rPr lang="en-US" sz="1400" b="1" dirty="0">
                <a:solidFill>
                  <a:schemeClr val="tx1"/>
                </a:solidFill>
              </a:rPr>
              <a:t>Balcões mal dimensionados</a:t>
            </a:r>
            <a:endParaRPr lang="en-US" sz="1400" dirty="0"/>
          </a:p>
          <a:p>
            <a:pPr indent="0" marL="0">
              <a:buNone/>
            </a:pPr>
            <a:r>
              <a:rPr lang="en-US" sz="1400" dirty="0">
                <a:solidFill>
                  <a:schemeClr val="accent5"/>
                </a:solidFill>
              </a:rPr>
              <a:t>difícil decidir quantos funcionários por hora</a:t>
            </a:r>
            <a:endParaRPr lang="en-US" sz="1400" dirty="0"/>
          </a:p>
        </p:txBody>
      </p:sp>
      <p:sp>
        <p:nvSpPr>
          <p:cNvPr id="15" name="g1_i1"/>
          <p:cNvSpPr txBox="1"/>
          <p:nvPr/>
        </p:nvSpPr>
        <p:spPr>
          <a:xfrm>
            <a:off x="4937760" y="2715768"/>
            <a:ext cx="3520440" cy="548640"/>
          </a:xfrm>
          <a:prstGeom prst="rect">
            <a:avLst/>
          </a:prstGeom>
          <a:noFill/>
          <a:ln/>
        </p:spPr>
        <p:txBody>
          <a:bodyPr wrap="square" lIns="0" tIns="0" rIns="0" bIns="0" rtlCol="0" anchor="t"/>
          <a:lstStyle/>
          <a:p>
            <a:pPr indent="0" marL="0">
              <a:buNone/>
            </a:pPr>
            <a:r>
              <a:rPr lang="en-US" sz="1400" b="1" dirty="0">
                <a:solidFill>
                  <a:schemeClr val="tx1"/>
                </a:solidFill>
              </a:rPr>
              <a:t>Falta de dados</a:t>
            </a:r>
            <a:endParaRPr lang="en-US" sz="1400" dirty="0"/>
          </a:p>
          <a:p>
            <a:pPr indent="0" marL="0">
              <a:buNone/>
            </a:pPr>
            <a:r>
              <a:rPr lang="en-US" sz="1400" dirty="0">
                <a:solidFill>
                  <a:schemeClr val="accent5"/>
                </a:solidFill>
              </a:rPr>
              <a:t>tempos de atendimento e horas de pico</a:t>
            </a:r>
            <a:endParaRPr lang="en-US" sz="1400" dirty="0"/>
          </a:p>
        </p:txBody>
      </p:sp>
      <p:sp>
        <p:nvSpPr>
          <p:cNvPr id="16" name="g1_i2"/>
          <p:cNvSpPr txBox="1"/>
          <p:nvPr/>
        </p:nvSpPr>
        <p:spPr>
          <a:xfrm>
            <a:off x="4937760" y="3374136"/>
            <a:ext cx="3520440" cy="548640"/>
          </a:xfrm>
          <a:prstGeom prst="rect">
            <a:avLst/>
          </a:prstGeom>
          <a:noFill/>
          <a:ln/>
        </p:spPr>
        <p:txBody>
          <a:bodyPr wrap="square" lIns="0" tIns="0" rIns="0" bIns="0" rtlCol="0" anchor="t"/>
          <a:lstStyle/>
          <a:p>
            <a:pPr indent="0" marL="0">
              <a:buNone/>
            </a:pPr>
            <a:r>
              <a:rPr lang="en-US" sz="1400" b="1" dirty="0">
                <a:solidFill>
                  <a:schemeClr val="tx1"/>
                </a:solidFill>
              </a:rPr>
              <a:t>Desgaste</a:t>
            </a:r>
            <a:endParaRPr lang="en-US" sz="1400" dirty="0"/>
          </a:p>
          <a:p>
            <a:pPr indent="0" marL="0">
              <a:buNone/>
            </a:pPr>
            <a:r>
              <a:rPr lang="en-US" sz="1400" dirty="0">
                <a:solidFill>
                  <a:schemeClr val="accent5"/>
                </a:solidFill>
              </a:rPr>
              <a:t>funcionários cansados e imagem negativa</a:t>
            </a:r>
            <a:endParaRPr lang="en-US" sz="1400" dirty="0"/>
          </a:p>
        </p:txBody>
      </p:sp>
      <p:sp>
        <p:nvSpPr>
          <p:cNvPr id="17" name="g2_card"/>
          <p:cNvSpPr/>
          <p:nvPr/>
        </p:nvSpPr>
        <p:spPr>
          <a:xfrm>
            <a:off x="457200" y="4160520"/>
            <a:ext cx="8229600" cy="502920"/>
          </a:xfrm>
          <a:prstGeom prst="roundRect">
            <a:avLst>
              <a:gd name="adj" fmla="val 21818"/>
            </a:avLst>
          </a:prstGeom>
          <a:solidFill>
            <a:schemeClr val="accent3">
              <a:alpha val="35000"/>
            </a:schemeClr>
          </a:solidFill>
          <a:ln/>
        </p:spPr>
      </p:sp>
      <p:sp>
        <p:nvSpPr>
          <p:cNvPr id="18" name="g2_ic"/>
          <p:cNvSpPr/>
          <p:nvPr/>
        </p:nvSpPr>
        <p:spPr>
          <a:xfrm>
            <a:off x="594360" y="4224528"/>
            <a:ext cx="365760" cy="365760"/>
          </a:xfrm>
          <a:prstGeom prst="ellipse">
            <a:avLst/>
          </a:prstGeom>
          <a:solidFill>
            <a:schemeClr val="accent3"/>
          </a:solidFill>
          <a:ln/>
        </p:spPr>
      </p:sp>
      <p:pic>
        <p:nvPicPr>
          <p:cNvPr id="19" name="g2_im" descr="ícone">    </p:cNvPr>
          <p:cNvPicPr>
            <a:picLocks noChangeAspect="1"/>
          </p:cNvPicPr>
          <p:nvPr/>
        </p:nvPicPr>
        <p:blipFill>
          <a:blip r:embed="rId3"/>
          <a:stretch>
            <a:fillRect/>
          </a:stretch>
        </p:blipFill>
        <p:spPr>
          <a:xfrm>
            <a:off x="682142" y="4312310"/>
            <a:ext cx="190195" cy="190195"/>
          </a:xfrm>
          <a:prstGeom prst="rect">
            <a:avLst/>
          </a:prstGeom>
        </p:spPr>
      </p:pic>
      <p:sp>
        <p:nvSpPr>
          <p:cNvPr id="20" name="g2_t"/>
          <p:cNvSpPr txBox="1"/>
          <p:nvPr/>
        </p:nvSpPr>
        <p:spPr>
          <a:xfrm>
            <a:off x="1097280" y="4160520"/>
            <a:ext cx="7406640" cy="502920"/>
          </a:xfrm>
          <a:prstGeom prst="rect">
            <a:avLst/>
          </a:prstGeom>
          <a:noFill/>
          <a:ln/>
        </p:spPr>
        <p:txBody>
          <a:bodyPr wrap="square" lIns="0" tIns="0" rIns="0" bIns="0" rtlCol="0" anchor="ctr"/>
          <a:lstStyle/>
          <a:p>
            <a:pPr indent="0" marL="0">
              <a:buNone/>
            </a:pPr>
            <a:r>
              <a:rPr lang="en-US" sz="1300" b="1" dirty="0">
                <a:solidFill>
                  <a:schemeClr val="tx1"/>
                </a:solidFill>
              </a:rPr>
              <a:t>Hipótese a verificar: </a:t>
            </a:r>
            <a:r>
              <a:rPr lang="en-US" sz="1300" dirty="0">
                <a:solidFill>
                  <a:schemeClr val="tx1"/>
                </a:solidFill>
              </a:rPr>
              <a:t>os utentes não têm forma de planear a visita nem de reservar a vez à distância, e o SIAC pode não ter dados para ajustar o atendimento.</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8"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22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nodeType="withEffect">
                                  <p:stCondLst>
                                    <p:cond delay="22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22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22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22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22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44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44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nodeType="withEffect">
                                  <p:stCondLst>
                                    <p:cond delay="44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44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Pergunta de pesquisa</a:t>
            </a:r>
            <a:endParaRPr lang="en-US" sz="3000" dirty="0"/>
          </a:p>
        </p:txBody>
      </p:sp>
      <p:sp>
        <p:nvSpPr>
          <p:cNvPr id="3" name="g0_card"/>
          <p:cNvSpPr/>
          <p:nvPr/>
        </p:nvSpPr>
        <p:spPr>
          <a:xfrm>
            <a:off x="457200" y="1188720"/>
            <a:ext cx="8229600" cy="1188720"/>
          </a:xfrm>
          <a:prstGeom prst="roundRect">
            <a:avLst>
              <a:gd name="adj" fmla="val 9231"/>
            </a:avLst>
          </a:prstGeom>
          <a:solidFill>
            <a:schemeClr val="tx1"/>
          </a:solidFill>
          <a:ln/>
          <a:effectLst>
            <a:outerShdw sx="100000" sy="100000" kx="0" ky="0" algn="bl" rotWithShape="0" blurRad="101600" dist="25400" dir="5400000">
              <a:srgbClr val="000000">
                <a:alpha val="10000"/>
              </a:srgbClr>
            </a:outerShdw>
          </a:effectLst>
        </p:spPr>
      </p:sp>
      <p:sp>
        <p:nvSpPr>
          <p:cNvPr id="4" name="g0_l"/>
          <p:cNvSpPr txBox="1"/>
          <p:nvPr/>
        </p:nvSpPr>
        <p:spPr>
          <a:xfrm>
            <a:off x="777240" y="1280160"/>
            <a:ext cx="457200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PERGUNTA PRINCIPAL</a:t>
            </a:r>
            <a:endParaRPr lang="en-US" sz="1100" dirty="0"/>
          </a:p>
        </p:txBody>
      </p:sp>
      <p:sp>
        <p:nvSpPr>
          <p:cNvPr id="5" name="g0_q"/>
          <p:cNvSpPr txBox="1"/>
          <p:nvPr/>
        </p:nvSpPr>
        <p:spPr>
          <a:xfrm>
            <a:off x="777240" y="1517904"/>
            <a:ext cx="7589520" cy="822960"/>
          </a:xfrm>
          <a:prstGeom prst="rect">
            <a:avLst/>
          </a:prstGeom>
          <a:noFill/>
          <a:ln/>
        </p:spPr>
        <p:txBody>
          <a:bodyPr wrap="square" lIns="0" tIns="0" rIns="0" bIns="0" rtlCol="0" anchor="t"/>
          <a:lstStyle/>
          <a:p>
            <a:pPr indent="0" marL="0">
              <a:buNone/>
            </a:pPr>
            <a:r>
              <a:rPr lang="en-US" sz="1600" b="1" i="1" dirty="0">
                <a:solidFill>
                  <a:schemeClr val="bg1"/>
                </a:solidFill>
                <a:latin typeface="+mj-lt" pitchFamily="34" charset="0"/>
                <a:ea typeface="+mj-lt" pitchFamily="34" charset="-122"/>
                <a:cs typeface="+mj-lt" pitchFamily="34" charset="-120"/>
              </a:rPr>
              <a:t>De que forma um sistema angolano de agendamento e gestão de filas, complementar às senhas existentes, pode diminuir a espera e as idas em vão dos utentes do SIAC e ser sustentado em Angola?</a:t>
            </a:r>
            <a:endParaRPr lang="en-US" sz="1900" dirty="0"/>
          </a:p>
        </p:txBody>
      </p:sp>
      <p:sp>
        <p:nvSpPr>
          <p:cNvPr id="6" name="g1_card"/>
          <p:cNvSpPr/>
          <p:nvPr/>
        </p:nvSpPr>
        <p:spPr>
          <a:xfrm>
            <a:off x="457200" y="2560320"/>
            <a:ext cx="5120640" cy="2057400"/>
          </a:xfrm>
          <a:prstGeom prst="roundRect">
            <a:avLst>
              <a:gd name="adj" fmla="val 5333"/>
            </a:avLst>
          </a:prstGeom>
          <a:solidFill>
            <a:schemeClr val="bg2"/>
          </a:solidFill>
          <a:ln/>
          <a:effectLst>
            <a:outerShdw sx="100000" sy="100000" kx="0" ky="0" algn="bl" rotWithShape="0" blurRad="101600" dist="25400" dir="5400000">
              <a:srgbClr val="000000">
                <a:alpha val="10000"/>
              </a:srgbClr>
            </a:outerShdw>
          </a:effectLst>
        </p:spPr>
      </p:sp>
      <p:sp>
        <p:nvSpPr>
          <p:cNvPr id="7" name="g1_h"/>
          <p:cNvSpPr txBox="1"/>
          <p:nvPr/>
        </p:nvSpPr>
        <p:spPr>
          <a:xfrm>
            <a:off x="731520" y="2697480"/>
            <a:ext cx="4572000" cy="274320"/>
          </a:xfrm>
          <a:prstGeom prst="rect">
            <a:avLst/>
          </a:prstGeom>
          <a:noFill/>
          <a:ln/>
        </p:spPr>
        <p:txBody>
          <a:bodyPr wrap="square" lIns="0" tIns="0" rIns="0" bIns="0" rtlCol="0" anchor="t"/>
          <a:lstStyle/>
          <a:p>
            <a:pPr indent="0" marL="0">
              <a:buNone/>
            </a:pPr>
            <a:r>
              <a:rPr lang="en-US" sz="1500" b="1" dirty="0">
                <a:solidFill>
                  <a:schemeClr val="tx1"/>
                </a:solidFill>
              </a:rPr>
              <a:t>Para responder, precisamos de saber:</a:t>
            </a:r>
            <a:endParaRPr lang="en-US" sz="1500" dirty="0"/>
          </a:p>
        </p:txBody>
      </p:sp>
      <p:sp>
        <p:nvSpPr>
          <p:cNvPr id="8" name="g1_num"/>
          <p:cNvSpPr txBox="1"/>
          <p:nvPr/>
        </p:nvSpPr>
        <p:spPr>
          <a:xfrm>
            <a:off x="731520" y="3063239"/>
            <a:ext cx="237744" cy="237744"/>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1</a:t>
            </a:r>
            <a:endParaRPr lang="en-US" sz="1200" dirty="0"/>
          </a:p>
        </p:txBody>
      </p:sp>
      <p:sp>
        <p:nvSpPr>
          <p:cNvPr id="9" name="g1_q0"/>
          <p:cNvSpPr txBox="1"/>
          <p:nvPr/>
        </p:nvSpPr>
        <p:spPr>
          <a:xfrm>
            <a:off x="1143000" y="3054096"/>
            <a:ext cx="4297680" cy="256032"/>
          </a:xfrm>
          <a:prstGeom prst="rect">
            <a:avLst/>
          </a:prstGeom>
          <a:noFill/>
          <a:ln/>
        </p:spPr>
        <p:txBody>
          <a:bodyPr wrap="square" lIns="0" tIns="0" rIns="0" bIns="0" rtlCol="0" anchor="ctr"/>
          <a:lstStyle/>
          <a:p>
            <a:pPr indent="0" marL="0">
              <a:buNone/>
            </a:pPr>
            <a:r>
              <a:rPr lang="en-US" sz="1200" dirty="0">
                <a:solidFill>
                  <a:schemeClr val="tx1"/>
                </a:solidFill>
              </a:rPr>
              <a:t>Quanto se espera hoje e o que provoca idas em vão?</a:t>
            </a:r>
            <a:endParaRPr lang="en-US" sz="1400" dirty="0"/>
          </a:p>
        </p:txBody>
      </p:sp>
      <p:sp>
        <p:nvSpPr>
          <p:cNvPr id="10" name="g1_num"/>
          <p:cNvSpPr txBox="1"/>
          <p:nvPr/>
        </p:nvSpPr>
        <p:spPr>
          <a:xfrm>
            <a:off x="731520" y="3319272"/>
            <a:ext cx="237744" cy="237744"/>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2</a:t>
            </a:r>
            <a:endParaRPr lang="en-US" sz="1200" dirty="0"/>
          </a:p>
        </p:txBody>
      </p:sp>
      <p:sp>
        <p:nvSpPr>
          <p:cNvPr id="11" name="g1_q1"/>
          <p:cNvSpPr txBox="1"/>
          <p:nvPr/>
        </p:nvSpPr>
        <p:spPr>
          <a:xfrm>
            <a:off x="1143000" y="3310128"/>
            <a:ext cx="4297680" cy="256032"/>
          </a:xfrm>
          <a:prstGeom prst="rect">
            <a:avLst/>
          </a:prstGeom>
          <a:noFill/>
          <a:ln/>
        </p:spPr>
        <p:txBody>
          <a:bodyPr wrap="square" lIns="0" tIns="0" rIns="0" bIns="0" rtlCol="0" anchor="ctr"/>
          <a:lstStyle/>
          <a:p>
            <a:pPr indent="0" marL="0">
              <a:buNone/>
            </a:pPr>
            <a:r>
              <a:rPr lang="en-US" sz="1200" dirty="0">
                <a:solidFill>
                  <a:schemeClr val="tx1"/>
                </a:solidFill>
              </a:rPr>
              <a:t>Como ligar a aplicação às senhas e ecrãs existentes?</a:t>
            </a:r>
            <a:endParaRPr lang="en-US" sz="1400" dirty="0"/>
          </a:p>
        </p:txBody>
      </p:sp>
      <p:sp>
        <p:nvSpPr>
          <p:cNvPr id="12" name="g1_num"/>
          <p:cNvSpPr txBox="1"/>
          <p:nvPr/>
        </p:nvSpPr>
        <p:spPr>
          <a:xfrm>
            <a:off x="731520" y="3575303"/>
            <a:ext cx="237744" cy="237744"/>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3</a:t>
            </a:r>
            <a:endParaRPr lang="en-US" sz="1200" dirty="0"/>
          </a:p>
        </p:txBody>
      </p:sp>
      <p:sp>
        <p:nvSpPr>
          <p:cNvPr id="13" name="g1_q2"/>
          <p:cNvSpPr txBox="1"/>
          <p:nvPr/>
        </p:nvSpPr>
        <p:spPr>
          <a:xfrm>
            <a:off x="1143000" y="3566160"/>
            <a:ext cx="4297680" cy="256032"/>
          </a:xfrm>
          <a:prstGeom prst="rect">
            <a:avLst/>
          </a:prstGeom>
          <a:noFill/>
          <a:ln/>
        </p:spPr>
        <p:txBody>
          <a:bodyPr wrap="square" lIns="0" tIns="0" rIns="0" bIns="0" rtlCol="0" anchor="ctr"/>
          <a:lstStyle/>
          <a:p>
            <a:pPr indent="0" marL="0">
              <a:buNone/>
            </a:pPr>
            <a:r>
              <a:rPr lang="en-US" sz="1200" dirty="0">
                <a:solidFill>
                  <a:schemeClr val="tx1"/>
                </a:solidFill>
              </a:rPr>
              <a:t>O que querem utentes e funcionários?</a:t>
            </a:r>
            <a:endParaRPr lang="en-US" sz="1400" dirty="0"/>
          </a:p>
        </p:txBody>
      </p:sp>
      <p:sp>
        <p:nvSpPr>
          <p:cNvPr id="14" name="g1_num"/>
          <p:cNvSpPr txBox="1"/>
          <p:nvPr/>
        </p:nvSpPr>
        <p:spPr>
          <a:xfrm>
            <a:off x="731520" y="3831335"/>
            <a:ext cx="237744" cy="237744"/>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4</a:t>
            </a:r>
            <a:endParaRPr lang="en-US" sz="1200" dirty="0"/>
          </a:p>
        </p:txBody>
      </p:sp>
      <p:sp>
        <p:nvSpPr>
          <p:cNvPr id="26" name="g1_num"/>
          <p:cNvSpPr txBox="1"/>
          <p:nvPr/>
        </p:nvSpPr>
        <p:spPr>
          <a:xfrm>
            <a:off x="731520" y="4087368"/>
            <a:ext cx="237744" cy="237744"/>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5</a:t>
            </a:r>
            <a:endParaRPr lang="en-US" sz="1200" dirty="0"/>
          </a:p>
        </p:txBody>
      </p:sp>
      <p:sp>
        <p:nvSpPr>
          <p:cNvPr id="27" name="g1_num"/>
          <p:cNvSpPr txBox="1"/>
          <p:nvPr/>
        </p:nvSpPr>
        <p:spPr>
          <a:xfrm>
            <a:off x="731520" y="4343400"/>
            <a:ext cx="237744" cy="237744"/>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6</a:t>
            </a:r>
            <a:endParaRPr lang="en-US" sz="1200" dirty="0"/>
          </a:p>
        </p:txBody>
      </p:sp>
      <p:sp>
        <p:nvSpPr>
          <p:cNvPr id="15" name="g1_q3"/>
          <p:cNvSpPr txBox="1"/>
          <p:nvPr/>
        </p:nvSpPr>
        <p:spPr>
          <a:xfrm>
            <a:off x="1143000" y="3822191"/>
            <a:ext cx="4297680" cy="256032"/>
          </a:xfrm>
          <a:prstGeom prst="rect">
            <a:avLst/>
          </a:prstGeom>
          <a:noFill/>
          <a:ln/>
        </p:spPr>
        <p:txBody>
          <a:bodyPr wrap="square" lIns="0" tIns="0" rIns="0" bIns="0" rtlCol="0" anchor="ctr"/>
          <a:lstStyle/>
          <a:p>
            <a:pPr indent="0" marL="0">
              <a:buNone/>
            </a:pPr>
            <a:r>
              <a:rPr lang="en-US" sz="1200" dirty="0">
                <a:solidFill>
                  <a:schemeClr val="tx1"/>
                </a:solidFill>
              </a:rPr>
              <a:t>O que fazem bem e mal os sistemas semelhantes?</a:t>
            </a:r>
            <a:endParaRPr lang="en-US" sz="1400" dirty="0"/>
          </a:p>
        </p:txBody>
      </p:sp>
      <p:sp>
        <p:nvSpPr>
          <p:cNvPr id="28" name="g1_q3"/>
          <p:cNvSpPr txBox="1"/>
          <p:nvPr/>
        </p:nvSpPr>
        <p:spPr>
          <a:xfrm>
            <a:off x="1143000" y="4078224"/>
            <a:ext cx="4297680" cy="256032"/>
          </a:xfrm>
          <a:prstGeom prst="rect">
            <a:avLst/>
          </a:prstGeom>
          <a:noFill/>
          <a:ln/>
        </p:spPr>
        <p:txBody>
          <a:bodyPr wrap="square" lIns="0" tIns="0" rIns="0" bIns="0" rtlCol="0" anchor="ctr"/>
          <a:lstStyle/>
          <a:p>
            <a:pPr indent="0" marL="0">
              <a:buNone/>
            </a:pPr>
            <a:r>
              <a:rPr lang="en-US" sz="1200" dirty="0">
                <a:solidFill>
                  <a:schemeClr val="tx1"/>
                </a:solidFill>
              </a:rPr>
              <a:t>Que requisitos e tecnologias servem Angola?</a:t>
            </a:r>
            <a:endParaRPr lang="en-US" sz="1400" dirty="0"/>
          </a:p>
        </p:txBody>
      </p:sp>
      <p:sp>
        <p:nvSpPr>
          <p:cNvPr id="29" name="g1_q3"/>
          <p:cNvSpPr txBox="1"/>
          <p:nvPr/>
        </p:nvSpPr>
        <p:spPr>
          <a:xfrm>
            <a:off x="1143000" y="4334256"/>
            <a:ext cx="4297680" cy="256032"/>
          </a:xfrm>
          <a:prstGeom prst="rect">
            <a:avLst/>
          </a:prstGeom>
          <a:noFill/>
          <a:ln/>
        </p:spPr>
        <p:txBody>
          <a:bodyPr wrap="square" lIns="0" tIns="0" rIns="0" bIns="0" rtlCol="0" anchor="ctr"/>
          <a:lstStyle/>
          <a:p>
            <a:pPr indent="0" marL="0">
              <a:buNone/>
            </a:pPr>
            <a:r>
              <a:rPr lang="en-US" sz="1200" dirty="0">
                <a:solidFill>
                  <a:schemeClr val="tx1"/>
                </a:solidFill>
              </a:rPr>
              <a:t>Quem mantém o sistema depois de construído?</a:t>
            </a:r>
            <a:endParaRPr lang="en-US" sz="1400" dirty="0"/>
          </a:p>
        </p:txBody>
      </p:sp>
      <p:sp>
        <p:nvSpPr>
          <p:cNvPr id="16" name="g2_card"/>
          <p:cNvSpPr/>
          <p:nvPr/>
        </p:nvSpPr>
        <p:spPr>
          <a:xfrm>
            <a:off x="5760720" y="2560320"/>
            <a:ext cx="2926080" cy="2057400"/>
          </a:xfrm>
          <a:prstGeom prst="roundRect">
            <a:avLst>
              <a:gd name="adj" fmla="val 5333"/>
            </a:avLst>
          </a:prstGeom>
          <a:solidFill>
            <a:schemeClr val="accent3">
              <a:alpha val="35000"/>
            </a:schemeClr>
          </a:solidFill>
          <a:ln/>
        </p:spPr>
      </p:sp>
      <p:sp>
        <p:nvSpPr>
          <p:cNvPr id="17" name="g2_ic"/>
          <p:cNvSpPr/>
          <p:nvPr/>
        </p:nvSpPr>
        <p:spPr>
          <a:xfrm>
            <a:off x="5989320" y="2743200"/>
            <a:ext cx="457200" cy="457200"/>
          </a:xfrm>
          <a:prstGeom prst="ellipse">
            <a:avLst/>
          </a:prstGeom>
          <a:solidFill>
            <a:schemeClr val="accent3"/>
          </a:solidFill>
          <a:ln/>
        </p:spPr>
      </p:sp>
      <p:pic>
        <p:nvPicPr>
          <p:cNvPr id="18" name="g2_im" descr="ícone">    </p:cNvPr>
          <p:cNvPicPr>
            <a:picLocks noChangeAspect="1"/>
          </p:cNvPicPr>
          <p:nvPr/>
        </p:nvPicPr>
        <p:blipFill>
          <a:blip r:embed="rId1"/>
          <a:stretch>
            <a:fillRect/>
          </a:stretch>
        </p:blipFill>
        <p:spPr>
          <a:xfrm>
            <a:off x="6099048" y="2852928"/>
            <a:ext cx="237744" cy="237744"/>
          </a:xfrm>
          <a:prstGeom prst="rect">
            <a:avLst/>
          </a:prstGeom>
        </p:spPr>
      </p:pic>
      <p:sp>
        <p:nvSpPr>
          <p:cNvPr id="19" name="g2_h"/>
          <p:cNvSpPr txBox="1"/>
          <p:nvPr/>
        </p:nvSpPr>
        <p:spPr>
          <a:xfrm>
            <a:off x="6583680" y="2743200"/>
            <a:ext cx="1920240" cy="457200"/>
          </a:xfrm>
          <a:prstGeom prst="rect">
            <a:avLst/>
          </a:prstGeom>
          <a:noFill/>
          <a:ln/>
        </p:spPr>
        <p:txBody>
          <a:bodyPr wrap="square" lIns="0" tIns="0" rIns="0" bIns="0" rtlCol="0" anchor="ctr"/>
          <a:lstStyle/>
          <a:p>
            <a:pPr indent="0" marL="0">
              <a:buNone/>
            </a:pPr>
            <a:r>
              <a:rPr lang="en-US" sz="1700" b="1" dirty="0">
                <a:solidFill>
                  <a:schemeClr val="tx1"/>
                </a:solidFill>
              </a:rPr>
              <a:t>Hipóteses</a:t>
            </a:r>
            <a:endParaRPr lang="en-US" sz="1700" dirty="0"/>
          </a:p>
        </p:txBody>
      </p:sp>
      <p:sp>
        <p:nvSpPr>
          <p:cNvPr id="20" name="g2_t"/>
          <p:cNvSpPr txBox="1"/>
          <p:nvPr/>
        </p:nvSpPr>
        <p:spPr>
          <a:xfrm>
            <a:off x="5989320" y="3337560"/>
            <a:ext cx="2514600" cy="1280160"/>
          </a:xfrm>
          <a:prstGeom prst="rect">
            <a:avLst/>
          </a:prstGeom>
          <a:noFill/>
          <a:ln/>
        </p:spPr>
        <p:txBody>
          <a:bodyPr wrap="square" lIns="0" tIns="0" rIns="0" bIns="0" rtlCol="0" anchor="t"/>
          <a:lstStyle/>
          <a:p>
            <a:pPr indent="0" marL="0">
              <a:buNone/>
            </a:pPr>
            <a:r>
              <a:rPr lang="en-US" sz="1100" dirty="0">
                <a:solidFill>
                  <a:schemeClr val="tx1"/>
                </a:solidFill>
              </a:rPr>
              <a:t>1. Ver o que levar e reservar à distância reduz idas em vão e espera.</a:t>
            </a:r>
            <a:endParaRPr lang="en-US" sz="1300" dirty="0"/>
          </a:p>
          <a:p>
            <a:pPr indent="0" marL="0">
              <a:buNone/>
            </a:pPr>
            <a:r>
              <a:rPr lang="en-US" sz="1100" dirty="0">
                <a:solidFill>
                  <a:schemeClr val="tx1"/>
                </a:solidFill>
              </a:rPr>
              <a:t>2. Avisos por SMS ou notificação: esperar fora do posto e menos faltas.</a:t>
            </a:r>
            <a:endParaRPr lang="en-US" sz="1300" dirty="0"/>
          </a:p>
          <a:p>
            <a:pPr indent="0" marL="0">
              <a:buNone/>
            </a:pPr>
            <a:r>
              <a:rPr lang="en-US" sz="1100" dirty="0">
                <a:solidFill>
                  <a:schemeClr val="tx1"/>
                </a:solidFill>
              </a:rPr>
              <a:t>3. Só será usado se for simples, leve e gratuito, e só dura se for sustentável.</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8"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22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22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22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22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22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44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44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nodeType="withEffect">
                                  <p:stCondLst>
                                    <p:cond delay="44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44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44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Objectivos</a:t>
            </a:r>
            <a:endParaRPr lang="en-US" sz="3000" dirty="0"/>
          </a:p>
        </p:txBody>
      </p:sp>
      <p:sp>
        <p:nvSpPr>
          <p:cNvPr id="3" name="g0_card"/>
          <p:cNvSpPr/>
          <p:nvPr/>
        </p:nvSpPr>
        <p:spPr>
          <a:xfrm>
            <a:off x="457200" y="1188720"/>
            <a:ext cx="2926080" cy="3429000"/>
          </a:xfrm>
          <a:prstGeom prst="roundRect">
            <a:avLst>
              <a:gd name="adj" fmla="val 3750"/>
            </a:avLst>
          </a:prstGeom>
          <a:solidFill>
            <a:schemeClr val="accent1"/>
          </a:solidFill>
          <a:ln/>
          <a:effectLst>
            <a:outerShdw sx="100000" sy="100000" kx="0" ky="0" algn="bl" rotWithShape="0" blurRad="101600" dist="25400" dir="5400000">
              <a:srgbClr val="000000">
                <a:alpha val="10000"/>
              </a:srgbClr>
            </a:outerShdw>
          </a:effectLst>
        </p:spPr>
      </p:sp>
      <p:sp>
        <p:nvSpPr>
          <p:cNvPr id="4" name="g0_ic"/>
          <p:cNvSpPr/>
          <p:nvPr/>
        </p:nvSpPr>
        <p:spPr>
          <a:xfrm>
            <a:off x="731520" y="1463040"/>
            <a:ext cx="594360" cy="594360"/>
          </a:xfrm>
          <a:prstGeom prst="ellipse">
            <a:avLst/>
          </a:prstGeom>
          <a:solidFill>
            <a:schemeClr val="accent3"/>
          </a:solidFill>
          <a:ln/>
        </p:spPr>
      </p:sp>
      <p:pic>
        <p:nvPicPr>
          <p:cNvPr id="5" name="g0_im" descr="ícone">    </p:cNvPr>
          <p:cNvPicPr>
            <a:picLocks noChangeAspect="1"/>
          </p:cNvPicPr>
          <p:nvPr/>
        </p:nvPicPr>
        <p:blipFill>
          <a:blip r:embed="rId1"/>
          <a:stretch>
            <a:fillRect/>
          </a:stretch>
        </p:blipFill>
        <p:spPr>
          <a:xfrm>
            <a:off x="874166" y="1605686"/>
            <a:ext cx="309067" cy="309067"/>
          </a:xfrm>
          <a:prstGeom prst="rect">
            <a:avLst/>
          </a:prstGeom>
        </p:spPr>
      </p:pic>
      <p:sp>
        <p:nvSpPr>
          <p:cNvPr id="6" name="g0_l"/>
          <p:cNvSpPr txBox="1"/>
          <p:nvPr/>
        </p:nvSpPr>
        <p:spPr>
          <a:xfrm>
            <a:off x="731520" y="2240280"/>
            <a:ext cx="2377440" cy="228600"/>
          </a:xfrm>
          <a:prstGeom prst="rect">
            <a:avLst/>
          </a:prstGeom>
          <a:noFill/>
          <a:ln/>
        </p:spPr>
        <p:txBody>
          <a:bodyPr wrap="square" lIns="0" tIns="0" rIns="0" bIns="0" rtlCol="0" anchor="t"/>
          <a:lstStyle/>
          <a:p>
            <a:pPr indent="0" marL="0">
              <a:buNone/>
            </a:pPr>
            <a:r>
              <a:rPr lang="en-US" sz="1200" b="1" spc="200" kern="0" dirty="0">
                <a:solidFill>
                  <a:schemeClr val="accent3"/>
                </a:solidFill>
              </a:rPr>
              <a:t>OBJECTIVO GERAL</a:t>
            </a:r>
            <a:endParaRPr lang="en-US" sz="1200" dirty="0"/>
          </a:p>
        </p:txBody>
      </p:sp>
      <p:sp>
        <p:nvSpPr>
          <p:cNvPr id="7" name="g0_t"/>
          <p:cNvSpPr txBox="1"/>
          <p:nvPr/>
        </p:nvSpPr>
        <p:spPr>
          <a:xfrm>
            <a:off x="731520" y="2560320"/>
            <a:ext cx="2377440" cy="1920240"/>
          </a:xfrm>
          <a:prstGeom prst="rect">
            <a:avLst/>
          </a:prstGeom>
          <a:noFill/>
          <a:ln/>
        </p:spPr>
        <p:txBody>
          <a:bodyPr wrap="square" lIns="0" tIns="0" rIns="0" bIns="0" rtlCol="0" anchor="t"/>
          <a:lstStyle/>
          <a:p>
            <a:pPr indent="0" marL="0">
              <a:buNone/>
            </a:pPr>
            <a:r>
              <a:rPr lang="en-US" sz="1400" dirty="0">
                <a:solidFill>
                  <a:schemeClr val="bg1"/>
                </a:solidFill>
              </a:rPr>
              <a:t>Desenvolver um sistema angolano de agendamento e gestão de filas para o SIAC, complementar às senhas existentes, para que utentes e funcionários percam menos tempo e o sistema possa ser mantido em Angola.</a:t>
            </a:r>
            <a:endParaRPr lang="en-US" sz="1600" dirty="0"/>
          </a:p>
        </p:txBody>
      </p:sp>
      <p:sp>
        <p:nvSpPr>
          <p:cNvPr id="8" name="g1_h"/>
          <p:cNvSpPr txBox="1"/>
          <p:nvPr/>
        </p:nvSpPr>
        <p:spPr>
          <a:xfrm>
            <a:off x="3657600" y="1188720"/>
            <a:ext cx="5029200" cy="274320"/>
          </a:xfrm>
          <a:prstGeom prst="rect">
            <a:avLst/>
          </a:prstGeom>
          <a:noFill/>
          <a:ln/>
        </p:spPr>
        <p:txBody>
          <a:bodyPr wrap="square" lIns="0" tIns="0" rIns="0" bIns="0" rtlCol="0" anchor="t"/>
          <a:lstStyle/>
          <a:p>
            <a:pPr indent="0" marL="0">
              <a:buNone/>
            </a:pPr>
            <a:r>
              <a:rPr lang="en-US" sz="1600" b="1" dirty="0">
                <a:solidFill>
                  <a:schemeClr val="tx1"/>
                </a:solidFill>
              </a:rPr>
              <a:t>Objectivos específicos</a:t>
            </a:r>
            <a:endParaRPr lang="en-US" sz="1600" dirty="0"/>
          </a:p>
        </p:txBody>
      </p:sp>
      <p:sp>
        <p:nvSpPr>
          <p:cNvPr id="9" name="g2_card"/>
          <p:cNvSpPr/>
          <p:nvPr/>
        </p:nvSpPr>
        <p:spPr>
          <a:xfrm>
            <a:off x="3657600" y="1600200"/>
            <a:ext cx="2468880" cy="932688"/>
          </a:xfrm>
          <a:prstGeom prst="roundRect">
            <a:avLst>
              <a:gd name="adj" fmla="val 11765"/>
            </a:avLst>
          </a:prstGeom>
          <a:solidFill>
            <a:schemeClr val="bg2"/>
          </a:solidFill>
          <a:ln/>
          <a:effectLst>
            <a:outerShdw sx="100000" sy="100000" kx="0" ky="0" algn="bl" rotWithShape="0" blurRad="101600" dist="25400" dir="5400000">
              <a:srgbClr val="000000">
                <a:alpha val="10000"/>
              </a:srgbClr>
            </a:outerShdw>
          </a:effectLst>
        </p:spPr>
      </p:sp>
      <p:sp>
        <p:nvSpPr>
          <p:cNvPr id="10" name="g2_num"/>
          <p:cNvSpPr txBox="1"/>
          <p:nvPr/>
        </p:nvSpPr>
        <p:spPr>
          <a:xfrm>
            <a:off x="3794760" y="1856232"/>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1" name="g2_t"/>
          <p:cNvSpPr txBox="1"/>
          <p:nvPr/>
        </p:nvSpPr>
        <p:spPr>
          <a:xfrm>
            <a:off x="4343400" y="1673352"/>
            <a:ext cx="1691640" cy="786384"/>
          </a:xfrm>
          <a:prstGeom prst="rect">
            <a:avLst/>
          </a:prstGeom>
          <a:noFill/>
          <a:ln/>
        </p:spPr>
        <p:txBody>
          <a:bodyPr wrap="square" lIns="0" tIns="0" rIns="0" bIns="0" rtlCol="0" anchor="ctr"/>
          <a:lstStyle/>
          <a:p>
            <a:pPr indent="0" marL="0">
              <a:buNone/>
            </a:pPr>
            <a:r>
              <a:rPr lang="en-US" sz="1300" dirty="0">
                <a:solidFill>
                  <a:schemeClr val="tx1"/>
                </a:solidFill>
              </a:rPr>
              <a:t>Caracterizar o caso e definir a metodologia</a:t>
            </a:r>
            <a:endParaRPr lang="en-US" sz="1300" dirty="0"/>
          </a:p>
        </p:txBody>
      </p:sp>
      <p:sp>
        <p:nvSpPr>
          <p:cNvPr id="12" name="g3_card"/>
          <p:cNvSpPr/>
          <p:nvPr/>
        </p:nvSpPr>
        <p:spPr>
          <a:xfrm>
            <a:off x="6217920" y="1600200"/>
            <a:ext cx="2468880" cy="932688"/>
          </a:xfrm>
          <a:prstGeom prst="roundRect">
            <a:avLst>
              <a:gd name="adj" fmla="val 11765"/>
            </a:avLst>
          </a:prstGeom>
          <a:solidFill>
            <a:schemeClr val="bg2"/>
          </a:solidFill>
          <a:ln/>
          <a:effectLst>
            <a:outerShdw sx="100000" sy="100000" kx="0" ky="0" algn="bl" rotWithShape="0" blurRad="101600" dist="25400" dir="5400000">
              <a:srgbClr val="000000">
                <a:alpha val="10000"/>
              </a:srgbClr>
            </a:outerShdw>
          </a:effectLst>
        </p:spPr>
      </p:sp>
      <p:sp>
        <p:nvSpPr>
          <p:cNvPr id="13" name="g3_num"/>
          <p:cNvSpPr txBox="1"/>
          <p:nvPr/>
        </p:nvSpPr>
        <p:spPr>
          <a:xfrm>
            <a:off x="6355080" y="1856232"/>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g3_t"/>
          <p:cNvSpPr txBox="1"/>
          <p:nvPr/>
        </p:nvSpPr>
        <p:spPr>
          <a:xfrm>
            <a:off x="6903720" y="1673352"/>
            <a:ext cx="1691640" cy="786384"/>
          </a:xfrm>
          <a:prstGeom prst="rect">
            <a:avLst/>
          </a:prstGeom>
          <a:noFill/>
          <a:ln/>
        </p:spPr>
        <p:txBody>
          <a:bodyPr wrap="square" lIns="0" tIns="0" rIns="0" bIns="0" rtlCol="0" anchor="ctr"/>
          <a:lstStyle/>
          <a:p>
            <a:pPr indent="0" marL="0">
              <a:buNone/>
            </a:pPr>
            <a:r>
              <a:rPr lang="en-US" sz="1300" dirty="0">
                <a:solidFill>
                  <a:schemeClr val="tx1"/>
                </a:solidFill>
              </a:rPr>
              <a:t>Comparar soluções existentes, em Angola e fora</a:t>
            </a:r>
            <a:endParaRPr lang="en-US" sz="1300" dirty="0"/>
          </a:p>
        </p:txBody>
      </p:sp>
      <p:sp>
        <p:nvSpPr>
          <p:cNvPr id="15" name="g4_card"/>
          <p:cNvSpPr/>
          <p:nvPr/>
        </p:nvSpPr>
        <p:spPr>
          <a:xfrm>
            <a:off x="3657600" y="2624328"/>
            <a:ext cx="2468880" cy="932688"/>
          </a:xfrm>
          <a:prstGeom prst="roundRect">
            <a:avLst>
              <a:gd name="adj" fmla="val 11765"/>
            </a:avLst>
          </a:prstGeom>
          <a:solidFill>
            <a:schemeClr val="bg2"/>
          </a:solidFill>
          <a:ln/>
          <a:effectLst>
            <a:outerShdw sx="100000" sy="100000" kx="0" ky="0" algn="bl" rotWithShape="0" blurRad="101600" dist="25400" dir="5400000">
              <a:srgbClr val="000000">
                <a:alpha val="10000"/>
              </a:srgbClr>
            </a:outerShdw>
          </a:effectLst>
        </p:spPr>
      </p:sp>
      <p:sp>
        <p:nvSpPr>
          <p:cNvPr id="16" name="g4_num"/>
          <p:cNvSpPr txBox="1"/>
          <p:nvPr/>
        </p:nvSpPr>
        <p:spPr>
          <a:xfrm>
            <a:off x="3794760" y="2880360"/>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g4_t"/>
          <p:cNvSpPr txBox="1"/>
          <p:nvPr/>
        </p:nvSpPr>
        <p:spPr>
          <a:xfrm>
            <a:off x="4343400" y="2697480"/>
            <a:ext cx="1691640" cy="786384"/>
          </a:xfrm>
          <a:prstGeom prst="rect">
            <a:avLst/>
          </a:prstGeom>
          <a:noFill/>
          <a:ln/>
        </p:spPr>
        <p:txBody>
          <a:bodyPr wrap="square" lIns="0" tIns="0" rIns="0" bIns="0" rtlCol="0" anchor="ctr"/>
          <a:lstStyle/>
          <a:p>
            <a:pPr indent="0" marL="0">
              <a:buNone/>
            </a:pPr>
            <a:r>
              <a:rPr lang="en-US" sz="1300" dirty="0">
                <a:solidFill>
                  <a:schemeClr val="tx1"/>
                </a:solidFill>
              </a:rPr>
              <a:t>Especificar requisitos funcionais e não funcionais</a:t>
            </a:r>
            <a:endParaRPr lang="en-US" sz="1300" dirty="0"/>
          </a:p>
        </p:txBody>
      </p:sp>
      <p:sp>
        <p:nvSpPr>
          <p:cNvPr id="18" name="g5_card"/>
          <p:cNvSpPr/>
          <p:nvPr/>
        </p:nvSpPr>
        <p:spPr>
          <a:xfrm>
            <a:off x="6217920" y="2624328"/>
            <a:ext cx="2468880" cy="932688"/>
          </a:xfrm>
          <a:prstGeom prst="roundRect">
            <a:avLst>
              <a:gd name="adj" fmla="val 11765"/>
            </a:avLst>
          </a:prstGeom>
          <a:solidFill>
            <a:schemeClr val="bg2"/>
          </a:solidFill>
          <a:ln/>
          <a:effectLst>
            <a:outerShdw sx="100000" sy="100000" kx="0" ky="0" algn="bl" rotWithShape="0" blurRad="101600" dist="25400" dir="5400000">
              <a:srgbClr val="000000">
                <a:alpha val="10000"/>
              </a:srgbClr>
            </a:outerShdw>
          </a:effectLst>
        </p:spPr>
      </p:sp>
      <p:sp>
        <p:nvSpPr>
          <p:cNvPr id="19" name="g5_num"/>
          <p:cNvSpPr txBox="1"/>
          <p:nvPr/>
        </p:nvSpPr>
        <p:spPr>
          <a:xfrm>
            <a:off x="6355080" y="2880360"/>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0" name="g5_t"/>
          <p:cNvSpPr txBox="1"/>
          <p:nvPr/>
        </p:nvSpPr>
        <p:spPr>
          <a:xfrm>
            <a:off x="6903720" y="2697480"/>
            <a:ext cx="1691640" cy="786384"/>
          </a:xfrm>
          <a:prstGeom prst="rect">
            <a:avLst/>
          </a:prstGeom>
          <a:noFill/>
          <a:ln/>
        </p:spPr>
        <p:txBody>
          <a:bodyPr wrap="square" lIns="0" tIns="0" rIns="0" bIns="0" rtlCol="0" anchor="ctr"/>
          <a:lstStyle/>
          <a:p>
            <a:pPr indent="0" marL="0">
              <a:buNone/>
            </a:pPr>
            <a:r>
              <a:rPr lang="en-US" sz="1300" dirty="0">
                <a:solidFill>
                  <a:schemeClr val="tx1"/>
                </a:solidFill>
              </a:rPr>
              <a:t>Definir arquitectura, dados e ligação às senhas</a:t>
            </a:r>
            <a:endParaRPr lang="en-US" sz="1300" dirty="0"/>
          </a:p>
        </p:txBody>
      </p:sp>
      <p:sp>
        <p:nvSpPr>
          <p:cNvPr id="21" name="g6_card"/>
          <p:cNvSpPr/>
          <p:nvPr/>
        </p:nvSpPr>
        <p:spPr>
          <a:xfrm>
            <a:off x="3657600" y="3648456"/>
            <a:ext cx="2468880" cy="932688"/>
          </a:xfrm>
          <a:prstGeom prst="roundRect">
            <a:avLst>
              <a:gd name="adj" fmla="val 11765"/>
            </a:avLst>
          </a:prstGeom>
          <a:solidFill>
            <a:schemeClr val="bg2"/>
          </a:solidFill>
          <a:ln/>
          <a:effectLst>
            <a:outerShdw sx="100000" sy="100000" kx="0" ky="0" algn="bl" rotWithShape="0" blurRad="101600" dist="25400" dir="5400000">
              <a:srgbClr val="000000">
                <a:alpha val="10000"/>
              </a:srgbClr>
            </a:outerShdw>
          </a:effectLst>
        </p:spPr>
      </p:sp>
      <p:sp>
        <p:nvSpPr>
          <p:cNvPr id="22" name="g6_num"/>
          <p:cNvSpPr txBox="1"/>
          <p:nvPr/>
        </p:nvSpPr>
        <p:spPr>
          <a:xfrm>
            <a:off x="3794760" y="3904488"/>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3" name="g6_t"/>
          <p:cNvSpPr txBox="1"/>
          <p:nvPr/>
        </p:nvSpPr>
        <p:spPr>
          <a:xfrm>
            <a:off x="4343400" y="3721608"/>
            <a:ext cx="1691640" cy="786384"/>
          </a:xfrm>
          <a:prstGeom prst="rect">
            <a:avLst/>
          </a:prstGeom>
          <a:noFill/>
          <a:ln/>
        </p:spPr>
        <p:txBody>
          <a:bodyPr wrap="square" lIns="0" tIns="0" rIns="0" bIns="0" rtlCol="0" anchor="ctr"/>
          <a:lstStyle/>
          <a:p>
            <a:pPr indent="0" marL="0">
              <a:buNone/>
            </a:pPr>
            <a:r>
              <a:rPr lang="en-US" sz="1300" dirty="0">
                <a:solidFill>
                  <a:schemeClr val="tx1"/>
                </a:solidFill>
              </a:rPr>
              <a:t>Justificar tecnologias e avaliar a sustentabilidade</a:t>
            </a:r>
            <a:endParaRPr lang="en-US" sz="1300" dirty="0"/>
          </a:p>
        </p:txBody>
      </p:sp>
      <p:sp>
        <p:nvSpPr>
          <p:cNvPr id="24" name="g7_card"/>
          <p:cNvSpPr/>
          <p:nvPr/>
        </p:nvSpPr>
        <p:spPr>
          <a:xfrm>
            <a:off x="6217920" y="3648456"/>
            <a:ext cx="2468880" cy="932688"/>
          </a:xfrm>
          <a:prstGeom prst="roundRect">
            <a:avLst>
              <a:gd name="adj" fmla="val 11765"/>
            </a:avLst>
          </a:prstGeom>
          <a:solidFill>
            <a:schemeClr val="bg2"/>
          </a:solidFill>
          <a:ln/>
          <a:effectLst>
            <a:outerShdw sx="100000" sy="100000" kx="0" ky="0" algn="bl" rotWithShape="0" blurRad="101600" dist="25400" dir="5400000">
              <a:srgbClr val="000000">
                <a:alpha val="10000"/>
              </a:srgbClr>
            </a:outerShdw>
          </a:effectLst>
        </p:spPr>
      </p:sp>
      <p:sp>
        <p:nvSpPr>
          <p:cNvPr id="25" name="g7_num"/>
          <p:cNvSpPr txBox="1"/>
          <p:nvPr/>
        </p:nvSpPr>
        <p:spPr>
          <a:xfrm>
            <a:off x="6355080" y="3904488"/>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6" name="g7_t"/>
          <p:cNvSpPr txBox="1"/>
          <p:nvPr/>
        </p:nvSpPr>
        <p:spPr>
          <a:xfrm>
            <a:off x="6903720" y="3721608"/>
            <a:ext cx="1691640" cy="786384"/>
          </a:xfrm>
          <a:prstGeom prst="rect">
            <a:avLst/>
          </a:prstGeom>
          <a:noFill/>
          <a:ln/>
        </p:spPr>
        <p:txBody>
          <a:bodyPr wrap="square" lIns="0" tIns="0" rIns="0" bIns="0" rtlCol="0" anchor="ctr"/>
          <a:lstStyle/>
          <a:p>
            <a:pPr indent="0" marL="0">
              <a:buNone/>
            </a:pPr>
            <a:r>
              <a:rPr lang="en-US" sz="1300" dirty="0">
                <a:solidFill>
                  <a:schemeClr val="tx1"/>
                </a:solidFill>
              </a:rPr>
              <a:t>Construir o protótipo e testá-lo (fase seguinte)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6"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44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44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44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66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88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88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88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110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110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110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132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132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132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154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154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grpId="0" nodeType="withEffect">
                                  <p:stCondLst>
                                    <p:cond delay="154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Como vamos recolher dados</a:t>
            </a:r>
            <a:endParaRPr lang="en-US" sz="3000" dirty="0"/>
          </a:p>
        </p:txBody>
      </p:sp>
      <p:sp>
        <p:nvSpPr>
          <p:cNvPr id="3" name="g0_card"/>
          <p:cNvSpPr/>
          <p:nvPr/>
        </p:nvSpPr>
        <p:spPr>
          <a:xfrm>
            <a:off x="457200" y="1188720"/>
            <a:ext cx="1554480" cy="2331720"/>
          </a:xfrm>
          <a:prstGeom prst="roundRect">
            <a:avLst>
              <a:gd name="adj" fmla="val 7059"/>
            </a:avLst>
          </a:prstGeom>
          <a:solidFill>
            <a:schemeClr val="bg2"/>
          </a:solidFill>
          <a:ln/>
          <a:effectLst>
            <a:outerShdw sx="100000" sy="100000" kx="0" ky="0" algn="bl" rotWithShape="0" blurRad="101600" dist="25400" dir="5400000">
              <a:srgbClr val="000000">
                <a:alpha val="10000"/>
              </a:srgbClr>
            </a:outerShdw>
          </a:effectLst>
        </p:spPr>
      </p:sp>
      <p:sp>
        <p:nvSpPr>
          <p:cNvPr id="4" name="g0_ic"/>
          <p:cNvSpPr/>
          <p:nvPr/>
        </p:nvSpPr>
        <p:spPr>
          <a:xfrm>
            <a:off x="594360" y="1371600"/>
            <a:ext cx="548640" cy="548640"/>
          </a:xfrm>
          <a:prstGeom prst="ellipse">
            <a:avLst/>
          </a:prstGeom>
          <a:solidFill>
            <a:schemeClr val="accent1"/>
          </a:solidFill>
          <a:ln/>
        </p:spPr>
      </p:sp>
      <p:pic>
        <p:nvPicPr>
          <p:cNvPr id="5" name="g0_im" descr="ícone">    </p:cNvPr>
          <p:cNvPicPr>
            <a:picLocks noChangeAspect="1"/>
          </p:cNvPicPr>
          <p:nvPr/>
        </p:nvPicPr>
        <p:blipFill>
          <a:blip r:embed="rId1"/>
          <a:stretch>
            <a:fillRect/>
          </a:stretch>
        </p:blipFill>
        <p:spPr>
          <a:xfrm>
            <a:off x="726034" y="1503274"/>
            <a:ext cx="285293" cy="285293"/>
          </a:xfrm>
          <a:prstGeom prst="rect">
            <a:avLst/>
          </a:prstGeom>
        </p:spPr>
      </p:pic>
      <p:sp>
        <p:nvSpPr>
          <p:cNvPr id="6" name="g0_h"/>
          <p:cNvSpPr txBox="1"/>
          <p:nvPr/>
        </p:nvSpPr>
        <p:spPr>
          <a:xfrm>
            <a:off x="594360" y="2084832"/>
            <a:ext cx="1325880" cy="274320"/>
          </a:xfrm>
          <a:prstGeom prst="rect">
            <a:avLst/>
          </a:prstGeom>
          <a:noFill/>
          <a:ln/>
        </p:spPr>
        <p:txBody>
          <a:bodyPr wrap="square" lIns="0" tIns="0" rIns="0" bIns="0" rtlCol="0" anchor="t"/>
          <a:lstStyle/>
          <a:p>
            <a:pPr indent="0" marL="0">
              <a:buNone/>
            </a:pPr>
            <a:r>
              <a:rPr lang="en-US" sz="1400" b="1" dirty="0">
                <a:solidFill>
                  <a:schemeClr val="tx1"/>
                </a:solidFill>
              </a:rPr>
              <a:t>Observação</a:t>
            </a:r>
            <a:endParaRPr lang="en-US" sz="1400" dirty="0"/>
          </a:p>
        </p:txBody>
      </p:sp>
      <p:sp>
        <p:nvSpPr>
          <p:cNvPr id="7" name="g0_t"/>
          <p:cNvSpPr txBox="1"/>
          <p:nvPr/>
        </p:nvSpPr>
        <p:spPr>
          <a:xfrm>
            <a:off x="594360" y="2395728"/>
            <a:ext cx="1298448" cy="1051560"/>
          </a:xfrm>
          <a:prstGeom prst="rect">
            <a:avLst/>
          </a:prstGeom>
          <a:noFill/>
          <a:ln/>
        </p:spPr>
        <p:txBody>
          <a:bodyPr wrap="square" lIns="0" tIns="0" rIns="0" bIns="0" rtlCol="0" anchor="t"/>
          <a:lstStyle/>
          <a:p>
            <a:pPr indent="0" marL="0">
              <a:buNone/>
            </a:pPr>
            <a:r>
              <a:rPr lang="en-US" sz="1300" dirty="0">
                <a:solidFill>
                  <a:schemeClr val="accent5"/>
                </a:solidFill>
              </a:rPr>
              <a:t>Ver como funciona o atendimento, os balcões e a fila</a:t>
            </a:r>
            <a:endParaRPr lang="en-US" sz="1300" dirty="0"/>
          </a:p>
        </p:txBody>
      </p:sp>
      <p:sp>
        <p:nvSpPr>
          <p:cNvPr id="8" name="g1_card"/>
          <p:cNvSpPr/>
          <p:nvPr/>
        </p:nvSpPr>
        <p:spPr>
          <a:xfrm>
            <a:off x="2125980" y="1188720"/>
            <a:ext cx="1554480" cy="2331720"/>
          </a:xfrm>
          <a:prstGeom prst="roundRect">
            <a:avLst>
              <a:gd name="adj" fmla="val 7059"/>
            </a:avLst>
          </a:prstGeom>
          <a:solidFill>
            <a:schemeClr val="bg2"/>
          </a:solidFill>
          <a:ln/>
          <a:effectLst>
            <a:outerShdw sx="100000" sy="100000" kx="0" ky="0" algn="bl" rotWithShape="0" blurRad="101600" dist="25400" dir="5400000">
              <a:srgbClr val="000000">
                <a:alpha val="10000"/>
              </a:srgbClr>
            </a:outerShdw>
          </a:effectLst>
        </p:spPr>
      </p:sp>
      <p:sp>
        <p:nvSpPr>
          <p:cNvPr id="9" name="g1_ic"/>
          <p:cNvSpPr/>
          <p:nvPr/>
        </p:nvSpPr>
        <p:spPr>
          <a:xfrm>
            <a:off x="2263140" y="1371600"/>
            <a:ext cx="548640" cy="548640"/>
          </a:xfrm>
          <a:prstGeom prst="ellipse">
            <a:avLst/>
          </a:prstGeom>
          <a:solidFill>
            <a:schemeClr val="accent2"/>
          </a:solidFill>
          <a:ln/>
        </p:spPr>
      </p:sp>
      <p:pic>
        <p:nvPicPr>
          <p:cNvPr id="10" name="g1_im" descr="ícone">    </p:cNvPr>
          <p:cNvPicPr>
            <a:picLocks noChangeAspect="1"/>
          </p:cNvPicPr>
          <p:nvPr/>
        </p:nvPicPr>
        <p:blipFill>
          <a:blip r:embed="rId2"/>
          <a:stretch>
            <a:fillRect/>
          </a:stretch>
        </p:blipFill>
        <p:spPr>
          <a:xfrm>
            <a:off x="2394814" y="1503274"/>
            <a:ext cx="285293" cy="285293"/>
          </a:xfrm>
          <a:prstGeom prst="rect">
            <a:avLst/>
          </a:prstGeom>
        </p:spPr>
      </p:pic>
      <p:sp>
        <p:nvSpPr>
          <p:cNvPr id="11" name="g1_h"/>
          <p:cNvSpPr txBox="1"/>
          <p:nvPr/>
        </p:nvSpPr>
        <p:spPr>
          <a:xfrm>
            <a:off x="2263140" y="2084832"/>
            <a:ext cx="1325880" cy="274320"/>
          </a:xfrm>
          <a:prstGeom prst="rect">
            <a:avLst/>
          </a:prstGeom>
          <a:noFill/>
          <a:ln/>
        </p:spPr>
        <p:txBody>
          <a:bodyPr wrap="square" lIns="0" tIns="0" rIns="0" bIns="0" rtlCol="0" anchor="t"/>
          <a:lstStyle/>
          <a:p>
            <a:pPr indent="0" marL="0">
              <a:buNone/>
            </a:pPr>
            <a:r>
              <a:rPr lang="en-US" sz="1400" b="1" dirty="0">
                <a:solidFill>
                  <a:schemeClr val="tx1"/>
                </a:solidFill>
              </a:rPr>
              <a:t>Cronómetro</a:t>
            </a:r>
            <a:endParaRPr lang="en-US" sz="1400" dirty="0"/>
          </a:p>
        </p:txBody>
      </p:sp>
      <p:sp>
        <p:nvSpPr>
          <p:cNvPr id="12" name="g1_t"/>
          <p:cNvSpPr txBox="1"/>
          <p:nvPr/>
        </p:nvSpPr>
        <p:spPr>
          <a:xfrm>
            <a:off x="2263140" y="2395728"/>
            <a:ext cx="1298448" cy="1051560"/>
          </a:xfrm>
          <a:prstGeom prst="rect">
            <a:avLst/>
          </a:prstGeom>
          <a:noFill/>
          <a:ln/>
        </p:spPr>
        <p:txBody>
          <a:bodyPr wrap="square" lIns="0" tIns="0" rIns="0" bIns="0" rtlCol="0" anchor="t"/>
          <a:lstStyle/>
          <a:p>
            <a:pPr indent="0" marL="0">
              <a:buNone/>
            </a:pPr>
            <a:r>
              <a:rPr lang="en-US" sz="1300" dirty="0">
                <a:solidFill>
                  <a:schemeClr val="accent5"/>
                </a:solidFill>
              </a:rPr>
              <a:t>Medir esperas e duração de cada atendimento</a:t>
            </a:r>
            <a:endParaRPr lang="en-US" sz="1300" dirty="0"/>
          </a:p>
        </p:txBody>
      </p:sp>
      <p:sp>
        <p:nvSpPr>
          <p:cNvPr id="13" name="g2_card"/>
          <p:cNvSpPr/>
          <p:nvPr/>
        </p:nvSpPr>
        <p:spPr>
          <a:xfrm>
            <a:off x="3794760" y="1188720"/>
            <a:ext cx="1554480" cy="2331720"/>
          </a:xfrm>
          <a:prstGeom prst="roundRect">
            <a:avLst>
              <a:gd name="adj" fmla="val 7059"/>
            </a:avLst>
          </a:prstGeom>
          <a:solidFill>
            <a:schemeClr val="bg2"/>
          </a:solidFill>
          <a:ln/>
          <a:effectLst>
            <a:outerShdw sx="100000" sy="100000" kx="0" ky="0" algn="bl" rotWithShape="0" blurRad="101600" dist="25400" dir="5400000">
              <a:srgbClr val="000000">
                <a:alpha val="10000"/>
              </a:srgbClr>
            </a:outerShdw>
          </a:effectLst>
        </p:spPr>
      </p:sp>
      <p:sp>
        <p:nvSpPr>
          <p:cNvPr id="14" name="g2_ic"/>
          <p:cNvSpPr/>
          <p:nvPr/>
        </p:nvSpPr>
        <p:spPr>
          <a:xfrm>
            <a:off x="3931920" y="1371600"/>
            <a:ext cx="548640" cy="548640"/>
          </a:xfrm>
          <a:prstGeom prst="ellipse">
            <a:avLst/>
          </a:prstGeom>
          <a:solidFill>
            <a:schemeClr val="accent3"/>
          </a:solidFill>
          <a:ln/>
        </p:spPr>
      </p:sp>
      <p:pic>
        <p:nvPicPr>
          <p:cNvPr id="15" name="g2_im" descr="ícone">    </p:cNvPr>
          <p:cNvPicPr>
            <a:picLocks noChangeAspect="1"/>
          </p:cNvPicPr>
          <p:nvPr/>
        </p:nvPicPr>
        <p:blipFill>
          <a:blip r:embed="rId3"/>
          <a:stretch>
            <a:fillRect/>
          </a:stretch>
        </p:blipFill>
        <p:spPr>
          <a:xfrm>
            <a:off x="4063594" y="1503274"/>
            <a:ext cx="285293" cy="285293"/>
          </a:xfrm>
          <a:prstGeom prst="rect">
            <a:avLst/>
          </a:prstGeom>
        </p:spPr>
      </p:pic>
      <p:sp>
        <p:nvSpPr>
          <p:cNvPr id="16" name="g2_h"/>
          <p:cNvSpPr txBox="1"/>
          <p:nvPr/>
        </p:nvSpPr>
        <p:spPr>
          <a:xfrm>
            <a:off x="3931920" y="2084832"/>
            <a:ext cx="1325880" cy="274320"/>
          </a:xfrm>
          <a:prstGeom prst="rect">
            <a:avLst/>
          </a:prstGeom>
          <a:noFill/>
          <a:ln/>
        </p:spPr>
        <p:txBody>
          <a:bodyPr wrap="square" lIns="0" tIns="0" rIns="0" bIns="0" rtlCol="0" anchor="t"/>
          <a:lstStyle/>
          <a:p>
            <a:pPr indent="0" marL="0">
              <a:buNone/>
            </a:pPr>
            <a:r>
              <a:rPr lang="en-US" sz="1400" b="1" dirty="0">
                <a:solidFill>
                  <a:schemeClr val="tx1"/>
                </a:solidFill>
              </a:rPr>
              <a:t>Inquérito</a:t>
            </a:r>
            <a:endParaRPr lang="en-US" sz="1400" dirty="0"/>
          </a:p>
        </p:txBody>
      </p:sp>
      <p:sp>
        <p:nvSpPr>
          <p:cNvPr id="17" name="g2_t"/>
          <p:cNvSpPr txBox="1"/>
          <p:nvPr/>
        </p:nvSpPr>
        <p:spPr>
          <a:xfrm>
            <a:off x="3931920" y="2395728"/>
            <a:ext cx="1298448" cy="1051560"/>
          </a:xfrm>
          <a:prstGeom prst="rect">
            <a:avLst/>
          </a:prstGeom>
          <a:noFill/>
          <a:ln/>
        </p:spPr>
        <p:txBody>
          <a:bodyPr wrap="square" lIns="0" tIns="0" rIns="0" bIns="0" rtlCol="0" anchor="t"/>
          <a:lstStyle/>
          <a:p>
            <a:pPr indent="0" marL="0">
              <a:buNone/>
            </a:pPr>
            <a:r>
              <a:rPr lang="en-US" sz="1300" dirty="0">
                <a:solidFill>
                  <a:schemeClr val="accent5"/>
                </a:solidFill>
              </a:rPr>
              <a:t>30 a 50 utentes: espera, idas em vão e uso do telemóvel</a:t>
            </a:r>
            <a:endParaRPr lang="en-US" sz="1300" dirty="0"/>
          </a:p>
        </p:txBody>
      </p:sp>
      <p:sp>
        <p:nvSpPr>
          <p:cNvPr id="18" name="g3_card"/>
          <p:cNvSpPr/>
          <p:nvPr/>
        </p:nvSpPr>
        <p:spPr>
          <a:xfrm>
            <a:off x="5463540" y="1188720"/>
            <a:ext cx="1554480" cy="2331720"/>
          </a:xfrm>
          <a:prstGeom prst="roundRect">
            <a:avLst>
              <a:gd name="adj" fmla="val 7059"/>
            </a:avLst>
          </a:prstGeom>
          <a:solidFill>
            <a:schemeClr val="bg2"/>
          </a:solidFill>
          <a:ln/>
          <a:effectLst>
            <a:outerShdw sx="100000" sy="100000" kx="0" ky="0" algn="bl" rotWithShape="0" blurRad="101600" dist="25400" dir="5400000">
              <a:srgbClr val="000000">
                <a:alpha val="10000"/>
              </a:srgbClr>
            </a:outerShdw>
          </a:effectLst>
        </p:spPr>
      </p:sp>
      <p:sp>
        <p:nvSpPr>
          <p:cNvPr id="19" name="g3_ic"/>
          <p:cNvSpPr/>
          <p:nvPr/>
        </p:nvSpPr>
        <p:spPr>
          <a:xfrm>
            <a:off x="5600700" y="1371600"/>
            <a:ext cx="548640" cy="548640"/>
          </a:xfrm>
          <a:prstGeom prst="ellipse">
            <a:avLst/>
          </a:prstGeom>
          <a:solidFill>
            <a:schemeClr val="accent4"/>
          </a:solidFill>
          <a:ln/>
        </p:spPr>
      </p:sp>
      <p:pic>
        <p:nvPicPr>
          <p:cNvPr id="20" name="g3_im" descr="ícone">    </p:cNvPr>
          <p:cNvPicPr>
            <a:picLocks noChangeAspect="1"/>
          </p:cNvPicPr>
          <p:nvPr/>
        </p:nvPicPr>
        <p:blipFill>
          <a:blip r:embed="rId4"/>
          <a:stretch>
            <a:fillRect/>
          </a:stretch>
        </p:blipFill>
        <p:spPr>
          <a:xfrm>
            <a:off x="5732374" y="1503274"/>
            <a:ext cx="285293" cy="285293"/>
          </a:xfrm>
          <a:prstGeom prst="rect">
            <a:avLst/>
          </a:prstGeom>
        </p:spPr>
      </p:pic>
      <p:sp>
        <p:nvSpPr>
          <p:cNvPr id="21" name="g3_h"/>
          <p:cNvSpPr txBox="1"/>
          <p:nvPr/>
        </p:nvSpPr>
        <p:spPr>
          <a:xfrm>
            <a:off x="5600700" y="2084832"/>
            <a:ext cx="1325880" cy="274320"/>
          </a:xfrm>
          <a:prstGeom prst="rect">
            <a:avLst/>
          </a:prstGeom>
          <a:noFill/>
          <a:ln/>
        </p:spPr>
        <p:txBody>
          <a:bodyPr wrap="square" lIns="0" tIns="0" rIns="0" bIns="0" rtlCol="0" anchor="t"/>
          <a:lstStyle/>
          <a:p>
            <a:pPr indent="0" marL="0">
              <a:buNone/>
            </a:pPr>
            <a:r>
              <a:rPr lang="en-US" sz="1400" b="1" dirty="0">
                <a:solidFill>
                  <a:schemeClr val="tx1"/>
                </a:solidFill>
              </a:rPr>
              <a:t>Entrevistas</a:t>
            </a:r>
            <a:endParaRPr lang="en-US" sz="1400" dirty="0"/>
          </a:p>
        </p:txBody>
      </p:sp>
      <p:sp>
        <p:nvSpPr>
          <p:cNvPr id="22" name="g3_t"/>
          <p:cNvSpPr txBox="1"/>
          <p:nvPr/>
        </p:nvSpPr>
        <p:spPr>
          <a:xfrm>
            <a:off x="5600700" y="2395728"/>
            <a:ext cx="1298448" cy="1051560"/>
          </a:xfrm>
          <a:prstGeom prst="rect">
            <a:avLst/>
          </a:prstGeom>
          <a:noFill/>
          <a:ln/>
        </p:spPr>
        <p:txBody>
          <a:bodyPr wrap="square" lIns="0" tIns="0" rIns="0" bIns="0" rtlCol="0" anchor="t"/>
          <a:lstStyle/>
          <a:p>
            <a:pPr indent="0" marL="0">
              <a:buNone/>
            </a:pPr>
            <a:r>
              <a:rPr lang="en-US" sz="1300" dirty="0">
                <a:solidFill>
                  <a:schemeClr val="accent5"/>
                </a:solidFill>
              </a:rPr>
              <a:t>Funcionários e, se autorizado, o responsável do posto</a:t>
            </a:r>
            <a:endParaRPr lang="en-US" sz="1300" dirty="0"/>
          </a:p>
        </p:txBody>
      </p:sp>
      <p:sp>
        <p:nvSpPr>
          <p:cNvPr id="23" name="g4_card"/>
          <p:cNvSpPr/>
          <p:nvPr/>
        </p:nvSpPr>
        <p:spPr>
          <a:xfrm>
            <a:off x="7132320" y="1188720"/>
            <a:ext cx="1554480" cy="2331720"/>
          </a:xfrm>
          <a:prstGeom prst="roundRect">
            <a:avLst>
              <a:gd name="adj" fmla="val 7059"/>
            </a:avLst>
          </a:prstGeom>
          <a:solidFill>
            <a:schemeClr val="bg2"/>
          </a:solidFill>
          <a:ln/>
          <a:effectLst>
            <a:outerShdw sx="100000" sy="100000" kx="0" ky="0" algn="bl" rotWithShape="0" blurRad="101600" dist="25400" dir="5400000">
              <a:srgbClr val="000000">
                <a:alpha val="10000"/>
              </a:srgbClr>
            </a:outerShdw>
          </a:effectLst>
        </p:spPr>
      </p:sp>
      <p:sp>
        <p:nvSpPr>
          <p:cNvPr id="24" name="g4_ic"/>
          <p:cNvSpPr/>
          <p:nvPr/>
        </p:nvSpPr>
        <p:spPr>
          <a:xfrm>
            <a:off x="7269480" y="1371600"/>
            <a:ext cx="548640" cy="548640"/>
          </a:xfrm>
          <a:prstGeom prst="ellipse">
            <a:avLst/>
          </a:prstGeom>
          <a:solidFill>
            <a:schemeClr val="accent5"/>
          </a:solidFill>
          <a:ln/>
        </p:spPr>
      </p:sp>
      <p:pic>
        <p:nvPicPr>
          <p:cNvPr id="25" name="g4_im" descr="ícone">    </p:cNvPr>
          <p:cNvPicPr>
            <a:picLocks noChangeAspect="1"/>
          </p:cNvPicPr>
          <p:nvPr/>
        </p:nvPicPr>
        <p:blipFill>
          <a:blip r:embed="rId5"/>
          <a:stretch>
            <a:fillRect/>
          </a:stretch>
        </p:blipFill>
        <p:spPr>
          <a:xfrm>
            <a:off x="7401154" y="1503274"/>
            <a:ext cx="285293" cy="285293"/>
          </a:xfrm>
          <a:prstGeom prst="rect">
            <a:avLst/>
          </a:prstGeom>
        </p:spPr>
      </p:pic>
      <p:sp>
        <p:nvSpPr>
          <p:cNvPr id="26" name="g4_h"/>
          <p:cNvSpPr txBox="1"/>
          <p:nvPr/>
        </p:nvSpPr>
        <p:spPr>
          <a:xfrm>
            <a:off x="7269480" y="2084832"/>
            <a:ext cx="1325880" cy="274320"/>
          </a:xfrm>
          <a:prstGeom prst="rect">
            <a:avLst/>
          </a:prstGeom>
          <a:noFill/>
          <a:ln/>
        </p:spPr>
        <p:txBody>
          <a:bodyPr wrap="square" lIns="0" tIns="0" rIns="0" bIns="0" rtlCol="0" anchor="t"/>
          <a:lstStyle/>
          <a:p>
            <a:pPr indent="0" marL="0">
              <a:buNone/>
            </a:pPr>
            <a:r>
              <a:rPr lang="en-US" sz="1400" b="1" dirty="0">
                <a:solidFill>
                  <a:schemeClr val="tx1"/>
                </a:solidFill>
              </a:rPr>
              <a:t>Documentos</a:t>
            </a:r>
            <a:endParaRPr lang="en-US" sz="1400" dirty="0"/>
          </a:p>
        </p:txBody>
      </p:sp>
      <p:sp>
        <p:nvSpPr>
          <p:cNvPr id="27" name="g4_t"/>
          <p:cNvSpPr txBox="1"/>
          <p:nvPr/>
        </p:nvSpPr>
        <p:spPr>
          <a:xfrm>
            <a:off x="7269480" y="2395728"/>
            <a:ext cx="1298448" cy="1051560"/>
          </a:xfrm>
          <a:prstGeom prst="rect">
            <a:avLst/>
          </a:prstGeom>
          <a:noFill/>
          <a:ln/>
        </p:spPr>
        <p:txBody>
          <a:bodyPr wrap="square" lIns="0" tIns="0" rIns="0" bIns="0" rtlCol="0" anchor="t"/>
          <a:lstStyle/>
          <a:p>
            <a:pPr indent="0" marL="0">
              <a:buNone/>
            </a:pPr>
            <a:r>
              <a:rPr lang="en-US" sz="1300" dirty="0">
                <a:solidFill>
                  <a:schemeClr val="accent5"/>
                </a:solidFill>
              </a:rPr>
              <a:t>Leis, notícias e textos oficiais</a:t>
            </a:r>
            <a:endParaRPr lang="en-US" sz="1300" dirty="0"/>
          </a:p>
        </p:txBody>
      </p:sp>
      <p:sp>
        <p:nvSpPr>
          <p:cNvPr id="28" name="g5_h"/>
          <p:cNvSpPr txBox="1"/>
          <p:nvPr/>
        </p:nvSpPr>
        <p:spPr>
          <a:xfrm>
            <a:off x="457200" y="3657600"/>
            <a:ext cx="4572000" cy="274320"/>
          </a:xfrm>
          <a:prstGeom prst="rect">
            <a:avLst/>
          </a:prstGeom>
          <a:noFill/>
          <a:ln/>
        </p:spPr>
        <p:txBody>
          <a:bodyPr wrap="square" lIns="0" tIns="0" rIns="0" bIns="0" rtlCol="0" anchor="t"/>
          <a:lstStyle/>
          <a:p>
            <a:pPr indent="0" marL="0">
              <a:buNone/>
            </a:pPr>
            <a:r>
              <a:rPr lang="en-US" sz="1500" b="1" dirty="0">
                <a:solidFill>
                  <a:schemeClr val="tx1"/>
                </a:solidFill>
              </a:rPr>
              <a:t>Delimitação do caso</a:t>
            </a:r>
            <a:endParaRPr lang="en-US" sz="1500" dirty="0"/>
          </a:p>
        </p:txBody>
      </p:sp>
      <p:sp>
        <p:nvSpPr>
          <p:cNvPr id="29" name="g6_c0"/>
          <p:cNvSpPr/>
          <p:nvPr/>
        </p:nvSpPr>
        <p:spPr>
          <a:xfrm>
            <a:off x="457200" y="4023360"/>
            <a:ext cx="1965960" cy="594360"/>
          </a:xfrm>
          <a:prstGeom prst="roundRect">
            <a:avLst>
              <a:gd name="adj" fmla="val 15385"/>
            </a:avLst>
          </a:prstGeom>
          <a:solidFill>
            <a:schemeClr val="accent2">
              <a:alpha val="12000"/>
            </a:schemeClr>
          </a:solidFill>
          <a:ln/>
        </p:spPr>
      </p:sp>
      <p:sp>
        <p:nvSpPr>
          <p:cNvPr id="30" name="g6_t0"/>
          <p:cNvSpPr txBox="1"/>
          <p:nvPr/>
        </p:nvSpPr>
        <p:spPr>
          <a:xfrm>
            <a:off x="566928" y="4023360"/>
            <a:ext cx="1764792" cy="594360"/>
          </a:xfrm>
          <a:prstGeom prst="rect">
            <a:avLst/>
          </a:prstGeom>
          <a:noFill/>
          <a:ln/>
        </p:spPr>
        <p:txBody>
          <a:bodyPr wrap="square" lIns="0" tIns="0" rIns="0" bIns="0" rtlCol="0" anchor="ctr"/>
          <a:lstStyle/>
          <a:p>
            <a:pPr indent="0" marL="0">
              <a:buNone/>
            </a:pPr>
            <a:r>
              <a:rPr lang="en-US" sz="1200" b="1" dirty="0">
                <a:solidFill>
                  <a:schemeClr val="tx1"/>
                </a:solidFill>
              </a:rPr>
              <a:t>Onde: </a:t>
            </a:r>
            <a:r>
              <a:rPr lang="en-US" sz="1200" dirty="0">
                <a:solidFill>
                  <a:schemeClr val="tx1"/>
                </a:solidFill>
              </a:rPr>
              <a:t>um posto do SIAC em Luanda</a:t>
            </a:r>
            <a:endParaRPr lang="en-US" sz="1200" dirty="0"/>
          </a:p>
        </p:txBody>
      </p:sp>
      <p:sp>
        <p:nvSpPr>
          <p:cNvPr id="31" name="g6_c1"/>
          <p:cNvSpPr/>
          <p:nvPr/>
        </p:nvSpPr>
        <p:spPr>
          <a:xfrm>
            <a:off x="2544775" y="4023360"/>
            <a:ext cx="1965960" cy="594360"/>
          </a:xfrm>
          <a:prstGeom prst="roundRect">
            <a:avLst>
              <a:gd name="adj" fmla="val 15385"/>
            </a:avLst>
          </a:prstGeom>
          <a:solidFill>
            <a:schemeClr val="accent2">
              <a:alpha val="12000"/>
            </a:schemeClr>
          </a:solidFill>
          <a:ln/>
        </p:spPr>
      </p:sp>
      <p:sp>
        <p:nvSpPr>
          <p:cNvPr id="32" name="g6_t1"/>
          <p:cNvSpPr txBox="1"/>
          <p:nvPr/>
        </p:nvSpPr>
        <p:spPr>
          <a:xfrm>
            <a:off x="2654503" y="4023360"/>
            <a:ext cx="1764792" cy="594360"/>
          </a:xfrm>
          <a:prstGeom prst="rect">
            <a:avLst/>
          </a:prstGeom>
          <a:noFill/>
          <a:ln/>
        </p:spPr>
        <p:txBody>
          <a:bodyPr wrap="square" lIns="0" tIns="0" rIns="0" bIns="0" rtlCol="0" anchor="ctr"/>
          <a:lstStyle/>
          <a:p>
            <a:pPr indent="0" marL="0">
              <a:buNone/>
            </a:pPr>
            <a:r>
              <a:rPr lang="en-US" sz="1200" b="1" dirty="0">
                <a:solidFill>
                  <a:schemeClr val="tx1"/>
                </a:solidFill>
              </a:rPr>
              <a:t>O quê: </a:t>
            </a:r>
            <a:r>
              <a:rPr lang="en-US" sz="1200" dirty="0">
                <a:solidFill>
                  <a:schemeClr val="tx1"/>
                </a:solidFill>
              </a:rPr>
              <a:t>2 a 3 serviços mais procurados</a:t>
            </a:r>
            <a:endParaRPr lang="en-US" sz="1200" dirty="0"/>
          </a:p>
        </p:txBody>
      </p:sp>
      <p:sp>
        <p:nvSpPr>
          <p:cNvPr id="33" name="g6_c2"/>
          <p:cNvSpPr/>
          <p:nvPr/>
        </p:nvSpPr>
        <p:spPr>
          <a:xfrm>
            <a:off x="4632350" y="4023360"/>
            <a:ext cx="1965960" cy="594360"/>
          </a:xfrm>
          <a:prstGeom prst="roundRect">
            <a:avLst>
              <a:gd name="adj" fmla="val 15385"/>
            </a:avLst>
          </a:prstGeom>
          <a:solidFill>
            <a:schemeClr val="accent2">
              <a:alpha val="12000"/>
            </a:schemeClr>
          </a:solidFill>
          <a:ln/>
        </p:spPr>
      </p:sp>
      <p:sp>
        <p:nvSpPr>
          <p:cNvPr id="34" name="g6_t2"/>
          <p:cNvSpPr txBox="1"/>
          <p:nvPr/>
        </p:nvSpPr>
        <p:spPr>
          <a:xfrm>
            <a:off x="4742078" y="4023360"/>
            <a:ext cx="1764792" cy="594360"/>
          </a:xfrm>
          <a:prstGeom prst="rect">
            <a:avLst/>
          </a:prstGeom>
          <a:noFill/>
          <a:ln/>
        </p:spPr>
        <p:txBody>
          <a:bodyPr wrap="square" lIns="0" tIns="0" rIns="0" bIns="0" rtlCol="0" anchor="ctr"/>
          <a:lstStyle/>
          <a:p>
            <a:pPr indent="0" marL="0">
              <a:buNone/>
            </a:pPr>
            <a:r>
              <a:rPr lang="en-US" sz="1200" b="1" dirty="0">
                <a:solidFill>
                  <a:schemeClr val="tx1"/>
                </a:solidFill>
              </a:rPr>
              <a:t>Quando: </a:t>
            </a:r>
            <a:r>
              <a:rPr lang="en-US" sz="1200" dirty="0">
                <a:solidFill>
                  <a:schemeClr val="tx1"/>
                </a:solidFill>
              </a:rPr>
              <a:t>um dia normal e um dia de pico</a:t>
            </a:r>
            <a:endParaRPr lang="en-US" sz="1200" dirty="0"/>
          </a:p>
        </p:txBody>
      </p:sp>
      <p:sp>
        <p:nvSpPr>
          <p:cNvPr id="35" name="g6_c3"/>
          <p:cNvSpPr/>
          <p:nvPr/>
        </p:nvSpPr>
        <p:spPr>
          <a:xfrm>
            <a:off x="6719926" y="4023360"/>
            <a:ext cx="1965960" cy="594360"/>
          </a:xfrm>
          <a:prstGeom prst="roundRect">
            <a:avLst>
              <a:gd name="adj" fmla="val 15385"/>
            </a:avLst>
          </a:prstGeom>
          <a:solidFill>
            <a:schemeClr val="accent2">
              <a:alpha val="12000"/>
            </a:schemeClr>
          </a:solidFill>
          <a:ln/>
        </p:spPr>
      </p:sp>
      <p:sp>
        <p:nvSpPr>
          <p:cNvPr id="36" name="g6_t3"/>
          <p:cNvSpPr txBox="1"/>
          <p:nvPr/>
        </p:nvSpPr>
        <p:spPr>
          <a:xfrm>
            <a:off x="6829654" y="4023360"/>
            <a:ext cx="1764792" cy="594360"/>
          </a:xfrm>
          <a:prstGeom prst="rect">
            <a:avLst/>
          </a:prstGeom>
          <a:noFill/>
          <a:ln/>
        </p:spPr>
        <p:txBody>
          <a:bodyPr wrap="square" lIns="0" tIns="0" rIns="0" bIns="0" rtlCol="0" anchor="ctr"/>
          <a:lstStyle/>
          <a:p>
            <a:pPr indent="0" marL="0">
              <a:buNone/>
            </a:pPr>
            <a:r>
              <a:rPr lang="en-US" sz="1200" b="1" dirty="0">
                <a:solidFill>
                  <a:schemeClr val="tx1"/>
                </a:solidFill>
              </a:rPr>
              <a:t>Com quem: </a:t>
            </a:r>
            <a:r>
              <a:rPr lang="en-US" sz="1200" dirty="0">
                <a:solidFill>
                  <a:schemeClr val="tx1"/>
                </a:solidFill>
              </a:rPr>
              <a:t>utentes e funcionários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6"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nodeType="withEffect">
                                  <p:stCondLst>
                                    <p:cond delay="22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22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22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44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44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nodeType="withEffect">
                                  <p:stCondLst>
                                    <p:cond delay="44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44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44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66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66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nodeType="withEffect">
                                  <p:stCondLst>
                                    <p:cond delay="66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66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66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88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88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nodeType="withEffect">
                                  <p:stCondLst>
                                    <p:cond delay="88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grpId="0" nodeType="withEffect">
                                  <p:stCondLst>
                                    <p:cond delay="88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grpId="0" nodeType="withEffect">
                                  <p:stCondLst>
                                    <p:cond delay="88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110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grpId="0" nodeType="withEffect">
                                  <p:stCondLst>
                                    <p:cond delay="132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grpId="0" nodeType="withEffect">
                                  <p:stCondLst>
                                    <p:cond delay="132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par>
                                <p:cTn id="88" presetID="10" presetClass="entr" presetSubtype="0" fill="hold" grpId="0" nodeType="withEffect">
                                  <p:stCondLst>
                                    <p:cond delay="132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50"/>
                                        <p:tgtEl>
                                          <p:spTgt spid="31"/>
                                        </p:tgtEl>
                                      </p:cBhvr>
                                    </p:animEffect>
                                  </p:childTnLst>
                                </p:cTn>
                              </p:par>
                              <p:par>
                                <p:cTn id="91" presetID="10" presetClass="entr" presetSubtype="0" fill="hold" grpId="0" nodeType="withEffect">
                                  <p:stCondLst>
                                    <p:cond delay="13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50"/>
                                        <p:tgtEl>
                                          <p:spTgt spid="32"/>
                                        </p:tgtEl>
                                      </p:cBhvr>
                                    </p:animEffect>
                                  </p:childTnLst>
                                </p:cTn>
                              </p:par>
                              <p:par>
                                <p:cTn id="94" presetID="10" presetClass="entr" presetSubtype="0" fill="hold" grpId="0" nodeType="withEffect">
                                  <p:stCondLst>
                                    <p:cond delay="132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50"/>
                                        <p:tgtEl>
                                          <p:spTgt spid="33"/>
                                        </p:tgtEl>
                                      </p:cBhvr>
                                    </p:animEffect>
                                  </p:childTnLst>
                                </p:cTn>
                              </p:par>
                              <p:par>
                                <p:cTn id="97" presetID="10" presetClass="entr" presetSubtype="0" fill="hold" grpId="0" nodeType="withEffect">
                                  <p:stCondLst>
                                    <p:cond delay="132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grpId="0" nodeType="withEffect">
                                  <p:stCondLst>
                                    <p:cond delay="132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132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Estudo de comparação</a:t>
            </a:r>
            <a:endParaRPr lang="en-US" sz="3000" dirty="0"/>
          </a:p>
        </p:txBody>
      </p:sp>
      <p:graphicFrame>
        <p:nvGraphicFramePr>
          <p:cNvPr id="8" name="g0_tbl"/>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926080"/>
        </p:xfrm>
        <a:graphic>
          <a:graphicData uri="http://schemas.openxmlformats.org/drawingml/2006/table">
            <a:tbl>
              <a:tblPr/>
              <a:tblGrid>
                <a:gridCol w="1691640"/>
                <a:gridCol w="1325880"/>
                <a:gridCol w="1463040"/>
                <a:gridCol w="1508760"/>
                <a:gridCol w="2240280"/>
              </a:tblGrid>
              <a:tr h="365760">
                <a:tc>
                  <a:txBody>
                    <a:bodyPr/>
                    <a:lstStyle/>
                    <a:p>
                      <a:pPr algn="l" indent="0" marL="0">
                        <a:buNone/>
                      </a:pPr>
                      <a:r>
                        <a:rPr lang="en-US" sz="1100" b="1" dirty="0">
                          <a:solidFill>
                            <a:srgbClr val="FFFFFF"/>
                          </a:solidFill>
                        </a:rPr>
                        <a:t>Critério</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F2026"/>
                    </a:solidFill>
                  </a:tcPr>
                </a:tc>
                <a:tc>
                  <a:txBody>
                    <a:bodyPr/>
                    <a:lstStyle/>
                    <a:p>
                      <a:pPr algn="ctr" indent="0" marL="0">
                        <a:buNone/>
                      </a:pPr>
                      <a:r>
                        <a:rPr lang="en-US" sz="1100" b="1" dirty="0">
                          <a:solidFill>
                            <a:srgbClr val="FFFFFF"/>
                          </a:solidFill>
                        </a:rPr>
                        <a:t>Portais SME e DTSER</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F2026"/>
                    </a:solidFill>
                  </a:tcPr>
                </a:tc>
                <a:tc>
                  <a:txBody>
                    <a:bodyPr/>
                    <a:lstStyle/>
                    <a:p>
                      <a:pPr algn="ctr" indent="0" marL="0">
                        <a:buNone/>
                      </a:pPr>
                      <a:r>
                        <a:rPr lang="en-US" sz="1100" b="1" dirty="0">
                          <a:solidFill>
                            <a:srgbClr val="FFFFFF"/>
                          </a:solidFill>
                        </a:rPr>
                        <a:t>Qmatic</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F2026"/>
                    </a:solidFill>
                  </a:tcPr>
                </a:tc>
                <a:tc>
                  <a:txBody>
                    <a:bodyPr/>
                    <a:lstStyle/>
                    <a:p>
                      <a:pPr algn="ctr" indent="0" marL="0">
                        <a:buNone/>
                      </a:pPr>
                      <a:r>
                        <a:rPr lang="en-US" sz="1100" b="1" dirty="0">
                          <a:solidFill>
                            <a:srgbClr val="FFFFFF"/>
                          </a:solidFill>
                        </a:rPr>
                        <a:t>Waitwhile</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F2026"/>
                    </a:solidFill>
                  </a:tcPr>
                </a:tc>
                <a:tc>
                  <a:txBody>
                    <a:bodyPr/>
                    <a:lstStyle/>
                    <a:p>
                      <a:pPr algn="ctr" indent="0" marL="0">
                        <a:buNone/>
                      </a:pPr>
                      <a:r>
                        <a:rPr lang="en-US" sz="1100" b="1" dirty="0">
                          <a:solidFill>
                            <a:srgbClr val="FFFFFF"/>
                          </a:solidFill>
                        </a:rPr>
                        <a:t>Nossa proposta</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D7263D"/>
                    </a:solidFill>
                  </a:tcPr>
                </a:tc>
              </a:tr>
              <a:tr h="365760">
                <a:tc>
                  <a:txBody>
                    <a:bodyPr/>
                    <a:lstStyle/>
                    <a:p>
                      <a:pPr algn="l" indent="0" marL="0">
                        <a:buNone/>
                      </a:pPr>
                      <a:r>
                        <a:rPr lang="en-US" sz="1100" b="1" dirty="0">
                          <a:solidFill>
                            <a:srgbClr val="1F2026"/>
                          </a:solidFill>
                        </a:rPr>
                        <a:t>Marcação prévia online</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Sim</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Sim</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Sim</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2026"/>
                          </a:solidFill>
                        </a:rPr>
                        <a:t>Sim</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BE3E6"/>
                    </a:solidFill>
                  </a:tcPr>
                </a:tc>
              </a:tr>
              <a:tr h="365760">
                <a:tc>
                  <a:txBody>
                    <a:bodyPr/>
                    <a:lstStyle/>
                    <a:p>
                      <a:pPr algn="l" indent="0" marL="0">
                        <a:buNone/>
                      </a:pPr>
                      <a:r>
                        <a:rPr lang="en-US" sz="1100" b="1" dirty="0">
                          <a:solidFill>
                            <a:srgbClr val="1F2026"/>
                          </a:solidFill>
                        </a:rPr>
                        <a:t>Fila virtual (vez à distância)</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i="1" dirty="0">
                          <a:solidFill>
                            <a:srgbClr val="5B6472"/>
                          </a:solidFill>
                        </a:rPr>
                        <a:t>A confirmar</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F2026"/>
                          </a:solidFill>
                        </a:rPr>
                        <a:t>Sim</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F2026"/>
                          </a:solidFill>
                        </a:rPr>
                        <a:t>Sim</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b="1" dirty="0">
                          <a:solidFill>
                            <a:srgbClr val="1F2026"/>
                          </a:solidFill>
                        </a:rPr>
                        <a:t>Sim (vaga do dia)</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BE3E6"/>
                    </a:solidFill>
                  </a:tcPr>
                </a:tc>
              </a:tr>
              <a:tr h="365760">
                <a:tc>
                  <a:txBody>
                    <a:bodyPr/>
                    <a:lstStyle/>
                    <a:p>
                      <a:pPr algn="l" indent="0" marL="0">
                        <a:buNone/>
                      </a:pPr>
                      <a:r>
                        <a:rPr lang="en-US" sz="1100" b="1" dirty="0">
                          <a:solidFill>
                            <a:srgbClr val="1F2026"/>
                          </a:solidFill>
                        </a:rPr>
                        <a:t>Avisos ao utente</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i="1" dirty="0">
                          <a:solidFill>
                            <a:srgbClr val="5B6472"/>
                          </a:solidFill>
                        </a:rPr>
                        <a:t>A confirmar</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Sim</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Sim (SMS pagos)</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2026"/>
                          </a:solidFill>
                        </a:rPr>
                        <a:t>Sim (SMS e notificação)</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BE3E6"/>
                    </a:solidFill>
                  </a:tcPr>
                </a:tc>
              </a:tr>
              <a:tr h="365760">
                <a:tc>
                  <a:txBody>
                    <a:bodyPr/>
                    <a:lstStyle/>
                    <a:p>
                      <a:pPr algn="l" indent="0" marL="0">
                        <a:buNone/>
                      </a:pPr>
                      <a:r>
                        <a:rPr lang="en-US" sz="1100" b="1" dirty="0">
                          <a:solidFill>
                            <a:srgbClr val="1F2026"/>
                          </a:solidFill>
                        </a:rPr>
                        <a:t>Uso sem smartphone</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i="1" dirty="0">
                          <a:solidFill>
                            <a:srgbClr val="5B6472"/>
                          </a:solidFill>
                        </a:rPr>
                        <a:t>A confirmar</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F2026"/>
                          </a:solidFill>
                        </a:rPr>
                        <a:t>Sim (por SMS)</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F2026"/>
                          </a:solidFill>
                        </a:rPr>
                        <a:t>Parcial (SMS)</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b="1" dirty="0">
                          <a:solidFill>
                            <a:srgbClr val="1F2026"/>
                          </a:solidFill>
                        </a:rPr>
                        <a:t>Sim (SMS e balcão de apoio)</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BE3E6"/>
                    </a:solidFill>
                  </a:tcPr>
                </a:tc>
              </a:tr>
              <a:tr h="365760">
                <a:tc>
                  <a:txBody>
                    <a:bodyPr/>
                    <a:lstStyle/>
                    <a:p>
                      <a:pPr algn="l" indent="0" marL="0">
                        <a:buNone/>
                      </a:pPr>
                      <a:r>
                        <a:rPr lang="en-US" sz="1100" b="1" dirty="0">
                          <a:solidFill>
                            <a:srgbClr val="1F2026"/>
                          </a:solidFill>
                        </a:rPr>
                        <a:t>Lista de documentos</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Sim</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Configurável</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Não nativa</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2026"/>
                          </a:solidFill>
                        </a:rPr>
                        <a:t>Sim</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BE3E6"/>
                    </a:solidFill>
                  </a:tcPr>
                </a:tc>
              </a:tr>
              <a:tr h="365760">
                <a:tc>
                  <a:txBody>
                    <a:bodyPr/>
                    <a:lstStyle/>
                    <a:p>
                      <a:pPr algn="l" indent="0" marL="0">
                        <a:buNone/>
                      </a:pPr>
                      <a:r>
                        <a:rPr lang="en-US" sz="1100" b="1" dirty="0">
                          <a:solidFill>
                            <a:srgbClr val="1F2026"/>
                          </a:solidFill>
                        </a:rPr>
                        <a:t>Liga-se às senhas existentes</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i="1" dirty="0">
                          <a:solidFill>
                            <a:srgbClr val="5B6472"/>
                          </a:solidFill>
                        </a:rPr>
                        <a:t>Não se aplica</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F2026"/>
                          </a:solidFill>
                        </a:rPr>
                        <a:t>Só ao seu sistema</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i="1" dirty="0">
                          <a:solidFill>
                            <a:srgbClr val="5B6472"/>
                          </a:solidFill>
                        </a:rPr>
                        <a:t>A confirmar</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3F5F9"/>
                    </a:solidFill>
                  </a:tcPr>
                </a:tc>
                <a:tc>
                  <a:txBody>
                    <a:bodyPr/>
                    <a:lstStyle/>
                    <a:p>
                      <a:pPr algn="ctr" indent="0" marL="0">
                        <a:buNone/>
                      </a:pPr>
                      <a:r>
                        <a:rPr lang="en-US" sz="1100" b="1" dirty="0">
                          <a:solidFill>
                            <a:srgbClr val="1F2026"/>
                          </a:solidFill>
                        </a:rPr>
                        <a:t>Sim (modo A; B se autorizado)</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BE3E6"/>
                    </a:solidFill>
                  </a:tcPr>
                </a:tc>
              </a:tr>
              <a:tr h="365760">
                <a:tc>
                  <a:txBody>
                    <a:bodyPr/>
                    <a:lstStyle/>
                    <a:p>
                      <a:pPr algn="l" indent="0" marL="0">
                        <a:buNone/>
                      </a:pPr>
                      <a:r>
                        <a:rPr lang="en-US" sz="1100" b="1" dirty="0">
                          <a:solidFill>
                            <a:srgbClr val="1F2026"/>
                          </a:solidFill>
                        </a:rPr>
                        <a:t>Custo e dependência</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Estatal</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Licenças; preço sob consulta</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026"/>
                          </a:solidFill>
                        </a:rPr>
                        <a:t>Subscrição em dólares</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2026"/>
                          </a:solidFill>
                        </a:rPr>
                        <a:t>Sem licenças; código do SIAC</a:t>
                      </a:r>
                      <a:endParaRPr lang="en-US" sz="1200" dirty="0"/>
                    </a:p>
                  </a:txBody>
                  <a:tcPr marL="73152" marR="73152" marT="0" marB="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BE3E6"/>
                    </a:solidFill>
                  </a:tcPr>
                </a:tc>
              </a:tr>
            </a:tbl>
          </a:graphicData>
        </a:graphic>
      </p:graphicFrame>
      <p:sp>
        <p:nvSpPr>
          <p:cNvPr id="4" name="g1_leg"/>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100" i="1" dirty="0">
                <a:solidFill>
                  <a:schemeClr val="accent5"/>
                </a:solidFill>
              </a:rPr>
              <a:t>“A confirmar”: a informação pública não permite afirmar nem negar; será verificado com testes, entrevistas e a documentação dos fornecedores.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O que aprendemos e o que propomos</a:t>
            </a:r>
            <a:endParaRPr lang="en-US" sz="3000" dirty="0"/>
          </a:p>
        </p:txBody>
      </p:sp>
      <p:sp>
        <p:nvSpPr>
          <p:cNvPr id="3" name="g0_card"/>
          <p:cNvSpPr/>
          <p:nvPr/>
        </p:nvSpPr>
        <p:spPr>
          <a:xfrm>
            <a:off x="457200" y="1188720"/>
            <a:ext cx="4023360" cy="1097280"/>
          </a:xfrm>
          <a:prstGeom prst="roundRect">
            <a:avLst>
              <a:gd name="adj" fmla="val 10000"/>
            </a:avLst>
          </a:prstGeom>
          <a:solidFill>
            <a:schemeClr val="bg2"/>
          </a:solidFill>
          <a:ln/>
          <a:effectLst>
            <a:outerShdw sx="100000" sy="100000" kx="0" ky="0" algn="bl" rotWithShape="0" blurRad="101600" dist="25400" dir="5400000">
              <a:srgbClr val="000000">
                <a:alpha val="10000"/>
              </a:srgbClr>
            </a:outerShdw>
          </a:effectLst>
        </p:spPr>
      </p:sp>
      <p:sp>
        <p:nvSpPr>
          <p:cNvPr id="4" name="g0_num"/>
          <p:cNvSpPr txBox="1"/>
          <p:nvPr/>
        </p:nvSpPr>
        <p:spPr>
          <a:xfrm>
            <a:off x="640080" y="1531620"/>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g0_t"/>
          <p:cNvSpPr txBox="1"/>
          <p:nvPr/>
        </p:nvSpPr>
        <p:spPr>
          <a:xfrm>
            <a:off x="1234440" y="1298448"/>
            <a:ext cx="3108960" cy="896112"/>
          </a:xfrm>
          <a:prstGeom prst="rect">
            <a:avLst/>
          </a:prstGeom>
          <a:noFill/>
          <a:ln/>
        </p:spPr>
        <p:txBody>
          <a:bodyPr wrap="square" lIns="0" tIns="0" rIns="0" bIns="0" rtlCol="0" anchor="ctr"/>
          <a:lstStyle/>
          <a:p>
            <a:pPr indent="0" marL="0">
              <a:buNone/>
            </a:pPr>
            <a:r>
              <a:rPr lang="en-US" sz="1400" b="1" dirty="0">
                <a:solidFill>
                  <a:schemeClr val="tx1"/>
                </a:solidFill>
              </a:rPr>
              <a:t>Marcar online já existe em Angola</a:t>
            </a:r>
            <a:endParaRPr lang="en-US" sz="1400" dirty="0"/>
          </a:p>
          <a:p>
            <a:pPr indent="0" marL="0">
              <a:buNone/>
            </a:pPr>
            <a:r>
              <a:rPr lang="en-US" sz="1250" dirty="0">
                <a:solidFill>
                  <a:schemeClr val="accent5"/>
                </a:solidFill>
              </a:rPr>
              <a:t>Portais do SME e do DTSER e consulados provam que funciona; falta adaptá-lo a um posto cheio.</a:t>
            </a:r>
            <a:endParaRPr lang="en-US" sz="1400" dirty="0"/>
          </a:p>
        </p:txBody>
      </p:sp>
      <p:sp>
        <p:nvSpPr>
          <p:cNvPr id="6" name="g1_card"/>
          <p:cNvSpPr/>
          <p:nvPr/>
        </p:nvSpPr>
        <p:spPr>
          <a:xfrm>
            <a:off x="4663440" y="1188720"/>
            <a:ext cx="4023360" cy="1097280"/>
          </a:xfrm>
          <a:prstGeom prst="roundRect">
            <a:avLst>
              <a:gd name="adj" fmla="val 10000"/>
            </a:avLst>
          </a:prstGeom>
          <a:solidFill>
            <a:schemeClr val="bg2"/>
          </a:solidFill>
          <a:ln/>
          <a:effectLst>
            <a:outerShdw sx="100000" sy="100000" kx="0" ky="0" algn="bl" rotWithShape="0" blurRad="101600" dist="25400" dir="5400000">
              <a:srgbClr val="000000">
                <a:alpha val="10000"/>
              </a:srgbClr>
            </a:outerShdw>
          </a:effectLst>
        </p:spPr>
      </p:sp>
      <p:sp>
        <p:nvSpPr>
          <p:cNvPr id="7" name="g1_num"/>
          <p:cNvSpPr txBox="1"/>
          <p:nvPr/>
        </p:nvSpPr>
        <p:spPr>
          <a:xfrm>
            <a:off x="4846320" y="153162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g1_t"/>
          <p:cNvSpPr txBox="1"/>
          <p:nvPr/>
        </p:nvSpPr>
        <p:spPr>
          <a:xfrm>
            <a:off x="5440680" y="1298448"/>
            <a:ext cx="3108960" cy="896112"/>
          </a:xfrm>
          <a:prstGeom prst="rect">
            <a:avLst/>
          </a:prstGeom>
          <a:noFill/>
          <a:ln/>
        </p:spPr>
        <p:txBody>
          <a:bodyPr wrap="square" lIns="0" tIns="0" rIns="0" bIns="0" rtlCol="0" anchor="ctr"/>
          <a:lstStyle/>
          <a:p>
            <a:pPr indent="0" marL="0">
              <a:buNone/>
            </a:pPr>
            <a:r>
              <a:rPr lang="en-US" sz="1400" b="1" dirty="0">
                <a:solidFill>
                  <a:schemeClr val="tx1"/>
                </a:solidFill>
              </a:rPr>
              <a:t>Falta ligar à vez no posto</a:t>
            </a:r>
            <a:endParaRPr lang="en-US" sz="1400" dirty="0"/>
          </a:p>
          <a:p>
            <a:pPr indent="0" marL="0">
              <a:buNone/>
            </a:pPr>
            <a:r>
              <a:rPr lang="en-US" sz="1250" dirty="0">
                <a:solidFill>
                  <a:schemeClr val="accent5"/>
                </a:solidFill>
              </a:rPr>
              <a:t>Até onde vimos, há marcação mas não fila virtual, avisos de vez nem relatórios (a confirmar).</a:t>
            </a:r>
            <a:endParaRPr lang="en-US" sz="1400" dirty="0"/>
          </a:p>
        </p:txBody>
      </p:sp>
      <p:sp>
        <p:nvSpPr>
          <p:cNvPr id="9" name="g2_card"/>
          <p:cNvSpPr/>
          <p:nvPr/>
        </p:nvSpPr>
        <p:spPr>
          <a:xfrm>
            <a:off x="457200" y="2377440"/>
            <a:ext cx="4023360" cy="1097280"/>
          </a:xfrm>
          <a:prstGeom prst="roundRect">
            <a:avLst>
              <a:gd name="adj" fmla="val 10000"/>
            </a:avLst>
          </a:prstGeom>
          <a:solidFill>
            <a:schemeClr val="bg2"/>
          </a:solidFill>
          <a:ln/>
          <a:effectLst>
            <a:outerShdw sx="100000" sy="100000" kx="0" ky="0" algn="bl" rotWithShape="0" blurRad="101600" dist="25400" dir="5400000">
              <a:srgbClr val="000000">
                <a:alpha val="10000"/>
              </a:srgbClr>
            </a:outerShdw>
          </a:effectLst>
        </p:spPr>
      </p:sp>
      <p:sp>
        <p:nvSpPr>
          <p:cNvPr id="10" name="g2_num"/>
          <p:cNvSpPr txBox="1"/>
          <p:nvPr/>
        </p:nvSpPr>
        <p:spPr>
          <a:xfrm>
            <a:off x="640080" y="2720340"/>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1" name="g2_t"/>
          <p:cNvSpPr txBox="1"/>
          <p:nvPr/>
        </p:nvSpPr>
        <p:spPr>
          <a:xfrm>
            <a:off x="1234440" y="2487168"/>
            <a:ext cx="3108960" cy="896112"/>
          </a:xfrm>
          <a:prstGeom prst="rect">
            <a:avLst/>
          </a:prstGeom>
          <a:noFill/>
          <a:ln/>
        </p:spPr>
        <p:txBody>
          <a:bodyPr wrap="square" lIns="0" tIns="0" rIns="0" bIns="0" rtlCol="0" anchor="ctr"/>
          <a:lstStyle/>
          <a:p>
            <a:pPr indent="0" marL="0">
              <a:buNone/>
            </a:pPr>
            <a:r>
              <a:rPr lang="en-US" sz="1400" b="1" dirty="0">
                <a:solidFill>
                  <a:schemeClr val="tx1"/>
                </a:solidFill>
              </a:rPr>
              <a:t>Incluir quem não tem smartphone</a:t>
            </a:r>
            <a:endParaRPr lang="en-US" sz="1400" dirty="0"/>
          </a:p>
          <a:p>
            <a:pPr indent="0" marL="0">
              <a:buNone/>
            </a:pPr>
            <a:r>
              <a:rPr lang="en-US" sz="1250" dirty="0">
                <a:solidFill>
                  <a:schemeClr val="accent5"/>
                </a:solidFill>
              </a:rPr>
              <a:t>Só 44,8% usam internet (DataReportal, 2026): SMS, balcão de apoio e, mais tarde, USSD.</a:t>
            </a:r>
            <a:endParaRPr lang="en-US" sz="1400" dirty="0"/>
          </a:p>
        </p:txBody>
      </p:sp>
      <p:sp>
        <p:nvSpPr>
          <p:cNvPr id="12" name="g3_card"/>
          <p:cNvSpPr/>
          <p:nvPr/>
        </p:nvSpPr>
        <p:spPr>
          <a:xfrm>
            <a:off x="4663440" y="2377440"/>
            <a:ext cx="4023360" cy="1097280"/>
          </a:xfrm>
          <a:prstGeom prst="roundRect">
            <a:avLst>
              <a:gd name="adj" fmla="val 10000"/>
            </a:avLst>
          </a:prstGeom>
          <a:solidFill>
            <a:schemeClr val="bg2"/>
          </a:solidFill>
          <a:ln/>
          <a:effectLst>
            <a:outerShdw sx="100000" sy="100000" kx="0" ky="0" algn="bl" rotWithShape="0" blurRad="101600" dist="25400" dir="5400000">
              <a:srgbClr val="000000">
                <a:alpha val="10000"/>
              </a:srgbClr>
            </a:outerShdw>
          </a:effectLst>
        </p:spPr>
      </p:sp>
      <p:sp>
        <p:nvSpPr>
          <p:cNvPr id="13" name="g3_num"/>
          <p:cNvSpPr txBox="1"/>
          <p:nvPr/>
        </p:nvSpPr>
        <p:spPr>
          <a:xfrm>
            <a:off x="4846320" y="2720340"/>
            <a:ext cx="411480" cy="411480"/>
          </a:xfrm>
          <a:prstGeom prst="ellipse">
            <a:avLst/>
          </a:prstGeom>
          <a:solidFill>
            <a:schemeClr val="accent5"/>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4" name="g3_t"/>
          <p:cNvSpPr txBox="1"/>
          <p:nvPr/>
        </p:nvSpPr>
        <p:spPr>
          <a:xfrm>
            <a:off x="5440680" y="2487168"/>
            <a:ext cx="3108960" cy="896112"/>
          </a:xfrm>
          <a:prstGeom prst="rect">
            <a:avLst/>
          </a:prstGeom>
          <a:noFill/>
          <a:ln/>
        </p:spPr>
        <p:txBody>
          <a:bodyPr wrap="square" lIns="0" tIns="0" rIns="0" bIns="0" rtlCol="0" anchor="ctr"/>
          <a:lstStyle/>
          <a:p>
            <a:pPr indent="0" marL="0">
              <a:buNone/>
            </a:pPr>
            <a:r>
              <a:rPr lang="en-US" sz="1400" b="1" dirty="0">
                <a:solidFill>
                  <a:schemeClr val="tx1"/>
                </a:solidFill>
              </a:rPr>
              <a:t>Sistemas comerciais pouco práticos</a:t>
            </a:r>
            <a:endParaRPr lang="en-US" sz="1400" dirty="0"/>
          </a:p>
          <a:p>
            <a:pPr indent="0" marL="0">
              <a:buNone/>
            </a:pPr>
            <a:r>
              <a:rPr lang="en-US" sz="1250" dirty="0">
                <a:solidFill>
                  <a:schemeClr val="accent5"/>
                </a:solidFill>
              </a:rPr>
              <a:t>Licenças em moeda estrangeira e dependência externa; o apoio humano continua a ser preciso.</a:t>
            </a:r>
            <a:endParaRPr lang="en-US" sz="1400" dirty="0"/>
          </a:p>
        </p:txBody>
      </p:sp>
      <p:sp>
        <p:nvSpPr>
          <p:cNvPr id="15" name="g4_card"/>
          <p:cNvSpPr/>
          <p:nvPr/>
        </p:nvSpPr>
        <p:spPr>
          <a:xfrm>
            <a:off x="457200" y="3611880"/>
            <a:ext cx="8229600" cy="1005840"/>
          </a:xfrm>
          <a:prstGeom prst="roundRect">
            <a:avLst>
              <a:gd name="adj" fmla="val 10909"/>
            </a:avLst>
          </a:prstGeom>
          <a:solidFill>
            <a:schemeClr val="tx1"/>
          </a:solidFill>
          <a:ln/>
          <a:effectLst>
            <a:outerShdw sx="100000" sy="100000" kx="0" ky="0" algn="bl" rotWithShape="0" blurRad="101600" dist="25400" dir="5400000">
              <a:srgbClr val="000000">
                <a:alpha val="10000"/>
              </a:srgbClr>
            </a:outerShdw>
          </a:effectLst>
        </p:spPr>
      </p:sp>
      <p:sp>
        <p:nvSpPr>
          <p:cNvPr id="16" name="g4_l"/>
          <p:cNvSpPr txBox="1"/>
          <p:nvPr/>
        </p:nvSpPr>
        <p:spPr>
          <a:xfrm>
            <a:off x="777240" y="3721608"/>
            <a:ext cx="731520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O QUE A NOSSA PROPOSTA TRAZ DE NOVO</a:t>
            </a:r>
            <a:endParaRPr lang="en-US" sz="1100" dirty="0"/>
          </a:p>
        </p:txBody>
      </p:sp>
      <p:sp>
        <p:nvSpPr>
          <p:cNvPr id="17" name="g4_t"/>
          <p:cNvSpPr txBox="1"/>
          <p:nvPr/>
        </p:nvSpPr>
        <p:spPr>
          <a:xfrm>
            <a:off x="777240" y="3977640"/>
            <a:ext cx="7589520" cy="594360"/>
          </a:xfrm>
          <a:prstGeom prst="rect">
            <a:avLst/>
          </a:prstGeom>
          <a:noFill/>
          <a:ln/>
        </p:spPr>
        <p:txBody>
          <a:bodyPr wrap="square" lIns="0" tIns="0" rIns="0" bIns="0" rtlCol="0" anchor="t"/>
          <a:lstStyle/>
          <a:p>
            <a:pPr indent="0" marL="0">
              <a:buNone/>
            </a:pPr>
            <a:r>
              <a:rPr lang="en-US" sz="1300" dirty="0">
                <a:solidFill>
                  <a:schemeClr val="bg1"/>
                </a:solidFill>
              </a:rPr>
              <a:t>Juntar, numa só solução de baixo custo feita em Angola: marcação prévia, lista de documentos, vez à distância e relatórios, ligada às senhas do SIAC e inclusiva.</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9"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44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44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44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66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88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88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88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O que o sistema tem de fazer</a:t>
            </a:r>
            <a:endParaRPr lang="en-US" sz="3000" dirty="0"/>
          </a:p>
        </p:txBody>
      </p:sp>
      <p:sp>
        <p:nvSpPr>
          <p:cNvPr id="3" name="g0_card"/>
          <p:cNvSpPr/>
          <p:nvPr/>
        </p:nvSpPr>
        <p:spPr>
          <a:xfrm>
            <a:off x="457200" y="1188720"/>
            <a:ext cx="40233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4" name="g0_n"/>
          <p:cNvSpPr txBox="1"/>
          <p:nvPr/>
        </p:nvSpPr>
        <p:spPr>
          <a:xfrm>
            <a:off x="640080" y="1234440"/>
            <a:ext cx="1280160" cy="777240"/>
          </a:xfrm>
          <a:prstGeom prst="rect">
            <a:avLst/>
          </a:prstGeom>
          <a:noFill/>
          <a:ln/>
        </p:spPr>
        <p:txBody>
          <a:bodyPr wrap="square" lIns="0" tIns="0" rIns="0" bIns="0" rtlCol="0" anchor="ctr"/>
          <a:lstStyle/>
          <a:p>
            <a:pPr algn="ctr" indent="0" marL="0">
              <a:buNone/>
            </a:pPr>
            <a:r>
              <a:rPr lang="en-US" sz="4800" b="1" dirty="0">
                <a:solidFill>
                  <a:schemeClr val="accent1"/>
                </a:solidFill>
                <a:latin typeface="+mj-lt" pitchFamily="34" charset="0"/>
                <a:ea typeface="+mj-lt" pitchFamily="34" charset="-122"/>
                <a:cs typeface="+mj-lt" pitchFamily="34" charset="-120"/>
              </a:rPr>
              <a:t>15</a:t>
            </a:r>
            <a:endParaRPr lang="en-US" sz="4800" dirty="0"/>
          </a:p>
        </p:txBody>
      </p:sp>
      <p:sp>
        <p:nvSpPr>
          <p:cNvPr id="5" name="g0_l"/>
          <p:cNvSpPr txBox="1"/>
          <p:nvPr/>
        </p:nvSpPr>
        <p:spPr>
          <a:xfrm>
            <a:off x="640080" y="2011680"/>
            <a:ext cx="1280160" cy="457200"/>
          </a:xfrm>
          <a:prstGeom prst="rect">
            <a:avLst/>
          </a:prstGeom>
          <a:noFill/>
          <a:ln/>
        </p:spPr>
        <p:txBody>
          <a:bodyPr wrap="square" lIns="0" tIns="0" rIns="0" bIns="0" rtlCol="0" anchor="t"/>
          <a:lstStyle/>
          <a:p>
            <a:pPr algn="ctr" indent="0" marL="0">
              <a:buNone/>
            </a:pPr>
            <a:r>
              <a:rPr lang="en-US" sz="1200" b="1" dirty="0">
                <a:solidFill>
                  <a:schemeClr val="accent5"/>
                </a:solidFill>
              </a:rPr>
              <a:t>funcionais</a:t>
            </a:r>
            <a:endParaRPr lang="en-US" sz="1200" dirty="0"/>
          </a:p>
        </p:txBody>
      </p:sp>
      <p:sp>
        <p:nvSpPr>
          <p:cNvPr id="6" name="g0_b"/>
          <p:cNvSpPr txBox="1"/>
          <p:nvPr/>
        </p:nvSpPr>
        <p:spPr>
          <a:xfrm>
            <a:off x="2057400" y="1325880"/>
            <a:ext cx="2286000" cy="118872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chemeClr val="tx1"/>
                </a:solidFill>
              </a:rPr>
              <a:t>Marcar, cancelar e remarcar</a:t>
            </a:r>
            <a:endParaRPr lang="en-US" sz="1300" dirty="0"/>
          </a:p>
          <a:p>
            <a:pPr marL="342900" indent="-342900">
              <a:spcAft>
                <a:spcPts val="400"/>
              </a:spcAft>
              <a:buSzPct val="100000"/>
              <a:buChar char="•"/>
            </a:pPr>
            <a:r>
              <a:rPr lang="en-US" sz="1300" dirty="0">
                <a:solidFill>
                  <a:schemeClr val="tx1"/>
                </a:solidFill>
              </a:rPr>
              <a:t>Comprovativo, validação e registo</a:t>
            </a:r>
            <a:endParaRPr lang="en-US" sz="1300" dirty="0"/>
          </a:p>
          <a:p>
            <a:pPr marL="342900" indent="-342900">
              <a:spcAft>
                <a:spcPts val="400"/>
              </a:spcAft>
              <a:buSzPct val="100000"/>
              <a:buChar char="•"/>
            </a:pPr>
            <a:r>
              <a:rPr lang="en-US" sz="1300" dirty="0">
                <a:solidFill>
                  <a:schemeClr val="tx1"/>
                </a:solidFill>
              </a:rPr>
              <a:t>Lista de documentos e relatórios</a:t>
            </a:r>
            <a:endParaRPr lang="en-US" sz="1300" dirty="0"/>
          </a:p>
        </p:txBody>
      </p:sp>
      <p:sp>
        <p:nvSpPr>
          <p:cNvPr id="7" name="g1_card"/>
          <p:cNvSpPr/>
          <p:nvPr/>
        </p:nvSpPr>
        <p:spPr>
          <a:xfrm>
            <a:off x="4663440" y="1188720"/>
            <a:ext cx="40233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8" name="g1_n"/>
          <p:cNvSpPr txBox="1"/>
          <p:nvPr/>
        </p:nvSpPr>
        <p:spPr>
          <a:xfrm>
            <a:off x="4846320" y="1234440"/>
            <a:ext cx="1280160" cy="777240"/>
          </a:xfrm>
          <a:prstGeom prst="rect">
            <a:avLst/>
          </a:prstGeom>
          <a:noFill/>
          <a:ln/>
        </p:spPr>
        <p:txBody>
          <a:bodyPr wrap="square" lIns="0" tIns="0" rIns="0" bIns="0" rtlCol="0" anchor="ctr"/>
          <a:lstStyle/>
          <a:p>
            <a:pPr algn="ctr" indent="0" marL="0">
              <a:buNone/>
            </a:pPr>
            <a:r>
              <a:rPr lang="en-US" sz="4800" b="1" dirty="0">
                <a:solidFill>
                  <a:schemeClr val="accent2"/>
                </a:solidFill>
                <a:latin typeface="+mj-lt" pitchFamily="34" charset="0"/>
                <a:ea typeface="+mj-lt" pitchFamily="34" charset="-122"/>
                <a:cs typeface="+mj-lt" pitchFamily="34" charset="-120"/>
              </a:rPr>
              <a:t>9</a:t>
            </a:r>
            <a:endParaRPr lang="en-US" sz="4800" dirty="0"/>
          </a:p>
        </p:txBody>
      </p:sp>
      <p:sp>
        <p:nvSpPr>
          <p:cNvPr id="9" name="g1_l"/>
          <p:cNvSpPr txBox="1"/>
          <p:nvPr/>
        </p:nvSpPr>
        <p:spPr>
          <a:xfrm>
            <a:off x="4846320" y="2011680"/>
            <a:ext cx="1280160" cy="457200"/>
          </a:xfrm>
          <a:prstGeom prst="rect">
            <a:avLst/>
          </a:prstGeom>
          <a:noFill/>
          <a:ln/>
        </p:spPr>
        <p:txBody>
          <a:bodyPr wrap="square" lIns="0" tIns="0" rIns="0" bIns="0" rtlCol="0" anchor="t"/>
          <a:lstStyle/>
          <a:p>
            <a:pPr algn="ctr" indent="0" marL="0">
              <a:buNone/>
            </a:pPr>
            <a:r>
              <a:rPr lang="en-US" sz="1200" b="1" dirty="0">
                <a:solidFill>
                  <a:schemeClr val="accent5"/>
                </a:solidFill>
              </a:rPr>
              <a:t>não funcionais</a:t>
            </a:r>
            <a:endParaRPr lang="en-US" sz="1200" dirty="0"/>
          </a:p>
        </p:txBody>
      </p:sp>
      <p:sp>
        <p:nvSpPr>
          <p:cNvPr id="10" name="g1_b"/>
          <p:cNvSpPr txBox="1"/>
          <p:nvPr/>
        </p:nvSpPr>
        <p:spPr>
          <a:xfrm>
            <a:off x="6263640" y="1325880"/>
            <a:ext cx="2286000" cy="118872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chemeClr val="tx1"/>
                </a:solidFill>
              </a:rPr>
              <a:t>Telemóveis simples e rede lenta</a:t>
            </a:r>
            <a:endParaRPr lang="en-US" sz="1300" dirty="0"/>
          </a:p>
          <a:p>
            <a:pPr marL="342900" indent="-342900">
              <a:spcAft>
                <a:spcPts val="400"/>
              </a:spcAft>
              <a:buSzPct val="100000"/>
              <a:buChar char="•"/>
            </a:pPr>
            <a:r>
              <a:rPr lang="en-US" sz="1300" dirty="0">
                <a:solidFill>
                  <a:schemeClr val="tx1"/>
                </a:solidFill>
              </a:rPr>
              <a:t>Seguro (Lei 22/11)</a:t>
            </a:r>
            <a:endParaRPr lang="en-US" sz="1300" dirty="0"/>
          </a:p>
          <a:p>
            <a:pPr marL="342900" indent="-342900">
              <a:spcAft>
                <a:spcPts val="400"/>
              </a:spcAft>
              <a:buSzPct val="100000"/>
              <a:buChar char="•"/>
            </a:pPr>
            <a:r>
              <a:rPr lang="en-US" sz="1300" dirty="0">
                <a:solidFill>
                  <a:schemeClr val="tx1"/>
                </a:solidFill>
              </a:rPr>
              <a:t>Nunca impede o atendimento</a:t>
            </a:r>
            <a:endParaRPr lang="en-US" sz="1300" dirty="0"/>
          </a:p>
        </p:txBody>
      </p:sp>
      <p:sp>
        <p:nvSpPr>
          <p:cNvPr id="11" name="g2_h"/>
          <p:cNvSpPr txBox="1"/>
          <p:nvPr/>
        </p:nvSpPr>
        <p:spPr>
          <a:xfrm>
            <a:off x="457200" y="2788920"/>
            <a:ext cx="4572000" cy="274320"/>
          </a:xfrm>
          <a:prstGeom prst="rect">
            <a:avLst/>
          </a:prstGeom>
          <a:noFill/>
          <a:ln/>
        </p:spPr>
        <p:txBody>
          <a:bodyPr wrap="square" lIns="0" tIns="0" rIns="0" bIns="0" rtlCol="0" anchor="t"/>
          <a:lstStyle/>
          <a:p>
            <a:pPr indent="0" marL="0">
              <a:buNone/>
            </a:pPr>
            <a:r>
              <a:rPr lang="en-US" sz="1500" b="1" dirty="0">
                <a:solidFill>
                  <a:schemeClr val="tx1"/>
                </a:solidFill>
              </a:rPr>
              <a:t>O caminho principal (modo A)</a:t>
            </a:r>
            <a:endParaRPr lang="en-US" sz="1500" dirty="0"/>
          </a:p>
        </p:txBody>
      </p:sp>
      <p:sp>
        <p:nvSpPr>
          <p:cNvPr id="12" name="g3_card"/>
          <p:cNvSpPr/>
          <p:nvPr/>
        </p:nvSpPr>
        <p:spPr>
          <a:xfrm>
            <a:off x="457200" y="3154680"/>
            <a:ext cx="1463040" cy="1417320"/>
          </a:xfrm>
          <a:prstGeom prst="roundRect">
            <a:avLst>
              <a:gd name="adj" fmla="val 7742"/>
            </a:avLst>
          </a:prstGeom>
          <a:solidFill>
            <a:schemeClr val="bg2"/>
          </a:solidFill>
          <a:ln/>
          <a:effectLst>
            <a:outerShdw sx="100000" sy="100000" kx="0" ky="0" algn="bl" rotWithShape="0" blurRad="101600" dist="25400" dir="5400000">
              <a:srgbClr val="000000">
                <a:alpha val="10000"/>
              </a:srgbClr>
            </a:outerShdw>
          </a:effectLst>
        </p:spPr>
      </p:sp>
      <p:sp>
        <p:nvSpPr>
          <p:cNvPr id="13" name="g3_num"/>
          <p:cNvSpPr txBox="1"/>
          <p:nvPr/>
        </p:nvSpPr>
        <p:spPr>
          <a:xfrm>
            <a:off x="566928" y="326440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4" name="g3_t"/>
          <p:cNvSpPr txBox="1"/>
          <p:nvPr/>
        </p:nvSpPr>
        <p:spPr>
          <a:xfrm>
            <a:off x="566928" y="3703320"/>
            <a:ext cx="1261872" cy="822960"/>
          </a:xfrm>
          <a:prstGeom prst="rect">
            <a:avLst/>
          </a:prstGeom>
          <a:noFill/>
          <a:ln/>
        </p:spPr>
        <p:txBody>
          <a:bodyPr wrap="square" lIns="0" tIns="0" rIns="0" bIns="0" rtlCol="0" anchor="t"/>
          <a:lstStyle/>
          <a:p>
            <a:pPr indent="0" marL="0">
              <a:buNone/>
            </a:pPr>
            <a:r>
              <a:rPr lang="en-US" sz="1200" dirty="0">
                <a:solidFill>
                  <a:schemeClr val="tx1"/>
                </a:solidFill>
              </a:rPr>
              <a:t>O utente marca e recebe o comprovativo</a:t>
            </a:r>
            <a:endParaRPr lang="en-US" sz="1200" dirty="0"/>
          </a:p>
        </p:txBody>
      </p:sp>
      <p:sp>
        <p:nvSpPr>
          <p:cNvPr id="15" name="g3_ar"/>
          <p:cNvSpPr/>
          <p:nvPr/>
        </p:nvSpPr>
        <p:spPr>
          <a:xfrm>
            <a:off x="1956816" y="3767328"/>
            <a:ext cx="182880" cy="201168"/>
          </a:xfrm>
          <a:prstGeom prst="rightArrow">
            <a:avLst/>
          </a:prstGeom>
          <a:solidFill>
            <a:schemeClr val="accent6"/>
          </a:solidFill>
          <a:ln/>
        </p:spPr>
      </p:sp>
      <p:sp>
        <p:nvSpPr>
          <p:cNvPr id="16" name="g4_card"/>
          <p:cNvSpPr/>
          <p:nvPr/>
        </p:nvSpPr>
        <p:spPr>
          <a:xfrm>
            <a:off x="2148840" y="3154680"/>
            <a:ext cx="1463040" cy="1417320"/>
          </a:xfrm>
          <a:prstGeom prst="roundRect">
            <a:avLst>
              <a:gd name="adj" fmla="val 7742"/>
            </a:avLst>
          </a:prstGeom>
          <a:solidFill>
            <a:schemeClr val="bg2"/>
          </a:solidFill>
          <a:ln/>
          <a:effectLst>
            <a:outerShdw sx="100000" sy="100000" kx="0" ky="0" algn="bl" rotWithShape="0" blurRad="101600" dist="25400" dir="5400000">
              <a:srgbClr val="000000">
                <a:alpha val="10000"/>
              </a:srgbClr>
            </a:outerShdw>
          </a:effectLst>
        </p:spPr>
      </p:sp>
      <p:sp>
        <p:nvSpPr>
          <p:cNvPr id="17" name="g4_num"/>
          <p:cNvSpPr txBox="1"/>
          <p:nvPr/>
        </p:nvSpPr>
        <p:spPr>
          <a:xfrm>
            <a:off x="2258568" y="326440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8" name="g4_t"/>
          <p:cNvSpPr txBox="1"/>
          <p:nvPr/>
        </p:nvSpPr>
        <p:spPr>
          <a:xfrm>
            <a:off x="2258568" y="3703320"/>
            <a:ext cx="1261872" cy="822960"/>
          </a:xfrm>
          <a:prstGeom prst="rect">
            <a:avLst/>
          </a:prstGeom>
          <a:noFill/>
          <a:ln/>
        </p:spPr>
        <p:txBody>
          <a:bodyPr wrap="square" lIns="0" tIns="0" rIns="0" bIns="0" rtlCol="0" anchor="t"/>
          <a:lstStyle/>
          <a:p>
            <a:pPr indent="0" marL="0">
              <a:buNone/>
            </a:pPr>
            <a:r>
              <a:rPr lang="en-US" sz="1200" dirty="0">
                <a:solidFill>
                  <a:schemeClr val="tx1"/>
                </a:solidFill>
              </a:rPr>
              <a:t>O sistema guarda a marcação e envia lembretes</a:t>
            </a:r>
            <a:endParaRPr lang="en-US" sz="1200" dirty="0"/>
          </a:p>
        </p:txBody>
      </p:sp>
      <p:sp>
        <p:nvSpPr>
          <p:cNvPr id="19" name="g4_ar"/>
          <p:cNvSpPr/>
          <p:nvPr/>
        </p:nvSpPr>
        <p:spPr>
          <a:xfrm>
            <a:off x="3648456" y="3767328"/>
            <a:ext cx="182880" cy="201168"/>
          </a:xfrm>
          <a:prstGeom prst="rightArrow">
            <a:avLst/>
          </a:prstGeom>
          <a:solidFill>
            <a:schemeClr val="accent6"/>
          </a:solidFill>
          <a:ln/>
        </p:spPr>
      </p:sp>
      <p:sp>
        <p:nvSpPr>
          <p:cNvPr id="20" name="g5_card"/>
          <p:cNvSpPr/>
          <p:nvPr/>
        </p:nvSpPr>
        <p:spPr>
          <a:xfrm>
            <a:off x="3840480" y="3154680"/>
            <a:ext cx="1463040" cy="1417320"/>
          </a:xfrm>
          <a:prstGeom prst="roundRect">
            <a:avLst>
              <a:gd name="adj" fmla="val 7742"/>
            </a:avLst>
          </a:prstGeom>
          <a:solidFill>
            <a:schemeClr val="bg2"/>
          </a:solidFill>
          <a:ln/>
          <a:effectLst>
            <a:outerShdw sx="100000" sy="100000" kx="0" ky="0" algn="bl" rotWithShape="0" blurRad="101600" dist="25400" dir="5400000">
              <a:srgbClr val="000000">
                <a:alpha val="10000"/>
              </a:srgbClr>
            </a:outerShdw>
          </a:effectLst>
        </p:spPr>
      </p:sp>
      <p:sp>
        <p:nvSpPr>
          <p:cNvPr id="21" name="g5_num"/>
          <p:cNvSpPr txBox="1"/>
          <p:nvPr/>
        </p:nvSpPr>
        <p:spPr>
          <a:xfrm>
            <a:off x="3950208" y="326440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g5_t"/>
          <p:cNvSpPr txBox="1"/>
          <p:nvPr/>
        </p:nvSpPr>
        <p:spPr>
          <a:xfrm>
            <a:off x="3950208" y="3703320"/>
            <a:ext cx="1261872" cy="822960"/>
          </a:xfrm>
          <a:prstGeom prst="rect">
            <a:avLst/>
          </a:prstGeom>
          <a:noFill/>
          <a:ln/>
        </p:spPr>
        <p:txBody>
          <a:bodyPr wrap="square" lIns="0" tIns="0" rIns="0" bIns="0" rtlCol="0" anchor="t"/>
          <a:lstStyle/>
          <a:p>
            <a:pPr indent="0" marL="0">
              <a:buNone/>
            </a:pPr>
            <a:r>
              <a:rPr lang="en-US" sz="1200" dirty="0">
                <a:solidFill>
                  <a:schemeClr val="tx1"/>
                </a:solidFill>
              </a:rPr>
              <a:t>O funcionário valida e pede a senha no sistema existente</a:t>
            </a:r>
            <a:endParaRPr lang="en-US" sz="1200" dirty="0"/>
          </a:p>
        </p:txBody>
      </p:sp>
      <p:sp>
        <p:nvSpPr>
          <p:cNvPr id="23" name="g5_ar"/>
          <p:cNvSpPr/>
          <p:nvPr/>
        </p:nvSpPr>
        <p:spPr>
          <a:xfrm>
            <a:off x="5340096" y="3767328"/>
            <a:ext cx="182880" cy="201168"/>
          </a:xfrm>
          <a:prstGeom prst="rightArrow">
            <a:avLst/>
          </a:prstGeom>
          <a:solidFill>
            <a:schemeClr val="accent6"/>
          </a:solidFill>
          <a:ln/>
        </p:spPr>
      </p:sp>
      <p:sp>
        <p:nvSpPr>
          <p:cNvPr id="24" name="g6_card"/>
          <p:cNvSpPr/>
          <p:nvPr/>
        </p:nvSpPr>
        <p:spPr>
          <a:xfrm>
            <a:off x="5532120" y="3154680"/>
            <a:ext cx="1463040" cy="1417320"/>
          </a:xfrm>
          <a:prstGeom prst="roundRect">
            <a:avLst>
              <a:gd name="adj" fmla="val 7742"/>
            </a:avLst>
          </a:prstGeom>
          <a:solidFill>
            <a:schemeClr val="bg2"/>
          </a:solidFill>
          <a:ln/>
          <a:effectLst>
            <a:outerShdw sx="100000" sy="100000" kx="0" ky="0" algn="bl" rotWithShape="0" blurRad="101600" dist="25400" dir="5400000">
              <a:srgbClr val="000000">
                <a:alpha val="10000"/>
              </a:srgbClr>
            </a:outerShdw>
          </a:effectLst>
        </p:spPr>
      </p:sp>
      <p:sp>
        <p:nvSpPr>
          <p:cNvPr id="25" name="g6_num"/>
          <p:cNvSpPr txBox="1"/>
          <p:nvPr/>
        </p:nvSpPr>
        <p:spPr>
          <a:xfrm>
            <a:off x="5641848" y="326440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g6_t"/>
          <p:cNvSpPr txBox="1"/>
          <p:nvPr/>
        </p:nvSpPr>
        <p:spPr>
          <a:xfrm>
            <a:off x="5641848" y="3703320"/>
            <a:ext cx="1261872" cy="822960"/>
          </a:xfrm>
          <a:prstGeom prst="rect">
            <a:avLst/>
          </a:prstGeom>
          <a:noFill/>
          <a:ln/>
        </p:spPr>
        <p:txBody>
          <a:bodyPr wrap="square" lIns="0" tIns="0" rIns="0" bIns="0" rtlCol="0" anchor="t"/>
          <a:lstStyle/>
          <a:p>
            <a:pPr indent="0" marL="0">
              <a:buNone/>
            </a:pPr>
            <a:r>
              <a:rPr lang="en-US" sz="1200" dirty="0">
                <a:solidFill>
                  <a:schemeClr val="tx1"/>
                </a:solidFill>
              </a:rPr>
              <a:t>O utente segue o circuito normal de senhas e ecrãs</a:t>
            </a:r>
            <a:endParaRPr lang="en-US" sz="1200" dirty="0"/>
          </a:p>
        </p:txBody>
      </p:sp>
      <p:sp>
        <p:nvSpPr>
          <p:cNvPr id="27" name="g6_ar"/>
          <p:cNvSpPr/>
          <p:nvPr/>
        </p:nvSpPr>
        <p:spPr>
          <a:xfrm>
            <a:off x="7031736" y="3767328"/>
            <a:ext cx="182880" cy="201168"/>
          </a:xfrm>
          <a:prstGeom prst="rightArrow">
            <a:avLst/>
          </a:prstGeom>
          <a:solidFill>
            <a:schemeClr val="accent6"/>
          </a:solidFill>
          <a:ln/>
        </p:spPr>
      </p:sp>
      <p:sp>
        <p:nvSpPr>
          <p:cNvPr id="28" name="g7_card"/>
          <p:cNvSpPr/>
          <p:nvPr/>
        </p:nvSpPr>
        <p:spPr>
          <a:xfrm>
            <a:off x="7223760" y="3154680"/>
            <a:ext cx="1463040" cy="1417320"/>
          </a:xfrm>
          <a:prstGeom prst="roundRect">
            <a:avLst>
              <a:gd name="adj" fmla="val 7742"/>
            </a:avLst>
          </a:prstGeom>
          <a:solidFill>
            <a:schemeClr val="bg2"/>
          </a:solidFill>
          <a:ln/>
          <a:effectLst>
            <a:outerShdw sx="100000" sy="100000" kx="0" ky="0" algn="bl" rotWithShape="0" blurRad="101600" dist="25400" dir="5400000">
              <a:srgbClr val="000000">
                <a:alpha val="10000"/>
              </a:srgbClr>
            </a:outerShdw>
          </a:effectLst>
        </p:spPr>
      </p:sp>
      <p:sp>
        <p:nvSpPr>
          <p:cNvPr id="29" name="g7_num"/>
          <p:cNvSpPr txBox="1"/>
          <p:nvPr/>
        </p:nvSpPr>
        <p:spPr>
          <a:xfrm>
            <a:off x="7333488" y="326440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g7_t"/>
          <p:cNvSpPr txBox="1"/>
          <p:nvPr/>
        </p:nvSpPr>
        <p:spPr>
          <a:xfrm>
            <a:off x="7333488" y="3703320"/>
            <a:ext cx="1261872" cy="822960"/>
          </a:xfrm>
          <a:prstGeom prst="rect">
            <a:avLst/>
          </a:prstGeom>
          <a:noFill/>
          <a:ln/>
        </p:spPr>
        <p:txBody>
          <a:bodyPr wrap="square" lIns="0" tIns="0" rIns="0" bIns="0" rtlCol="0" anchor="t"/>
          <a:lstStyle/>
          <a:p>
            <a:pPr indent="0" marL="0">
              <a:buNone/>
            </a:pPr>
            <a:r>
              <a:rPr lang="en-US" sz="1200" dirty="0">
                <a:solidFill>
                  <a:schemeClr val="tx1"/>
                </a:solidFill>
              </a:rPr>
              <a:t>O funcionário regista início e fim; entra nos relatórios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88"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44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66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66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88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88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88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88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110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110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110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110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132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132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grpId="0" nodeType="withEffect">
                                  <p:stCondLst>
                                    <p:cond delay="132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grpId="0" nodeType="withEffect">
                                  <p:stCondLst>
                                    <p:cond delay="132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154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grpId="0" nodeType="withEffect">
                                  <p:stCondLst>
                                    <p:cond delay="154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grpId="0" nodeType="withEffect">
                                  <p:stCondLst>
                                    <p:cond delay="154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Ligação ao sistema de senhas do SIAC</a:t>
            </a:r>
            <a:endParaRPr lang="en-US" sz="3000" dirty="0"/>
          </a:p>
        </p:txBody>
      </p:sp>
      <p:sp>
        <p:nvSpPr>
          <p:cNvPr id="3" name="g0_card"/>
          <p:cNvSpPr/>
          <p:nvPr/>
        </p:nvSpPr>
        <p:spPr>
          <a:xfrm>
            <a:off x="457200" y="1188720"/>
            <a:ext cx="4023360" cy="1097280"/>
          </a:xfrm>
          <a:prstGeom prst="roundRect">
            <a:avLst>
              <a:gd name="adj" fmla="val 10000"/>
            </a:avLst>
          </a:prstGeom>
          <a:solidFill>
            <a:schemeClr val="bg2"/>
          </a:solidFill>
          <a:ln/>
          <a:effectLst>
            <a:outerShdw sx="100000" sy="100000" kx="0" ky="0" algn="bl" rotWithShape="0" blurRad="101600" dist="25400" dir="5400000">
              <a:srgbClr val="000000">
                <a:alpha val="10000"/>
              </a:srgbClr>
            </a:outerShdw>
          </a:effectLst>
        </p:spPr>
      </p:sp>
      <p:sp>
        <p:nvSpPr>
          <p:cNvPr id="4" name="g0_num"/>
          <p:cNvSpPr txBox="1"/>
          <p:nvPr/>
        </p:nvSpPr>
        <p:spPr>
          <a:xfrm>
            <a:off x="640080" y="1531620"/>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g0_t"/>
          <p:cNvSpPr txBox="1"/>
          <p:nvPr/>
        </p:nvSpPr>
        <p:spPr>
          <a:xfrm>
            <a:off x="1234440" y="1298448"/>
            <a:ext cx="3108960" cy="896112"/>
          </a:xfrm>
          <a:prstGeom prst="rect">
            <a:avLst/>
          </a:prstGeom>
          <a:noFill/>
          <a:ln/>
        </p:spPr>
        <p:txBody>
          <a:bodyPr wrap="square" lIns="0" tIns="0" rIns="0" bIns="0" rtlCol="0" anchor="ctr"/>
          <a:lstStyle/>
          <a:p>
            <a:pPr indent="0" marL="0">
              <a:buNone/>
            </a:pPr>
            <a:r>
              <a:rPr lang="en-US" sz="1400" b="1" dirty="0">
                <a:solidFill>
                  <a:schemeClr val="tx1"/>
                </a:solidFill>
              </a:rPr>
              <a:t>Modo A: sem integração técnica</a:t>
            </a:r>
            <a:endParaRPr lang="en-US" sz="1400" dirty="0"/>
          </a:p>
          <a:p>
            <a:pPr indent="0" marL="0">
              <a:buNone/>
            </a:pPr>
            <a:r>
              <a:rPr lang="en-US" sz="1250" dirty="0">
                <a:solidFill>
                  <a:schemeClr val="accent5"/>
                </a:solidFill>
              </a:rPr>
              <a:t>Ponto de partida do piloto: o funcionário valida o comprovativo e pede a senha no sistema existente.</a:t>
            </a:r>
            <a:endParaRPr lang="en-US" sz="1400" dirty="0"/>
          </a:p>
        </p:txBody>
      </p:sp>
      <p:sp>
        <p:nvSpPr>
          <p:cNvPr id="6" name="g1_card"/>
          <p:cNvSpPr/>
          <p:nvPr/>
        </p:nvSpPr>
        <p:spPr>
          <a:xfrm>
            <a:off x="4663440" y="1188720"/>
            <a:ext cx="4023360" cy="1097280"/>
          </a:xfrm>
          <a:prstGeom prst="roundRect">
            <a:avLst>
              <a:gd name="adj" fmla="val 10000"/>
            </a:avLst>
          </a:prstGeom>
          <a:solidFill>
            <a:schemeClr val="bg2"/>
          </a:solidFill>
          <a:ln/>
          <a:effectLst>
            <a:outerShdw sx="100000" sy="100000" kx="0" ky="0" algn="bl" rotWithShape="0" blurRad="101600" dist="25400" dir="5400000">
              <a:srgbClr val="000000">
                <a:alpha val="10000"/>
              </a:srgbClr>
            </a:outerShdw>
          </a:effectLst>
        </p:spPr>
      </p:sp>
      <p:sp>
        <p:nvSpPr>
          <p:cNvPr id="7" name="g1_num"/>
          <p:cNvSpPr txBox="1"/>
          <p:nvPr/>
        </p:nvSpPr>
        <p:spPr>
          <a:xfrm>
            <a:off x="4846320" y="153162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g1_t"/>
          <p:cNvSpPr txBox="1"/>
          <p:nvPr/>
        </p:nvSpPr>
        <p:spPr>
          <a:xfrm>
            <a:off x="5440680" y="1298448"/>
            <a:ext cx="3108960" cy="896112"/>
          </a:xfrm>
          <a:prstGeom prst="rect">
            <a:avLst/>
          </a:prstGeom>
          <a:noFill/>
          <a:ln/>
        </p:spPr>
        <p:txBody>
          <a:bodyPr wrap="square" lIns="0" tIns="0" rIns="0" bIns="0" rtlCol="0" anchor="ctr"/>
          <a:lstStyle/>
          <a:p>
            <a:pPr indent="0" marL="0">
              <a:buNone/>
            </a:pPr>
            <a:r>
              <a:rPr lang="en-US" sz="1400" b="1" dirty="0">
                <a:solidFill>
                  <a:schemeClr val="tx1"/>
                </a:solidFill>
              </a:rPr>
              <a:t>Modo B: com API, se o SIAC autorizar</a:t>
            </a:r>
            <a:endParaRPr lang="en-US" sz="1400" dirty="0"/>
          </a:p>
          <a:p>
            <a:pPr indent="0" marL="0">
              <a:buNone/>
            </a:pPr>
            <a:r>
              <a:rPr lang="en-US" sz="1250" dirty="0">
                <a:solidFill>
                  <a:schemeClr val="accent5"/>
                </a:solidFill>
              </a:rPr>
              <a:t>O servidor lê a fila das senhas: estimativas mais exactas e avisos automáticos.</a:t>
            </a:r>
            <a:endParaRPr lang="en-US" sz="1400" dirty="0"/>
          </a:p>
        </p:txBody>
      </p:sp>
      <p:sp>
        <p:nvSpPr>
          <p:cNvPr id="9" name="g2_card"/>
          <p:cNvSpPr/>
          <p:nvPr/>
        </p:nvSpPr>
        <p:spPr>
          <a:xfrm>
            <a:off x="457200" y="2377440"/>
            <a:ext cx="4023360" cy="1097280"/>
          </a:xfrm>
          <a:prstGeom prst="roundRect">
            <a:avLst>
              <a:gd name="adj" fmla="val 10000"/>
            </a:avLst>
          </a:prstGeom>
          <a:solidFill>
            <a:schemeClr val="bg2"/>
          </a:solidFill>
          <a:ln/>
          <a:effectLst>
            <a:outerShdw sx="100000" sy="100000" kx="0" ky="0" algn="bl" rotWithShape="0" blurRad="101600" dist="25400" dir="5400000">
              <a:srgbClr val="000000">
                <a:alpha val="10000"/>
              </a:srgbClr>
            </a:outerShdw>
          </a:effectLst>
        </p:spPr>
      </p:sp>
      <p:sp>
        <p:nvSpPr>
          <p:cNvPr id="10" name="g2_num"/>
          <p:cNvSpPr txBox="1"/>
          <p:nvPr/>
        </p:nvSpPr>
        <p:spPr>
          <a:xfrm>
            <a:off x="640080" y="2720340"/>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1" name="g2_t"/>
          <p:cNvSpPr txBox="1"/>
          <p:nvPr/>
        </p:nvSpPr>
        <p:spPr>
          <a:xfrm>
            <a:off x="1234440" y="2487168"/>
            <a:ext cx="3108960" cy="896112"/>
          </a:xfrm>
          <a:prstGeom prst="rect">
            <a:avLst/>
          </a:prstGeom>
          <a:noFill/>
          <a:ln/>
        </p:spPr>
        <p:txBody>
          <a:bodyPr wrap="square" lIns="0" tIns="0" rIns="0" bIns="0" rtlCol="0" anchor="ctr"/>
          <a:lstStyle/>
          <a:p>
            <a:pPr indent="0" marL="0">
              <a:buNone/>
            </a:pPr>
            <a:r>
              <a:rPr lang="en-US" sz="1400" b="1" dirty="0">
                <a:solidFill>
                  <a:schemeClr val="tx1"/>
                </a:solidFill>
              </a:rPr>
              <a:t>Uma só fila de atendimento</a:t>
            </a:r>
            <a:endParaRPr lang="en-US" sz="1400" dirty="0"/>
          </a:p>
          <a:p>
            <a:pPr indent="0" marL="0">
              <a:buNone/>
            </a:pPr>
            <a:r>
              <a:rPr lang="en-US" sz="1250" dirty="0">
                <a:solidFill>
                  <a:schemeClr val="accent5"/>
                </a:solidFill>
              </a:rPr>
              <a:t>A marcação decide quando o utente entra na fila de senhas; não cria uma fila nova.</a:t>
            </a:r>
            <a:endParaRPr lang="en-US" sz="1400" dirty="0"/>
          </a:p>
        </p:txBody>
      </p:sp>
      <p:sp>
        <p:nvSpPr>
          <p:cNvPr id="12" name="g3_card"/>
          <p:cNvSpPr/>
          <p:nvPr/>
        </p:nvSpPr>
        <p:spPr>
          <a:xfrm>
            <a:off x="4663440" y="2377440"/>
            <a:ext cx="4023360" cy="1097280"/>
          </a:xfrm>
          <a:prstGeom prst="roundRect">
            <a:avLst>
              <a:gd name="adj" fmla="val 10000"/>
            </a:avLst>
          </a:prstGeom>
          <a:solidFill>
            <a:schemeClr val="bg2"/>
          </a:solidFill>
          <a:ln/>
          <a:effectLst>
            <a:outerShdw sx="100000" sy="100000" kx="0" ky="0" algn="bl" rotWithShape="0" blurRad="101600" dist="25400" dir="5400000">
              <a:srgbClr val="000000">
                <a:alpha val="10000"/>
              </a:srgbClr>
            </a:outerShdw>
          </a:effectLst>
        </p:spPr>
      </p:sp>
      <p:sp>
        <p:nvSpPr>
          <p:cNvPr id="13" name="g3_num"/>
          <p:cNvSpPr txBox="1"/>
          <p:nvPr/>
        </p:nvSpPr>
        <p:spPr>
          <a:xfrm>
            <a:off x="4846320" y="2720340"/>
            <a:ext cx="411480" cy="411480"/>
          </a:xfrm>
          <a:prstGeom prst="ellipse">
            <a:avLst/>
          </a:prstGeom>
          <a:solidFill>
            <a:schemeClr val="accent5"/>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4" name="g3_t"/>
          <p:cNvSpPr txBox="1"/>
          <p:nvPr/>
        </p:nvSpPr>
        <p:spPr>
          <a:xfrm>
            <a:off x="5440680" y="2487168"/>
            <a:ext cx="3108960" cy="896112"/>
          </a:xfrm>
          <a:prstGeom prst="rect">
            <a:avLst/>
          </a:prstGeom>
          <a:noFill/>
          <a:ln/>
        </p:spPr>
        <p:txBody>
          <a:bodyPr wrap="square" lIns="0" tIns="0" rIns="0" bIns="0" rtlCol="0" anchor="ctr"/>
          <a:lstStyle/>
          <a:p>
            <a:pPr indent="0" marL="0">
              <a:buNone/>
            </a:pPr>
            <a:r>
              <a:rPr lang="en-US" sz="1400" b="1" dirty="0">
                <a:solidFill>
                  <a:schemeClr val="tx1"/>
                </a:solidFill>
              </a:rPr>
              <a:t>Regras decididas pelo SIAC</a:t>
            </a:r>
            <a:endParaRPr lang="en-US" sz="1400" dirty="0"/>
          </a:p>
          <a:p>
            <a:pPr indent="0" marL="0">
              <a:buNone/>
            </a:pPr>
            <a:r>
              <a:rPr lang="en-US" sz="1250" dirty="0">
                <a:solidFill>
                  <a:schemeClr val="accent5"/>
                </a:solidFill>
              </a:rPr>
              <a:t>Ordem entre quem marcou e quem não marcou, tolerância de atraso e quota sem marcação.</a:t>
            </a:r>
            <a:endParaRPr lang="en-US" sz="1400" dirty="0"/>
          </a:p>
        </p:txBody>
      </p:sp>
      <p:sp>
        <p:nvSpPr>
          <p:cNvPr id="15" name="g4_card"/>
          <p:cNvSpPr/>
          <p:nvPr/>
        </p:nvSpPr>
        <p:spPr>
          <a:xfrm>
            <a:off x="457200" y="3611880"/>
            <a:ext cx="8229600" cy="1005840"/>
          </a:xfrm>
          <a:prstGeom prst="roundRect">
            <a:avLst>
              <a:gd name="adj" fmla="val 10909"/>
            </a:avLst>
          </a:prstGeom>
          <a:solidFill>
            <a:schemeClr val="tx1"/>
          </a:solidFill>
          <a:ln/>
          <a:effectLst>
            <a:outerShdw sx="100000" sy="100000" kx="0" ky="0" algn="bl" rotWithShape="0" blurRad="101600" dist="25400" dir="5400000">
              <a:srgbClr val="000000">
                <a:alpha val="10000"/>
              </a:srgbClr>
            </a:outerShdw>
          </a:effectLst>
        </p:spPr>
      </p:sp>
      <p:sp>
        <p:nvSpPr>
          <p:cNvPr id="16" name="g4_l"/>
          <p:cNvSpPr txBox="1"/>
          <p:nvPr/>
        </p:nvSpPr>
        <p:spPr>
          <a:xfrm>
            <a:off x="777240" y="3721608"/>
            <a:ext cx="731520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O QUE AINDA FALTA CONFIRMAR</a:t>
            </a:r>
            <a:endParaRPr lang="en-US" sz="1100" dirty="0"/>
          </a:p>
        </p:txBody>
      </p:sp>
      <p:sp>
        <p:nvSpPr>
          <p:cNvPr id="17" name="g4_t"/>
          <p:cNvSpPr txBox="1"/>
          <p:nvPr/>
        </p:nvSpPr>
        <p:spPr>
          <a:xfrm>
            <a:off x="777240" y="3977640"/>
            <a:ext cx="7589520" cy="594360"/>
          </a:xfrm>
          <a:prstGeom prst="rect">
            <a:avLst/>
          </a:prstGeom>
          <a:noFill/>
          <a:ln/>
        </p:spPr>
        <p:txBody>
          <a:bodyPr wrap="square" lIns="0" tIns="0" rIns="0" bIns="0" rtlCol="0" anchor="t"/>
          <a:lstStyle/>
          <a:p>
            <a:pPr indent="0" marL="0">
              <a:buNone/>
            </a:pPr>
            <a:r>
              <a:rPr lang="en-US" sz="1300" dirty="0">
                <a:solidFill>
                  <a:schemeClr val="bg1"/>
                </a:solidFill>
              </a:rPr>
              <a:t>Qual é o sistema de senhas usado, quem o gere e se permite leitura (API, base de dados ou exportação): isso decide entre o modo A e o modo B.</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9"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44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44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44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66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88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88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88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Arquitectura em cinco camadas</a:t>
            </a:r>
            <a:endParaRPr lang="en-US" sz="3000" dirty="0"/>
          </a:p>
        </p:txBody>
      </p:sp>
      <p:sp>
        <p:nvSpPr>
          <p:cNvPr id="3" name="g0_chip"/>
          <p:cNvSpPr/>
          <p:nvPr/>
        </p:nvSpPr>
        <p:spPr>
          <a:xfrm>
            <a:off x="457200" y="1188720"/>
            <a:ext cx="2743200" cy="594360"/>
          </a:xfrm>
          <a:prstGeom prst="roundRect">
            <a:avLst>
              <a:gd name="adj" fmla="val 15385"/>
            </a:avLst>
          </a:prstGeom>
          <a:solidFill>
            <a:schemeClr val="accent3"/>
          </a:solidFill>
          <a:ln/>
          <a:effectLst>
            <a:outerShdw sx="100000" sy="100000" kx="0" ky="0" algn="bl" rotWithShape="0" blurRad="101600" dist="25400" dir="5400000">
              <a:srgbClr val="000000">
                <a:alpha val="10000"/>
              </a:srgbClr>
            </a:outerShdw>
          </a:effectLst>
        </p:spPr>
      </p:sp>
      <p:sp>
        <p:nvSpPr>
          <p:cNvPr id="4" name="g0_cl"/>
          <p:cNvSpPr txBox="1"/>
          <p:nvPr/>
        </p:nvSpPr>
        <p:spPr>
          <a:xfrm>
            <a:off x="640080" y="1188720"/>
            <a:ext cx="2514600" cy="594360"/>
          </a:xfrm>
          <a:prstGeom prst="rect">
            <a:avLst/>
          </a:prstGeom>
          <a:noFill/>
          <a:ln/>
        </p:spPr>
        <p:txBody>
          <a:bodyPr wrap="square" lIns="0" tIns="0" rIns="0" bIns="0" rtlCol="0" anchor="ctr"/>
          <a:lstStyle/>
          <a:p>
            <a:pPr indent="0" marL="0">
              <a:buNone/>
            </a:pPr>
            <a:r>
              <a:rPr lang="en-US" sz="1500" b="1" dirty="0">
                <a:solidFill>
                  <a:schemeClr val="tx1"/>
                </a:solidFill>
              </a:rPr>
              <a:t>1   Canais de acesso</a:t>
            </a:r>
            <a:endParaRPr lang="en-US" sz="1500" dirty="0"/>
          </a:p>
        </p:txBody>
      </p:sp>
      <p:sp>
        <p:nvSpPr>
          <p:cNvPr id="5" name="g0_card"/>
          <p:cNvSpPr/>
          <p:nvPr/>
        </p:nvSpPr>
        <p:spPr>
          <a:xfrm>
            <a:off x="3337560" y="1188720"/>
            <a:ext cx="5349240" cy="594360"/>
          </a:xfrm>
          <a:prstGeom prst="roundRect">
            <a:avLst>
              <a:gd name="adj" fmla="val 18462"/>
            </a:avLst>
          </a:prstGeom>
          <a:solidFill>
            <a:schemeClr val="bg2"/>
          </a:solidFill>
          <a:ln/>
        </p:spPr>
      </p:sp>
      <p:sp>
        <p:nvSpPr>
          <p:cNvPr id="6" name="g0_d"/>
          <p:cNvSpPr txBox="1"/>
          <p:nvPr/>
        </p:nvSpPr>
        <p:spPr>
          <a:xfrm>
            <a:off x="3520440" y="1188720"/>
            <a:ext cx="5029200" cy="594360"/>
          </a:xfrm>
          <a:prstGeom prst="rect">
            <a:avLst/>
          </a:prstGeom>
          <a:noFill/>
          <a:ln/>
        </p:spPr>
        <p:txBody>
          <a:bodyPr wrap="square" lIns="0" tIns="0" rIns="0" bIns="0" rtlCol="0" anchor="ctr"/>
          <a:lstStyle/>
          <a:p>
            <a:pPr indent="0" marL="0">
              <a:buNone/>
            </a:pPr>
            <a:r>
              <a:rPr lang="en-US" sz="1300" dirty="0">
                <a:solidFill>
                  <a:schemeClr val="tx1"/>
                </a:solidFill>
              </a:rPr>
              <a:t>Aplicação web (PWA), painéis do funcionário e do administrador, e mensagens SMS</a:t>
            </a:r>
            <a:endParaRPr lang="en-US" sz="1300" dirty="0"/>
          </a:p>
        </p:txBody>
      </p:sp>
      <p:sp>
        <p:nvSpPr>
          <p:cNvPr id="7" name="g1_chip"/>
          <p:cNvSpPr/>
          <p:nvPr/>
        </p:nvSpPr>
        <p:spPr>
          <a:xfrm>
            <a:off x="457200" y="1874520"/>
            <a:ext cx="2743200" cy="594360"/>
          </a:xfrm>
          <a:prstGeom prst="roundRect">
            <a:avLst>
              <a:gd name="adj" fmla="val 15385"/>
            </a:avLst>
          </a:prstGeom>
          <a:solidFill>
            <a:schemeClr val="accent1"/>
          </a:solidFill>
          <a:ln/>
          <a:effectLst>
            <a:outerShdw sx="100000" sy="100000" kx="0" ky="0" algn="bl" rotWithShape="0" blurRad="101600" dist="25400" dir="5400000">
              <a:srgbClr val="000000">
                <a:alpha val="10000"/>
              </a:srgbClr>
            </a:outerShdw>
          </a:effectLst>
        </p:spPr>
      </p:sp>
      <p:sp>
        <p:nvSpPr>
          <p:cNvPr id="8" name="g1_cl"/>
          <p:cNvSpPr txBox="1"/>
          <p:nvPr/>
        </p:nvSpPr>
        <p:spPr>
          <a:xfrm>
            <a:off x="640080" y="1874520"/>
            <a:ext cx="2514600" cy="594360"/>
          </a:xfrm>
          <a:prstGeom prst="rect">
            <a:avLst/>
          </a:prstGeom>
          <a:noFill/>
          <a:ln/>
        </p:spPr>
        <p:txBody>
          <a:bodyPr wrap="square" lIns="0" tIns="0" rIns="0" bIns="0" rtlCol="0" anchor="ctr"/>
          <a:lstStyle/>
          <a:p>
            <a:pPr indent="0" marL="0">
              <a:buNone/>
            </a:pPr>
            <a:r>
              <a:rPr lang="en-US" sz="1500" b="1" dirty="0">
                <a:solidFill>
                  <a:schemeClr val="bg1"/>
                </a:solidFill>
              </a:rPr>
              <a:t>2   Aplicação (back-end)</a:t>
            </a:r>
            <a:endParaRPr lang="en-US" sz="1500" dirty="0"/>
          </a:p>
        </p:txBody>
      </p:sp>
      <p:sp>
        <p:nvSpPr>
          <p:cNvPr id="9" name="g1_card"/>
          <p:cNvSpPr/>
          <p:nvPr/>
        </p:nvSpPr>
        <p:spPr>
          <a:xfrm>
            <a:off x="3337560" y="1874520"/>
            <a:ext cx="5349240" cy="594360"/>
          </a:xfrm>
          <a:prstGeom prst="roundRect">
            <a:avLst>
              <a:gd name="adj" fmla="val 18462"/>
            </a:avLst>
          </a:prstGeom>
          <a:solidFill>
            <a:schemeClr val="bg2"/>
          </a:solidFill>
          <a:ln/>
        </p:spPr>
      </p:sp>
      <p:sp>
        <p:nvSpPr>
          <p:cNvPr id="10" name="g1_d"/>
          <p:cNvSpPr txBox="1"/>
          <p:nvPr/>
        </p:nvSpPr>
        <p:spPr>
          <a:xfrm>
            <a:off x="3520440" y="1874520"/>
            <a:ext cx="5029200" cy="594360"/>
          </a:xfrm>
          <a:prstGeom prst="rect">
            <a:avLst/>
          </a:prstGeom>
          <a:noFill/>
          <a:ln/>
        </p:spPr>
        <p:txBody>
          <a:bodyPr wrap="square" lIns="0" tIns="0" rIns="0" bIns="0" rtlCol="0" anchor="ctr"/>
          <a:lstStyle/>
          <a:p>
            <a:pPr indent="0" marL="0">
              <a:buNone/>
            </a:pPr>
            <a:r>
              <a:rPr lang="en-US" sz="1300" dirty="0">
                <a:solidFill>
                  <a:schemeClr val="tx1"/>
                </a:solidFill>
              </a:rPr>
              <a:t>A parte invisível, onde ficam as regras: quem pode marcar, quantas vagas há, quem é o próximo</a:t>
            </a:r>
            <a:endParaRPr lang="en-US" sz="1300" dirty="0"/>
          </a:p>
        </p:txBody>
      </p:sp>
      <p:sp>
        <p:nvSpPr>
          <p:cNvPr id="11" name="g2_chip"/>
          <p:cNvSpPr/>
          <p:nvPr/>
        </p:nvSpPr>
        <p:spPr>
          <a:xfrm>
            <a:off x="457200" y="2560320"/>
            <a:ext cx="2743200" cy="594360"/>
          </a:xfrm>
          <a:prstGeom prst="roundRect">
            <a:avLst>
              <a:gd name="adj" fmla="val 15385"/>
            </a:avLst>
          </a:prstGeom>
          <a:solidFill>
            <a:schemeClr val="accent2"/>
          </a:solidFill>
          <a:ln/>
          <a:effectLst>
            <a:outerShdw sx="100000" sy="100000" kx="0" ky="0" algn="bl" rotWithShape="0" blurRad="101600" dist="25400" dir="5400000">
              <a:srgbClr val="000000">
                <a:alpha val="10000"/>
              </a:srgbClr>
            </a:outerShdw>
          </a:effectLst>
        </p:spPr>
      </p:sp>
      <p:sp>
        <p:nvSpPr>
          <p:cNvPr id="12" name="g2_cl"/>
          <p:cNvSpPr txBox="1"/>
          <p:nvPr/>
        </p:nvSpPr>
        <p:spPr>
          <a:xfrm>
            <a:off x="640080" y="2560320"/>
            <a:ext cx="2514600" cy="594360"/>
          </a:xfrm>
          <a:prstGeom prst="rect">
            <a:avLst/>
          </a:prstGeom>
          <a:noFill/>
          <a:ln/>
        </p:spPr>
        <p:txBody>
          <a:bodyPr wrap="square" lIns="0" tIns="0" rIns="0" bIns="0" rtlCol="0" anchor="ctr"/>
          <a:lstStyle/>
          <a:p>
            <a:pPr indent="0" marL="0">
              <a:buNone/>
            </a:pPr>
            <a:r>
              <a:rPr lang="en-US" sz="1500" b="1" dirty="0">
                <a:solidFill>
                  <a:schemeClr val="bg1"/>
                </a:solidFill>
              </a:rPr>
              <a:t>3   Dados</a:t>
            </a:r>
            <a:endParaRPr lang="en-US" sz="1500" dirty="0"/>
          </a:p>
        </p:txBody>
      </p:sp>
      <p:sp>
        <p:nvSpPr>
          <p:cNvPr id="13" name="g2_card"/>
          <p:cNvSpPr/>
          <p:nvPr/>
        </p:nvSpPr>
        <p:spPr>
          <a:xfrm>
            <a:off x="3337560" y="2560320"/>
            <a:ext cx="5349240" cy="594360"/>
          </a:xfrm>
          <a:prstGeom prst="roundRect">
            <a:avLst>
              <a:gd name="adj" fmla="val 18462"/>
            </a:avLst>
          </a:prstGeom>
          <a:solidFill>
            <a:schemeClr val="bg2"/>
          </a:solidFill>
          <a:ln/>
        </p:spPr>
      </p:sp>
      <p:sp>
        <p:nvSpPr>
          <p:cNvPr id="14" name="g2_d"/>
          <p:cNvSpPr txBox="1"/>
          <p:nvPr/>
        </p:nvSpPr>
        <p:spPr>
          <a:xfrm>
            <a:off x="3520440" y="2560320"/>
            <a:ext cx="5029200" cy="594360"/>
          </a:xfrm>
          <a:prstGeom prst="rect">
            <a:avLst/>
          </a:prstGeom>
          <a:noFill/>
          <a:ln/>
        </p:spPr>
        <p:txBody>
          <a:bodyPr wrap="square" lIns="0" tIns="0" rIns="0" bIns="0" rtlCol="0" anchor="ctr"/>
          <a:lstStyle/>
          <a:p>
            <a:pPr indent="0" marL="0">
              <a:buNone/>
            </a:pPr>
            <a:r>
              <a:rPr lang="en-US" sz="1300" dirty="0">
                <a:solidFill>
                  <a:schemeClr val="tx1"/>
                </a:solidFill>
              </a:rPr>
              <a:t>Utentes, postos, serviços, vagas, marcações, atendimentos, avisos e registo de acções</a:t>
            </a:r>
            <a:endParaRPr lang="en-US" sz="1300" dirty="0"/>
          </a:p>
        </p:txBody>
      </p:sp>
      <p:sp>
        <p:nvSpPr>
          <p:cNvPr id="15" name="g3_chip"/>
          <p:cNvSpPr/>
          <p:nvPr/>
        </p:nvSpPr>
        <p:spPr>
          <a:xfrm>
            <a:off x="457200" y="3246120"/>
            <a:ext cx="2743200" cy="594360"/>
          </a:xfrm>
          <a:prstGeom prst="roundRect">
            <a:avLst>
              <a:gd name="adj" fmla="val 15385"/>
            </a:avLst>
          </a:prstGeom>
          <a:solidFill>
            <a:schemeClr val="accent5"/>
          </a:solidFill>
          <a:ln/>
          <a:effectLst>
            <a:outerShdw sx="100000" sy="100000" kx="0" ky="0" algn="bl" rotWithShape="0" blurRad="101600" dist="25400" dir="5400000">
              <a:srgbClr val="000000">
                <a:alpha val="10000"/>
              </a:srgbClr>
            </a:outerShdw>
          </a:effectLst>
        </p:spPr>
      </p:sp>
      <p:sp>
        <p:nvSpPr>
          <p:cNvPr id="16" name="g3_cl"/>
          <p:cNvSpPr txBox="1"/>
          <p:nvPr/>
        </p:nvSpPr>
        <p:spPr>
          <a:xfrm>
            <a:off x="640080" y="3246120"/>
            <a:ext cx="2514600" cy="594360"/>
          </a:xfrm>
          <a:prstGeom prst="rect">
            <a:avLst/>
          </a:prstGeom>
          <a:noFill/>
          <a:ln/>
        </p:spPr>
        <p:txBody>
          <a:bodyPr wrap="square" lIns="0" tIns="0" rIns="0" bIns="0" rtlCol="0" anchor="ctr"/>
          <a:lstStyle/>
          <a:p>
            <a:pPr indent="0" marL="0">
              <a:buNone/>
            </a:pPr>
            <a:r>
              <a:rPr lang="en-US" sz="1500" b="1" dirty="0">
                <a:solidFill>
                  <a:schemeClr val="bg1"/>
                </a:solidFill>
              </a:rPr>
              <a:t>4   Ligações</a:t>
            </a:r>
            <a:endParaRPr lang="en-US" sz="1500" dirty="0"/>
          </a:p>
        </p:txBody>
      </p:sp>
      <p:sp>
        <p:nvSpPr>
          <p:cNvPr id="17" name="g3_card"/>
          <p:cNvSpPr/>
          <p:nvPr/>
        </p:nvSpPr>
        <p:spPr>
          <a:xfrm>
            <a:off x="3337560" y="3246120"/>
            <a:ext cx="5349240" cy="594360"/>
          </a:xfrm>
          <a:prstGeom prst="roundRect">
            <a:avLst>
              <a:gd name="adj" fmla="val 18462"/>
            </a:avLst>
          </a:prstGeom>
          <a:solidFill>
            <a:schemeClr val="bg2"/>
          </a:solidFill>
          <a:ln/>
        </p:spPr>
      </p:sp>
      <p:sp>
        <p:nvSpPr>
          <p:cNvPr id="18" name="g3_d"/>
          <p:cNvSpPr txBox="1"/>
          <p:nvPr/>
        </p:nvSpPr>
        <p:spPr>
          <a:xfrm>
            <a:off x="3520440" y="3246120"/>
            <a:ext cx="5029200" cy="594360"/>
          </a:xfrm>
          <a:prstGeom prst="rect">
            <a:avLst/>
          </a:prstGeom>
          <a:noFill/>
          <a:ln/>
        </p:spPr>
        <p:txBody>
          <a:bodyPr wrap="square" lIns="0" tIns="0" rIns="0" bIns="0" rtlCol="0" anchor="ctr"/>
          <a:lstStyle/>
          <a:p>
            <a:pPr indent="0" marL="0">
              <a:buNone/>
            </a:pPr>
            <a:r>
              <a:rPr lang="en-US" sz="1300" dirty="0">
                <a:solidFill>
                  <a:schemeClr val="tx1"/>
                </a:solidFill>
              </a:rPr>
              <a:t>SMS, sistema de senhas do SIAC (se permitir) e, no futuro, identidade digital e RUPE</a:t>
            </a:r>
            <a:endParaRPr lang="en-US" sz="1300" dirty="0"/>
          </a:p>
        </p:txBody>
      </p:sp>
      <p:sp>
        <p:nvSpPr>
          <p:cNvPr id="19" name="g4_chip"/>
          <p:cNvSpPr/>
          <p:nvPr/>
        </p:nvSpPr>
        <p:spPr>
          <a:xfrm>
            <a:off x="457200" y="3931920"/>
            <a:ext cx="2743200" cy="594360"/>
          </a:xfrm>
          <a:prstGeom prst="roundRect">
            <a:avLst>
              <a:gd name="adj" fmla="val 15385"/>
            </a:avLst>
          </a:prstGeom>
          <a:solidFill>
            <a:schemeClr val="tx1"/>
          </a:solidFill>
          <a:ln/>
          <a:effectLst>
            <a:outerShdw sx="100000" sy="100000" kx="0" ky="0" algn="bl" rotWithShape="0" blurRad="101600" dist="25400" dir="5400000">
              <a:srgbClr val="000000">
                <a:alpha val="10000"/>
              </a:srgbClr>
            </a:outerShdw>
          </a:effectLst>
        </p:spPr>
      </p:sp>
      <p:sp>
        <p:nvSpPr>
          <p:cNvPr id="20" name="g4_cl"/>
          <p:cNvSpPr txBox="1"/>
          <p:nvPr/>
        </p:nvSpPr>
        <p:spPr>
          <a:xfrm>
            <a:off x="640080" y="3931920"/>
            <a:ext cx="2514600" cy="594360"/>
          </a:xfrm>
          <a:prstGeom prst="rect">
            <a:avLst/>
          </a:prstGeom>
          <a:noFill/>
          <a:ln/>
        </p:spPr>
        <p:txBody>
          <a:bodyPr wrap="square" lIns="0" tIns="0" rIns="0" bIns="0" rtlCol="0" anchor="ctr"/>
          <a:lstStyle/>
          <a:p>
            <a:pPr indent="0" marL="0">
              <a:buNone/>
            </a:pPr>
            <a:r>
              <a:rPr lang="en-US" sz="1500" b="1" dirty="0">
                <a:solidFill>
                  <a:schemeClr val="bg1"/>
                </a:solidFill>
              </a:rPr>
              <a:t>5   Infra-estrutura</a:t>
            </a:r>
            <a:endParaRPr lang="en-US" sz="1500" dirty="0"/>
          </a:p>
        </p:txBody>
      </p:sp>
      <p:sp>
        <p:nvSpPr>
          <p:cNvPr id="21" name="g4_card"/>
          <p:cNvSpPr/>
          <p:nvPr/>
        </p:nvSpPr>
        <p:spPr>
          <a:xfrm>
            <a:off x="3337560" y="3931920"/>
            <a:ext cx="5349240" cy="594360"/>
          </a:xfrm>
          <a:prstGeom prst="roundRect">
            <a:avLst>
              <a:gd name="adj" fmla="val 18462"/>
            </a:avLst>
          </a:prstGeom>
          <a:solidFill>
            <a:schemeClr val="bg2"/>
          </a:solidFill>
          <a:ln/>
        </p:spPr>
      </p:sp>
      <p:sp>
        <p:nvSpPr>
          <p:cNvPr id="22" name="g4_d"/>
          <p:cNvSpPr txBox="1"/>
          <p:nvPr/>
        </p:nvSpPr>
        <p:spPr>
          <a:xfrm>
            <a:off x="3520440" y="3931920"/>
            <a:ext cx="5029200" cy="594360"/>
          </a:xfrm>
          <a:prstGeom prst="rect">
            <a:avLst/>
          </a:prstGeom>
          <a:noFill/>
          <a:ln/>
        </p:spPr>
        <p:txBody>
          <a:bodyPr wrap="square" lIns="0" tIns="0" rIns="0" bIns="0" rtlCol="0" anchor="ctr"/>
          <a:lstStyle/>
          <a:p>
            <a:pPr indent="0" marL="0">
              <a:buNone/>
            </a:pPr>
            <a:r>
              <a:rPr lang="en-US" sz="1300" dirty="0">
                <a:solidFill>
                  <a:schemeClr val="tx1"/>
                </a:solidFill>
              </a:rPr>
              <a:t>Servidor, cópias de segurança e alojamento em território nacional</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44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44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44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44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66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66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66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66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88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88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88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88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Tecnologias escolhidas</a:t>
            </a:r>
            <a:endParaRPr lang="en-US" sz="3000" dirty="0"/>
          </a:p>
        </p:txBody>
      </p:sp>
      <p:sp>
        <p:nvSpPr>
          <p:cNvPr id="3" name="g0_card"/>
          <p:cNvSpPr/>
          <p:nvPr/>
        </p:nvSpPr>
        <p:spPr>
          <a:xfrm>
            <a:off x="457200" y="11887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4" name="g0_ic"/>
          <p:cNvSpPr/>
          <p:nvPr/>
        </p:nvSpPr>
        <p:spPr>
          <a:xfrm>
            <a:off x="594360" y="1325880"/>
            <a:ext cx="502920" cy="502920"/>
          </a:xfrm>
          <a:prstGeom prst="ellipse">
            <a:avLst/>
          </a:prstGeom>
          <a:solidFill>
            <a:schemeClr val="accent2"/>
          </a:solidFill>
          <a:ln/>
        </p:spPr>
      </p:sp>
      <p:pic>
        <p:nvPicPr>
          <p:cNvPr id="5" name="g0_im" descr="ícone">    </p:cNvPr>
          <p:cNvPicPr>
            <a:picLocks noChangeAspect="1"/>
          </p:cNvPicPr>
          <p:nvPr/>
        </p:nvPicPr>
        <p:blipFill>
          <a:blip r:embed="rId1"/>
          <a:stretch>
            <a:fillRect/>
          </a:stretch>
        </p:blipFill>
        <p:spPr>
          <a:xfrm>
            <a:off x="715061" y="1446581"/>
            <a:ext cx="261518" cy="261518"/>
          </a:xfrm>
          <a:prstGeom prst="rect">
            <a:avLst/>
          </a:prstGeom>
        </p:spPr>
      </p:pic>
      <p:sp>
        <p:nvSpPr>
          <p:cNvPr id="6" name="g0_h"/>
          <p:cNvSpPr txBox="1"/>
          <p:nvPr/>
        </p:nvSpPr>
        <p:spPr>
          <a:xfrm>
            <a:off x="1234440" y="13167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Python + Django</a:t>
            </a:r>
            <a:endParaRPr lang="en-US" sz="1500" dirty="0"/>
          </a:p>
        </p:txBody>
      </p:sp>
      <p:sp>
        <p:nvSpPr>
          <p:cNvPr id="7" name="g0_s"/>
          <p:cNvSpPr txBox="1"/>
          <p:nvPr/>
        </p:nvSpPr>
        <p:spPr>
          <a:xfrm>
            <a:off x="1234440" y="15910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Back-end e API</a:t>
            </a:r>
            <a:endParaRPr lang="en-US" sz="1100" dirty="0"/>
          </a:p>
        </p:txBody>
      </p:sp>
      <p:sp>
        <p:nvSpPr>
          <p:cNvPr id="8" name="g0_t"/>
          <p:cNvSpPr txBox="1"/>
          <p:nvPr/>
        </p:nvSpPr>
        <p:spPr>
          <a:xfrm>
            <a:off x="594360" y="1965960"/>
            <a:ext cx="2395728" cy="640080"/>
          </a:xfrm>
          <a:prstGeom prst="rect">
            <a:avLst/>
          </a:prstGeom>
          <a:noFill/>
          <a:ln/>
        </p:spPr>
        <p:txBody>
          <a:bodyPr wrap="square" lIns="0" tIns="0" rIns="0" bIns="0" rtlCol="0" anchor="t"/>
          <a:lstStyle/>
          <a:p>
            <a:pPr indent="0" marL="0">
              <a:buNone/>
            </a:pPr>
            <a:r>
              <a:rPr lang="en-US" sz="1250" dirty="0">
                <a:solidFill>
                  <a:schemeClr val="tx1"/>
                </a:solidFill>
              </a:rPr>
              <a:t>Já vem seguro, traz painel de administração; versão 5.2 LTS até Abril de 2028</a:t>
            </a:r>
            <a:endParaRPr lang="en-US" sz="1250" dirty="0"/>
          </a:p>
        </p:txBody>
      </p:sp>
      <p:sp>
        <p:nvSpPr>
          <p:cNvPr id="9" name="g1_card"/>
          <p:cNvSpPr/>
          <p:nvPr/>
        </p:nvSpPr>
        <p:spPr>
          <a:xfrm>
            <a:off x="3246120" y="11887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10" name="g1_ic"/>
          <p:cNvSpPr/>
          <p:nvPr/>
        </p:nvSpPr>
        <p:spPr>
          <a:xfrm>
            <a:off x="3383280" y="1325880"/>
            <a:ext cx="502920" cy="502920"/>
          </a:xfrm>
          <a:prstGeom prst="ellipse">
            <a:avLst/>
          </a:prstGeom>
          <a:solidFill>
            <a:schemeClr val="accent1"/>
          </a:solidFill>
          <a:ln/>
        </p:spPr>
      </p:sp>
      <p:pic>
        <p:nvPicPr>
          <p:cNvPr id="11" name="g1_im" descr="ícone">    </p:cNvPr>
          <p:cNvPicPr>
            <a:picLocks noChangeAspect="1"/>
          </p:cNvPicPr>
          <p:nvPr/>
        </p:nvPicPr>
        <p:blipFill>
          <a:blip r:embed="rId2"/>
          <a:stretch>
            <a:fillRect/>
          </a:stretch>
        </p:blipFill>
        <p:spPr>
          <a:xfrm>
            <a:off x="3503981" y="1446581"/>
            <a:ext cx="261518" cy="261518"/>
          </a:xfrm>
          <a:prstGeom prst="rect">
            <a:avLst/>
          </a:prstGeom>
        </p:spPr>
      </p:pic>
      <p:sp>
        <p:nvSpPr>
          <p:cNvPr id="12" name="g1_h"/>
          <p:cNvSpPr txBox="1"/>
          <p:nvPr/>
        </p:nvSpPr>
        <p:spPr>
          <a:xfrm>
            <a:off x="4023360" y="13167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PostgreSQL</a:t>
            </a:r>
            <a:endParaRPr lang="en-US" sz="1500" dirty="0"/>
          </a:p>
        </p:txBody>
      </p:sp>
      <p:sp>
        <p:nvSpPr>
          <p:cNvPr id="13" name="g1_s"/>
          <p:cNvSpPr txBox="1"/>
          <p:nvPr/>
        </p:nvSpPr>
        <p:spPr>
          <a:xfrm>
            <a:off x="4023360" y="15910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Base de dados</a:t>
            </a:r>
            <a:endParaRPr lang="en-US" sz="1100" dirty="0"/>
          </a:p>
        </p:txBody>
      </p:sp>
      <p:sp>
        <p:nvSpPr>
          <p:cNvPr id="14" name="g1_t"/>
          <p:cNvSpPr txBox="1"/>
          <p:nvPr/>
        </p:nvSpPr>
        <p:spPr>
          <a:xfrm>
            <a:off x="3383280" y="1965960"/>
            <a:ext cx="2395728" cy="640080"/>
          </a:xfrm>
          <a:prstGeom prst="rect">
            <a:avLst/>
          </a:prstGeom>
          <a:noFill/>
          <a:ln/>
        </p:spPr>
        <p:txBody>
          <a:bodyPr wrap="square" lIns="0" tIns="0" rIns="0" bIns="0" rtlCol="0" anchor="t"/>
          <a:lstStyle/>
          <a:p>
            <a:pPr indent="0" marL="0">
              <a:buNone/>
            </a:pPr>
            <a:r>
              <a:rPr lang="en-US" sz="1250" dirty="0">
                <a:solidFill>
                  <a:schemeClr val="tx1"/>
                </a:solidFill>
              </a:rPr>
              <a:t>Evita marcações repetidas, é gratuito e tem suporte até Novembro de 2030</a:t>
            </a:r>
            <a:endParaRPr lang="en-US" sz="1250" dirty="0"/>
          </a:p>
        </p:txBody>
      </p:sp>
      <p:sp>
        <p:nvSpPr>
          <p:cNvPr id="15" name="g2_card"/>
          <p:cNvSpPr/>
          <p:nvPr/>
        </p:nvSpPr>
        <p:spPr>
          <a:xfrm>
            <a:off x="6035040" y="11887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16" name="g2_ic"/>
          <p:cNvSpPr/>
          <p:nvPr/>
        </p:nvSpPr>
        <p:spPr>
          <a:xfrm>
            <a:off x="6172200" y="1325880"/>
            <a:ext cx="502920" cy="502920"/>
          </a:xfrm>
          <a:prstGeom prst="ellipse">
            <a:avLst/>
          </a:prstGeom>
          <a:solidFill>
            <a:schemeClr val="accent3"/>
          </a:solidFill>
          <a:ln/>
        </p:spPr>
      </p:sp>
      <p:pic>
        <p:nvPicPr>
          <p:cNvPr id="17" name="g2_im" descr="ícone">    </p:cNvPr>
          <p:cNvPicPr>
            <a:picLocks noChangeAspect="1"/>
          </p:cNvPicPr>
          <p:nvPr/>
        </p:nvPicPr>
        <p:blipFill>
          <a:blip r:embed="rId3"/>
          <a:stretch>
            <a:fillRect/>
          </a:stretch>
        </p:blipFill>
        <p:spPr>
          <a:xfrm>
            <a:off x="6292901" y="1446581"/>
            <a:ext cx="261518" cy="261518"/>
          </a:xfrm>
          <a:prstGeom prst="rect">
            <a:avLst/>
          </a:prstGeom>
        </p:spPr>
      </p:pic>
      <p:sp>
        <p:nvSpPr>
          <p:cNvPr id="18" name="g2_h"/>
          <p:cNvSpPr txBox="1"/>
          <p:nvPr/>
        </p:nvSpPr>
        <p:spPr>
          <a:xfrm>
            <a:off x="6812280" y="13167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HTML + CSS + JS</a:t>
            </a:r>
            <a:endParaRPr lang="en-US" sz="1500" dirty="0"/>
          </a:p>
        </p:txBody>
      </p:sp>
      <p:sp>
        <p:nvSpPr>
          <p:cNvPr id="19" name="g2_s"/>
          <p:cNvSpPr txBox="1"/>
          <p:nvPr/>
        </p:nvSpPr>
        <p:spPr>
          <a:xfrm>
            <a:off x="6812280" y="15910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Front-end</a:t>
            </a:r>
            <a:endParaRPr lang="en-US" sz="1100" dirty="0"/>
          </a:p>
        </p:txBody>
      </p:sp>
      <p:sp>
        <p:nvSpPr>
          <p:cNvPr id="20" name="g2_t"/>
          <p:cNvSpPr txBox="1"/>
          <p:nvPr/>
        </p:nvSpPr>
        <p:spPr>
          <a:xfrm>
            <a:off x="6172200" y="1965960"/>
            <a:ext cx="2395728" cy="640080"/>
          </a:xfrm>
          <a:prstGeom prst="rect">
            <a:avLst/>
          </a:prstGeom>
          <a:noFill/>
          <a:ln/>
        </p:spPr>
        <p:txBody>
          <a:bodyPr wrap="square" lIns="0" tIns="0" rIns="0" bIns="0" rtlCol="0" anchor="t"/>
          <a:lstStyle/>
          <a:p>
            <a:pPr indent="0" marL="0">
              <a:buNone/>
            </a:pPr>
            <a:r>
              <a:rPr lang="en-US" sz="1250" dirty="0">
                <a:solidFill>
                  <a:schemeClr val="tx1"/>
                </a:solidFill>
              </a:rPr>
              <a:t>Páginas leves e simples, sem frameworks pesadas; Bootstrap só para a grelha</a:t>
            </a:r>
            <a:endParaRPr lang="en-US" sz="1250" dirty="0"/>
          </a:p>
        </p:txBody>
      </p:sp>
      <p:sp>
        <p:nvSpPr>
          <p:cNvPr id="21" name="g3_card"/>
          <p:cNvSpPr/>
          <p:nvPr/>
        </p:nvSpPr>
        <p:spPr>
          <a:xfrm>
            <a:off x="457200" y="27889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22" name="g3_ic"/>
          <p:cNvSpPr/>
          <p:nvPr/>
        </p:nvSpPr>
        <p:spPr>
          <a:xfrm>
            <a:off x="594360" y="2926080"/>
            <a:ext cx="502920" cy="502920"/>
          </a:xfrm>
          <a:prstGeom prst="ellipse">
            <a:avLst/>
          </a:prstGeom>
          <a:solidFill>
            <a:schemeClr val="accent4"/>
          </a:solidFill>
          <a:ln/>
        </p:spPr>
      </p:sp>
      <p:pic>
        <p:nvPicPr>
          <p:cNvPr id="23" name="g3_im" descr="ícone">    </p:cNvPr>
          <p:cNvPicPr>
            <a:picLocks noChangeAspect="1"/>
          </p:cNvPicPr>
          <p:nvPr/>
        </p:nvPicPr>
        <p:blipFill>
          <a:blip r:embed="rId4"/>
          <a:stretch>
            <a:fillRect/>
          </a:stretch>
        </p:blipFill>
        <p:spPr>
          <a:xfrm>
            <a:off x="715061" y="3046781"/>
            <a:ext cx="261518" cy="261518"/>
          </a:xfrm>
          <a:prstGeom prst="rect">
            <a:avLst/>
          </a:prstGeom>
        </p:spPr>
      </p:pic>
      <p:sp>
        <p:nvSpPr>
          <p:cNvPr id="24" name="g3_h"/>
          <p:cNvSpPr txBox="1"/>
          <p:nvPr/>
        </p:nvSpPr>
        <p:spPr>
          <a:xfrm>
            <a:off x="1234440" y="29169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PWA</a:t>
            </a:r>
            <a:endParaRPr lang="en-US" sz="1500" dirty="0"/>
          </a:p>
        </p:txBody>
      </p:sp>
      <p:sp>
        <p:nvSpPr>
          <p:cNvPr id="25" name="g3_s"/>
          <p:cNvSpPr txBox="1"/>
          <p:nvPr/>
        </p:nvSpPr>
        <p:spPr>
          <a:xfrm>
            <a:off x="1234440" y="31912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Interface</a:t>
            </a:r>
            <a:endParaRPr lang="en-US" sz="1100" dirty="0"/>
          </a:p>
        </p:txBody>
      </p:sp>
      <p:sp>
        <p:nvSpPr>
          <p:cNvPr id="26" name="g3_t"/>
          <p:cNvSpPr txBox="1"/>
          <p:nvPr/>
        </p:nvSpPr>
        <p:spPr>
          <a:xfrm>
            <a:off x="594360" y="3566160"/>
            <a:ext cx="2395728" cy="640080"/>
          </a:xfrm>
          <a:prstGeom prst="rect">
            <a:avLst/>
          </a:prstGeom>
          <a:noFill/>
          <a:ln/>
        </p:spPr>
        <p:txBody>
          <a:bodyPr wrap="square" lIns="0" tIns="0" rIns="0" bIns="0" rtlCol="0" anchor="t"/>
          <a:lstStyle/>
          <a:p>
            <a:pPr indent="0" marL="0">
              <a:buNone/>
            </a:pPr>
            <a:r>
              <a:rPr lang="en-US" sz="1250" dirty="0">
                <a:solidFill>
                  <a:schemeClr val="tx1"/>
                </a:solidFill>
              </a:rPr>
              <a:t>Sem instalar nada, aguenta internet fraca e gasta poucos dados</a:t>
            </a:r>
            <a:endParaRPr lang="en-US" sz="1250" dirty="0"/>
          </a:p>
        </p:txBody>
      </p:sp>
      <p:sp>
        <p:nvSpPr>
          <p:cNvPr id="27" name="g4_card"/>
          <p:cNvSpPr/>
          <p:nvPr/>
        </p:nvSpPr>
        <p:spPr>
          <a:xfrm>
            <a:off x="3246120" y="27889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28" name="g4_ic"/>
          <p:cNvSpPr/>
          <p:nvPr/>
        </p:nvSpPr>
        <p:spPr>
          <a:xfrm>
            <a:off x="3383280" y="2926080"/>
            <a:ext cx="502920" cy="502920"/>
          </a:xfrm>
          <a:prstGeom prst="ellipse">
            <a:avLst/>
          </a:prstGeom>
          <a:solidFill>
            <a:schemeClr val="accent5"/>
          </a:solidFill>
          <a:ln/>
        </p:spPr>
      </p:sp>
      <p:pic>
        <p:nvPicPr>
          <p:cNvPr id="29" name="g4_im" descr="ícone">    </p:cNvPr>
          <p:cNvPicPr>
            <a:picLocks noChangeAspect="1"/>
          </p:cNvPicPr>
          <p:nvPr/>
        </p:nvPicPr>
        <p:blipFill>
          <a:blip r:embed="rId5"/>
          <a:stretch>
            <a:fillRect/>
          </a:stretch>
        </p:blipFill>
        <p:spPr>
          <a:xfrm>
            <a:off x="3503981" y="3046781"/>
            <a:ext cx="261518" cy="261518"/>
          </a:xfrm>
          <a:prstGeom prst="rect">
            <a:avLst/>
          </a:prstGeom>
        </p:spPr>
      </p:pic>
      <p:sp>
        <p:nvSpPr>
          <p:cNvPr id="30" name="g4_h"/>
          <p:cNvSpPr txBox="1"/>
          <p:nvPr/>
        </p:nvSpPr>
        <p:spPr>
          <a:xfrm>
            <a:off x="4023360" y="29169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SMS + notificações</a:t>
            </a:r>
            <a:endParaRPr lang="en-US" sz="1500" dirty="0"/>
          </a:p>
        </p:txBody>
      </p:sp>
      <p:sp>
        <p:nvSpPr>
          <p:cNvPr id="31" name="g4_s"/>
          <p:cNvSpPr txBox="1"/>
          <p:nvPr/>
        </p:nvSpPr>
        <p:spPr>
          <a:xfrm>
            <a:off x="4023360" y="31912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Avisos</a:t>
            </a:r>
            <a:endParaRPr lang="en-US" sz="1100" dirty="0"/>
          </a:p>
        </p:txBody>
      </p:sp>
      <p:sp>
        <p:nvSpPr>
          <p:cNvPr id="32" name="g4_t"/>
          <p:cNvSpPr txBox="1"/>
          <p:nvPr/>
        </p:nvSpPr>
        <p:spPr>
          <a:xfrm>
            <a:off x="3383280" y="3566160"/>
            <a:ext cx="2395728" cy="640080"/>
          </a:xfrm>
          <a:prstGeom prst="rect">
            <a:avLst/>
          </a:prstGeom>
          <a:noFill/>
          <a:ln/>
        </p:spPr>
        <p:txBody>
          <a:bodyPr wrap="square" lIns="0" tIns="0" rIns="0" bIns="0" rtlCol="0" anchor="t"/>
          <a:lstStyle/>
          <a:p>
            <a:pPr indent="0" marL="0">
              <a:buNone/>
            </a:pPr>
            <a:r>
              <a:rPr lang="en-US" sz="1250" dirty="0">
                <a:solidFill>
                  <a:schemeClr val="tx1"/>
                </a:solidFill>
              </a:rPr>
              <a:t>SMS chega a qualquer telemóvel; notificações da PWA não têm custo por mensagem</a:t>
            </a:r>
            <a:endParaRPr lang="en-US" sz="1250" dirty="0"/>
          </a:p>
        </p:txBody>
      </p:sp>
      <p:sp>
        <p:nvSpPr>
          <p:cNvPr id="33" name="g5_card"/>
          <p:cNvSpPr/>
          <p:nvPr/>
        </p:nvSpPr>
        <p:spPr>
          <a:xfrm>
            <a:off x="6035040" y="27889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34" name="g5_ic"/>
          <p:cNvSpPr/>
          <p:nvPr/>
        </p:nvSpPr>
        <p:spPr>
          <a:xfrm>
            <a:off x="6172200" y="2926080"/>
            <a:ext cx="502920" cy="502920"/>
          </a:xfrm>
          <a:prstGeom prst="ellipse">
            <a:avLst/>
          </a:prstGeom>
          <a:solidFill>
            <a:schemeClr val="tx1"/>
          </a:solidFill>
          <a:ln/>
        </p:spPr>
      </p:sp>
      <p:pic>
        <p:nvPicPr>
          <p:cNvPr id="35" name="g5_im" descr="ícone">    </p:cNvPr>
          <p:cNvPicPr>
            <a:picLocks noChangeAspect="1"/>
          </p:cNvPicPr>
          <p:nvPr/>
        </p:nvPicPr>
        <p:blipFill>
          <a:blip r:embed="rId6"/>
          <a:stretch>
            <a:fillRect/>
          </a:stretch>
        </p:blipFill>
        <p:spPr>
          <a:xfrm>
            <a:off x="6292901" y="3046781"/>
            <a:ext cx="261518" cy="261518"/>
          </a:xfrm>
          <a:prstGeom prst="rect">
            <a:avLst/>
          </a:prstGeom>
        </p:spPr>
      </p:pic>
      <p:sp>
        <p:nvSpPr>
          <p:cNvPr id="36" name="g5_h"/>
          <p:cNvSpPr txBox="1"/>
          <p:nvPr/>
        </p:nvSpPr>
        <p:spPr>
          <a:xfrm>
            <a:off x="6812280" y="29169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Docker + Nginx</a:t>
            </a:r>
            <a:endParaRPr lang="en-US" sz="1500" dirty="0"/>
          </a:p>
        </p:txBody>
      </p:sp>
      <p:sp>
        <p:nvSpPr>
          <p:cNvPr id="37" name="g5_s"/>
          <p:cNvSpPr txBox="1"/>
          <p:nvPr/>
        </p:nvSpPr>
        <p:spPr>
          <a:xfrm>
            <a:off x="6812280" y="31912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Infra-estrutura</a:t>
            </a:r>
            <a:endParaRPr lang="en-US" sz="1100" dirty="0"/>
          </a:p>
        </p:txBody>
      </p:sp>
      <p:sp>
        <p:nvSpPr>
          <p:cNvPr id="38" name="g5_t"/>
          <p:cNvSpPr txBox="1"/>
          <p:nvPr/>
        </p:nvSpPr>
        <p:spPr>
          <a:xfrm>
            <a:off x="6172200" y="3566160"/>
            <a:ext cx="2395728" cy="640080"/>
          </a:xfrm>
          <a:prstGeom prst="rect">
            <a:avLst/>
          </a:prstGeom>
          <a:noFill/>
          <a:ln/>
        </p:spPr>
        <p:txBody>
          <a:bodyPr wrap="square" lIns="0" tIns="0" rIns="0" bIns="0" rtlCol="0" anchor="t"/>
          <a:lstStyle/>
          <a:p>
            <a:pPr indent="0" marL="0">
              <a:buNone/>
            </a:pPr>
            <a:r>
              <a:rPr lang="en-US" sz="1250" dirty="0">
                <a:solidFill>
                  <a:schemeClr val="tx1"/>
                </a:solidFill>
              </a:rPr>
              <a:t>Instalação simples, repetível e fácil de manter</a:t>
            </a:r>
            <a:endParaRPr lang="en-US" sz="1250" dirty="0"/>
          </a:p>
        </p:txBody>
      </p:sp>
      <p:sp>
        <p:nvSpPr>
          <p:cNvPr id="39" name="g6_alt"/>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200" i="1" dirty="0">
                <a:solidFill>
                  <a:schemeClr val="accent5"/>
                </a:solidFill>
              </a:rPr>
              <a:t>Alternativas analisadas: </a:t>
            </a:r>
            <a:r>
              <a:rPr lang="en-US" sz="1200" i="1" dirty="0">
                <a:solidFill>
                  <a:schemeClr val="accent5"/>
                </a:solidFill>
              </a:rPr>
              <a:t>Spring Boot, Laravel, Node.js, React/Vue, app nativa e MySQL.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5"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nodeType="withEffect">
                                  <p:stCondLst>
                                    <p:cond delay="22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22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22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22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44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nodeType="withEffect">
                                  <p:stCondLst>
                                    <p:cond delay="44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44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44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44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66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66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nodeType="withEffect">
                                  <p:stCondLst>
                                    <p:cond delay="66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66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66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grpId="0" nodeType="withEffect">
                                  <p:stCondLst>
                                    <p:cond delay="66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grpId="0" nodeType="withEffect">
                                  <p:stCondLst>
                                    <p:cond delay="88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88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nodeType="withEffect">
                                  <p:stCondLst>
                                    <p:cond delay="88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grpId="0" nodeType="withEffect">
                                  <p:stCondLst>
                                    <p:cond delay="88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par>
                                <p:cTn id="88" presetID="10" presetClass="entr" presetSubtype="0" fill="hold" grpId="0" nodeType="withEffect">
                                  <p:stCondLst>
                                    <p:cond delay="88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50"/>
                                        <p:tgtEl>
                                          <p:spTgt spid="31"/>
                                        </p:tgtEl>
                                      </p:cBhvr>
                                    </p:animEffect>
                                  </p:childTnLst>
                                </p:cTn>
                              </p:par>
                              <p:par>
                                <p:cTn id="91" presetID="10" presetClass="entr" presetSubtype="0" fill="hold" grpId="0" nodeType="withEffect">
                                  <p:stCondLst>
                                    <p:cond delay="88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50"/>
                                        <p:tgtEl>
                                          <p:spTgt spid="32"/>
                                        </p:tgtEl>
                                      </p:cBhvr>
                                    </p:animEffect>
                                  </p:childTnLst>
                                </p:cTn>
                              </p:par>
                              <p:par>
                                <p:cTn id="94" presetID="10" presetClass="entr" presetSubtype="0" fill="hold" grpId="0" nodeType="withEffect">
                                  <p:stCondLst>
                                    <p:cond delay="110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50"/>
                                        <p:tgtEl>
                                          <p:spTgt spid="33"/>
                                        </p:tgtEl>
                                      </p:cBhvr>
                                    </p:animEffect>
                                  </p:childTnLst>
                                </p:cTn>
                              </p:par>
                              <p:par>
                                <p:cTn id="97" presetID="10" presetClass="entr" presetSubtype="0" fill="hold" grpId="0" nodeType="withEffect">
                                  <p:stCondLst>
                                    <p:cond delay="110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nodeType="withEffect">
                                  <p:stCondLst>
                                    <p:cond delay="110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110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par>
                                <p:cTn id="106" presetID="10" presetClass="entr" presetSubtype="0" fill="hold" grpId="0" nodeType="withEffect">
                                  <p:stCondLst>
                                    <p:cond delay="110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110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par>
                                <p:cTn id="112" presetID="10" presetClass="entr" presetSubtype="0" fill="hold" grpId="0" nodeType="withEffect">
                                  <p:stCondLst>
                                    <p:cond delay="132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6" grpId="0" animBg="1"/>
      <p:bldP spid="37" grpId="0" animBg="1"/>
      <p:bldP spid="38" grpId="0" animBg="1"/>
      <p:bldP spid="3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Chegar a todos e proteger os dados</a:t>
            </a:r>
            <a:endParaRPr lang="en-US" sz="3000" dirty="0"/>
          </a:p>
        </p:txBody>
      </p:sp>
      <p:sp>
        <p:nvSpPr>
          <p:cNvPr id="3" name="g0_card"/>
          <p:cNvSpPr/>
          <p:nvPr/>
        </p:nvSpPr>
        <p:spPr>
          <a:xfrm>
            <a:off x="457200" y="1188720"/>
            <a:ext cx="4023360" cy="3429000"/>
          </a:xfrm>
          <a:prstGeom prst="roundRect">
            <a:avLst>
              <a:gd name="adj" fmla="val 3200"/>
            </a:avLst>
          </a:prstGeom>
          <a:solidFill>
            <a:schemeClr val="bg2"/>
          </a:solidFill>
          <a:ln/>
          <a:effectLst>
            <a:outerShdw sx="100000" sy="100000" kx="0" ky="0" algn="bl" rotWithShape="0" blurRad="101600" dist="25400" dir="5400000">
              <a:srgbClr val="000000">
                <a:alpha val="10000"/>
              </a:srgbClr>
            </a:outerShdw>
          </a:effectLst>
        </p:spPr>
      </p:sp>
      <p:sp>
        <p:nvSpPr>
          <p:cNvPr id="4" name="g0_ic"/>
          <p:cNvSpPr/>
          <p:nvPr/>
        </p:nvSpPr>
        <p:spPr>
          <a:xfrm>
            <a:off x="685800" y="1371600"/>
            <a:ext cx="457200" cy="457200"/>
          </a:xfrm>
          <a:prstGeom prst="ellipse">
            <a:avLst/>
          </a:prstGeom>
          <a:solidFill>
            <a:schemeClr val="accent2"/>
          </a:solidFill>
          <a:ln/>
        </p:spPr>
      </p:sp>
      <p:pic>
        <p:nvPicPr>
          <p:cNvPr id="5" name="g0_im" descr="ícone">    </p:cNvPr>
          <p:cNvPicPr>
            <a:picLocks noChangeAspect="1"/>
          </p:cNvPicPr>
          <p:nvPr/>
        </p:nvPicPr>
        <p:blipFill>
          <a:blip r:embed="rId1"/>
          <a:stretch>
            <a:fillRect/>
          </a:stretch>
        </p:blipFill>
        <p:spPr>
          <a:xfrm>
            <a:off x="795528" y="1481328"/>
            <a:ext cx="237744" cy="237744"/>
          </a:xfrm>
          <a:prstGeom prst="rect">
            <a:avLst/>
          </a:prstGeom>
        </p:spPr>
      </p:pic>
      <p:sp>
        <p:nvSpPr>
          <p:cNvPr id="6" name="g0_h"/>
          <p:cNvSpPr txBox="1"/>
          <p:nvPr/>
        </p:nvSpPr>
        <p:spPr>
          <a:xfrm>
            <a:off x="1280160" y="137160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Chegar a todos</a:t>
            </a:r>
            <a:endParaRPr lang="en-US" sz="1800" dirty="0"/>
          </a:p>
        </p:txBody>
      </p:sp>
      <p:sp>
        <p:nvSpPr>
          <p:cNvPr id="7" name="g0_ic"/>
          <p:cNvSpPr/>
          <p:nvPr/>
        </p:nvSpPr>
        <p:spPr>
          <a:xfrm>
            <a:off x="685800" y="2057400"/>
            <a:ext cx="411480" cy="411480"/>
          </a:xfrm>
          <a:prstGeom prst="ellipse">
            <a:avLst/>
          </a:prstGeom>
          <a:solidFill>
            <a:schemeClr val="accent5"/>
          </a:solidFill>
          <a:ln/>
        </p:spPr>
      </p:sp>
      <p:pic>
        <p:nvPicPr>
          <p:cNvPr id="8" name="g0_im" descr="ícone">    </p:cNvPr>
          <p:cNvPicPr>
            <a:picLocks noChangeAspect="1"/>
          </p:cNvPicPr>
          <p:nvPr/>
        </p:nvPicPr>
        <p:blipFill>
          <a:blip r:embed="rId2"/>
          <a:stretch>
            <a:fillRect/>
          </a:stretch>
        </p:blipFill>
        <p:spPr>
          <a:xfrm>
            <a:off x="784555" y="2156155"/>
            <a:ext cx="213970" cy="213970"/>
          </a:xfrm>
          <a:prstGeom prst="rect">
            <a:avLst/>
          </a:prstGeom>
        </p:spPr>
      </p:pic>
      <p:sp>
        <p:nvSpPr>
          <p:cNvPr id="9" name="g0_c0"/>
          <p:cNvSpPr txBox="1"/>
          <p:nvPr/>
        </p:nvSpPr>
        <p:spPr>
          <a:xfrm>
            <a:off x="1280160" y="2011680"/>
            <a:ext cx="3063240" cy="566928"/>
          </a:xfrm>
          <a:prstGeom prst="rect">
            <a:avLst/>
          </a:prstGeom>
          <a:noFill/>
          <a:ln/>
        </p:spPr>
        <p:txBody>
          <a:bodyPr wrap="square" lIns="0" tIns="0" rIns="0" bIns="0" rtlCol="0" anchor="t"/>
          <a:lstStyle/>
          <a:p>
            <a:pPr indent="0" marL="0">
              <a:buNone/>
            </a:pPr>
            <a:r>
              <a:rPr lang="en-US" sz="1400" b="1" dirty="0">
                <a:solidFill>
                  <a:schemeClr val="tx1"/>
                </a:solidFill>
              </a:rPr>
              <a:t>SMS e notificações</a:t>
            </a:r>
            <a:endParaRPr lang="en-US" sz="1400" dirty="0"/>
          </a:p>
          <a:p>
            <a:pPr indent="0" marL="0">
              <a:buNone/>
            </a:pPr>
            <a:r>
              <a:rPr lang="en-US" sz="1200" dirty="0">
                <a:solidFill>
                  <a:schemeClr val="accent5"/>
                </a:solidFill>
              </a:rPr>
              <a:t>SMS chega a qualquer telemóvel; notificações da PWA sem custo por mensagem</a:t>
            </a:r>
            <a:endParaRPr lang="en-US" sz="1400" dirty="0"/>
          </a:p>
        </p:txBody>
      </p:sp>
      <p:sp>
        <p:nvSpPr>
          <p:cNvPr id="10" name="g0_ic"/>
          <p:cNvSpPr/>
          <p:nvPr/>
        </p:nvSpPr>
        <p:spPr>
          <a:xfrm>
            <a:off x="685800" y="2697480"/>
            <a:ext cx="411480" cy="411480"/>
          </a:xfrm>
          <a:prstGeom prst="ellipse">
            <a:avLst/>
          </a:prstGeom>
          <a:solidFill>
            <a:schemeClr val="accent4"/>
          </a:solidFill>
          <a:ln/>
        </p:spPr>
      </p:sp>
      <p:pic>
        <p:nvPicPr>
          <p:cNvPr id="11" name="g0_im" descr="ícone">    </p:cNvPr>
          <p:cNvPicPr>
            <a:picLocks noChangeAspect="1"/>
          </p:cNvPicPr>
          <p:nvPr/>
        </p:nvPicPr>
        <p:blipFill>
          <a:blip r:embed="rId3"/>
          <a:stretch>
            <a:fillRect/>
          </a:stretch>
        </p:blipFill>
        <p:spPr>
          <a:xfrm>
            <a:off x="784555" y="2796235"/>
            <a:ext cx="213970" cy="213970"/>
          </a:xfrm>
          <a:prstGeom prst="rect">
            <a:avLst/>
          </a:prstGeom>
        </p:spPr>
      </p:pic>
      <p:sp>
        <p:nvSpPr>
          <p:cNvPr id="12" name="g0_c1"/>
          <p:cNvSpPr txBox="1"/>
          <p:nvPr/>
        </p:nvSpPr>
        <p:spPr>
          <a:xfrm>
            <a:off x="1280160" y="2651760"/>
            <a:ext cx="3063240" cy="566928"/>
          </a:xfrm>
          <a:prstGeom prst="rect">
            <a:avLst/>
          </a:prstGeom>
          <a:noFill/>
          <a:ln/>
        </p:spPr>
        <p:txBody>
          <a:bodyPr wrap="square" lIns="0" tIns="0" rIns="0" bIns="0" rtlCol="0" anchor="t"/>
          <a:lstStyle/>
          <a:p>
            <a:pPr indent="0" marL="0">
              <a:buNone/>
            </a:pPr>
            <a:r>
              <a:rPr lang="en-US" sz="1400" b="1" dirty="0">
                <a:solidFill>
                  <a:schemeClr val="tx1"/>
                </a:solidFill>
              </a:rPr>
              <a:t>WhatsApp Business (fase seguinte)</a:t>
            </a:r>
            <a:endParaRPr lang="en-US" sz="1400" dirty="0"/>
          </a:p>
          <a:p>
            <a:pPr indent="0" marL="0">
              <a:buNone/>
            </a:pPr>
            <a:r>
              <a:rPr lang="en-US" sz="1200" dirty="0">
                <a:solidFill>
                  <a:schemeClr val="accent5"/>
                </a:solidFill>
              </a:rPr>
              <a:t>Muito usado em Angola; custos e regras a confirmar</a:t>
            </a:r>
            <a:endParaRPr lang="en-US" sz="1400" dirty="0"/>
          </a:p>
        </p:txBody>
      </p:sp>
      <p:sp>
        <p:nvSpPr>
          <p:cNvPr id="13" name="g0_ic"/>
          <p:cNvSpPr/>
          <p:nvPr/>
        </p:nvSpPr>
        <p:spPr>
          <a:xfrm>
            <a:off x="685800" y="3337560"/>
            <a:ext cx="411480" cy="411480"/>
          </a:xfrm>
          <a:prstGeom prst="ellipse">
            <a:avLst/>
          </a:prstGeom>
          <a:solidFill>
            <a:schemeClr val="accent1"/>
          </a:solidFill>
          <a:ln/>
        </p:spPr>
      </p:sp>
      <p:pic>
        <p:nvPicPr>
          <p:cNvPr id="14" name="g0_im" descr="ícone">    </p:cNvPr>
          <p:cNvPicPr>
            <a:picLocks noChangeAspect="1"/>
          </p:cNvPicPr>
          <p:nvPr/>
        </p:nvPicPr>
        <p:blipFill>
          <a:blip r:embed="rId4"/>
          <a:stretch>
            <a:fillRect/>
          </a:stretch>
        </p:blipFill>
        <p:spPr>
          <a:xfrm>
            <a:off x="784555" y="3436315"/>
            <a:ext cx="213970" cy="213970"/>
          </a:xfrm>
          <a:prstGeom prst="rect">
            <a:avLst/>
          </a:prstGeom>
        </p:spPr>
      </p:pic>
      <p:sp>
        <p:nvSpPr>
          <p:cNvPr id="15" name="g0_c2"/>
          <p:cNvSpPr txBox="1"/>
          <p:nvPr/>
        </p:nvSpPr>
        <p:spPr>
          <a:xfrm>
            <a:off x="1280160" y="3291840"/>
            <a:ext cx="3063240" cy="566928"/>
          </a:xfrm>
          <a:prstGeom prst="rect">
            <a:avLst/>
          </a:prstGeom>
          <a:noFill/>
          <a:ln/>
        </p:spPr>
        <p:txBody>
          <a:bodyPr wrap="square" lIns="0" tIns="0" rIns="0" bIns="0" rtlCol="0" anchor="t"/>
          <a:lstStyle/>
          <a:p>
            <a:pPr indent="0" marL="0">
              <a:buNone/>
            </a:pPr>
            <a:r>
              <a:rPr lang="en-US" sz="1400" b="1" dirty="0">
                <a:solidFill>
                  <a:schemeClr val="tx1"/>
                </a:solidFill>
              </a:rPr>
              <a:t>Marcação assistida</a:t>
            </a:r>
            <a:endParaRPr lang="en-US" sz="1400" dirty="0"/>
          </a:p>
          <a:p>
            <a:pPr indent="0" marL="0">
              <a:buNone/>
            </a:pPr>
            <a:r>
              <a:rPr lang="en-US" sz="1200" dirty="0">
                <a:solidFill>
                  <a:schemeClr val="accent5"/>
                </a:solidFill>
              </a:rPr>
              <a:t>O balcão de apoio marca por quem não tem telemóvel</a:t>
            </a:r>
            <a:endParaRPr lang="en-US" sz="1400" dirty="0"/>
          </a:p>
        </p:txBody>
      </p:sp>
      <p:sp>
        <p:nvSpPr>
          <p:cNvPr id="16" name="g0_ic"/>
          <p:cNvSpPr/>
          <p:nvPr/>
        </p:nvSpPr>
        <p:spPr>
          <a:xfrm>
            <a:off x="685800" y="3977640"/>
            <a:ext cx="411480" cy="411480"/>
          </a:xfrm>
          <a:prstGeom prst="ellipse">
            <a:avLst/>
          </a:prstGeom>
          <a:solidFill>
            <a:schemeClr val="accent2"/>
          </a:solidFill>
          <a:ln/>
        </p:spPr>
      </p:sp>
      <p:pic>
        <p:nvPicPr>
          <p:cNvPr id="17" name="g0_im" descr="ícone">    </p:cNvPr>
          <p:cNvPicPr>
            <a:picLocks noChangeAspect="1"/>
          </p:cNvPicPr>
          <p:nvPr/>
        </p:nvPicPr>
        <p:blipFill>
          <a:blip r:embed="rId5"/>
          <a:stretch>
            <a:fillRect/>
          </a:stretch>
        </p:blipFill>
        <p:spPr>
          <a:xfrm>
            <a:off x="784555" y="4076395"/>
            <a:ext cx="213970" cy="213970"/>
          </a:xfrm>
          <a:prstGeom prst="rect">
            <a:avLst/>
          </a:prstGeom>
        </p:spPr>
      </p:pic>
      <p:sp>
        <p:nvSpPr>
          <p:cNvPr id="18" name="g0_c3"/>
          <p:cNvSpPr txBox="1"/>
          <p:nvPr/>
        </p:nvSpPr>
        <p:spPr>
          <a:xfrm>
            <a:off x="1280160" y="3931920"/>
            <a:ext cx="3063240" cy="566928"/>
          </a:xfrm>
          <a:prstGeom prst="rect">
            <a:avLst/>
          </a:prstGeom>
          <a:noFill/>
          <a:ln/>
        </p:spPr>
        <p:txBody>
          <a:bodyPr wrap="square" lIns="0" tIns="0" rIns="0" bIns="0" rtlCol="0" anchor="t"/>
          <a:lstStyle/>
          <a:p>
            <a:pPr indent="0" marL="0">
              <a:buNone/>
            </a:pPr>
            <a:r>
              <a:rPr lang="en-US" sz="1400" b="1" dirty="0">
                <a:solidFill>
                  <a:schemeClr val="tx1"/>
                </a:solidFill>
              </a:rPr>
              <a:t>USSD (fase seguinte)</a:t>
            </a:r>
            <a:endParaRPr lang="en-US" sz="1400" dirty="0"/>
          </a:p>
          <a:p>
            <a:pPr indent="0" marL="0">
              <a:buNone/>
            </a:pPr>
            <a:r>
              <a:rPr lang="en-US" sz="1200" dirty="0">
                <a:solidFill>
                  <a:schemeClr val="accent5"/>
                </a:solidFill>
              </a:rPr>
              <a:t>Código no telemóvel, sem internet; exige acordo com operadoras</a:t>
            </a:r>
            <a:endParaRPr lang="en-US" sz="1400" dirty="0"/>
          </a:p>
        </p:txBody>
      </p:sp>
      <p:sp>
        <p:nvSpPr>
          <p:cNvPr id="19" name="g1_card"/>
          <p:cNvSpPr/>
          <p:nvPr/>
        </p:nvSpPr>
        <p:spPr>
          <a:xfrm>
            <a:off x="4663440" y="1188720"/>
            <a:ext cx="4023360" cy="3429000"/>
          </a:xfrm>
          <a:prstGeom prst="roundRect">
            <a:avLst>
              <a:gd name="adj" fmla="val 3200"/>
            </a:avLst>
          </a:prstGeom>
          <a:solidFill>
            <a:schemeClr val="bg2"/>
          </a:solidFill>
          <a:ln/>
          <a:effectLst>
            <a:outerShdw sx="100000" sy="100000" kx="0" ky="0" algn="bl" rotWithShape="0" blurRad="101600" dist="25400" dir="5400000">
              <a:srgbClr val="000000">
                <a:alpha val="10000"/>
              </a:srgbClr>
            </a:outerShdw>
          </a:effectLst>
        </p:spPr>
      </p:sp>
      <p:sp>
        <p:nvSpPr>
          <p:cNvPr id="20" name="g1_ic"/>
          <p:cNvSpPr/>
          <p:nvPr/>
        </p:nvSpPr>
        <p:spPr>
          <a:xfrm>
            <a:off x="4892040" y="1371600"/>
            <a:ext cx="457200" cy="457200"/>
          </a:xfrm>
          <a:prstGeom prst="ellipse">
            <a:avLst/>
          </a:prstGeom>
          <a:solidFill>
            <a:schemeClr val="accent1"/>
          </a:solidFill>
          <a:ln/>
        </p:spPr>
      </p:sp>
      <p:pic>
        <p:nvPicPr>
          <p:cNvPr id="21" name="g1_im" descr="ícone">    </p:cNvPr>
          <p:cNvPicPr>
            <a:picLocks noChangeAspect="1"/>
          </p:cNvPicPr>
          <p:nvPr/>
        </p:nvPicPr>
        <p:blipFill>
          <a:blip r:embed="rId6"/>
          <a:stretch>
            <a:fillRect/>
          </a:stretch>
        </p:blipFill>
        <p:spPr>
          <a:xfrm>
            <a:off x="5001768" y="1481328"/>
            <a:ext cx="237744" cy="237744"/>
          </a:xfrm>
          <a:prstGeom prst="rect">
            <a:avLst/>
          </a:prstGeom>
        </p:spPr>
      </p:pic>
      <p:sp>
        <p:nvSpPr>
          <p:cNvPr id="22" name="g1_h"/>
          <p:cNvSpPr txBox="1"/>
          <p:nvPr/>
        </p:nvSpPr>
        <p:spPr>
          <a:xfrm>
            <a:off x="5486400" y="137160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Proteger os dados</a:t>
            </a:r>
            <a:endParaRPr lang="en-US" sz="1800" dirty="0"/>
          </a:p>
        </p:txBody>
      </p:sp>
      <p:sp>
        <p:nvSpPr>
          <p:cNvPr id="23" name="g1_ck0"/>
          <p:cNvSpPr/>
          <p:nvPr/>
        </p:nvSpPr>
        <p:spPr>
          <a:xfrm>
            <a:off x="4937760" y="2048256"/>
            <a:ext cx="237744" cy="237744"/>
          </a:xfrm>
          <a:prstGeom prst="ellipse">
            <a:avLst/>
          </a:prstGeom>
          <a:solidFill>
            <a:schemeClr val="accent4"/>
          </a:solidFill>
          <a:ln/>
        </p:spPr>
      </p:sp>
      <p:pic>
        <p:nvPicPr>
          <p:cNvPr id="24" name="g1_ci0" descr="visto">    </p:cNvPr>
          <p:cNvPicPr>
            <a:picLocks noChangeAspect="1"/>
          </p:cNvPicPr>
          <p:nvPr/>
        </p:nvPicPr>
        <p:blipFill>
          <a:blip r:embed="rId7"/>
          <a:stretch>
            <a:fillRect/>
          </a:stretch>
        </p:blipFill>
        <p:spPr>
          <a:xfrm>
            <a:off x="4997196" y="2107692"/>
            <a:ext cx="118872" cy="118872"/>
          </a:xfrm>
          <a:prstGeom prst="rect">
            <a:avLst/>
          </a:prstGeom>
        </p:spPr>
      </p:pic>
      <p:sp>
        <p:nvSpPr>
          <p:cNvPr id="25" name="g1_t0"/>
          <p:cNvSpPr txBox="1"/>
          <p:nvPr/>
        </p:nvSpPr>
        <p:spPr>
          <a:xfrm>
            <a:off x="5349240" y="2011680"/>
            <a:ext cx="3200400" cy="310896"/>
          </a:xfrm>
          <a:prstGeom prst="rect">
            <a:avLst/>
          </a:prstGeom>
          <a:noFill/>
          <a:ln/>
        </p:spPr>
        <p:txBody>
          <a:bodyPr wrap="square" lIns="0" tIns="0" rIns="0" bIns="0" rtlCol="0" anchor="ctr"/>
          <a:lstStyle/>
          <a:p>
            <a:pPr indent="0" marL="0">
              <a:buNone/>
            </a:pPr>
            <a:r>
              <a:rPr lang="en-US" sz="1300" dirty="0">
                <a:solidFill>
                  <a:schemeClr val="tx1"/>
                </a:solidFill>
              </a:rPr>
              <a:t>HTTPS em todo o lado</a:t>
            </a:r>
            <a:endParaRPr lang="en-US" sz="1300" dirty="0"/>
          </a:p>
        </p:txBody>
      </p:sp>
      <p:sp>
        <p:nvSpPr>
          <p:cNvPr id="26" name="g1_ck1"/>
          <p:cNvSpPr/>
          <p:nvPr/>
        </p:nvSpPr>
        <p:spPr>
          <a:xfrm>
            <a:off x="4937760" y="2423160"/>
            <a:ext cx="237744" cy="237744"/>
          </a:xfrm>
          <a:prstGeom prst="ellipse">
            <a:avLst/>
          </a:prstGeom>
          <a:solidFill>
            <a:schemeClr val="accent4"/>
          </a:solidFill>
          <a:ln/>
        </p:spPr>
      </p:sp>
      <p:pic>
        <p:nvPicPr>
          <p:cNvPr id="27" name="g1_ci1" descr="visto">    </p:cNvPr>
          <p:cNvPicPr>
            <a:picLocks noChangeAspect="1"/>
          </p:cNvPicPr>
          <p:nvPr/>
        </p:nvPicPr>
        <p:blipFill>
          <a:blip r:embed="rId8"/>
          <a:stretch>
            <a:fillRect/>
          </a:stretch>
        </p:blipFill>
        <p:spPr>
          <a:xfrm>
            <a:off x="4997196" y="2482596"/>
            <a:ext cx="118872" cy="118872"/>
          </a:xfrm>
          <a:prstGeom prst="rect">
            <a:avLst/>
          </a:prstGeom>
        </p:spPr>
      </p:pic>
      <p:sp>
        <p:nvSpPr>
          <p:cNvPr id="28" name="g1_t1"/>
          <p:cNvSpPr txBox="1"/>
          <p:nvPr/>
        </p:nvSpPr>
        <p:spPr>
          <a:xfrm>
            <a:off x="5349240" y="2386584"/>
            <a:ext cx="3200400" cy="310896"/>
          </a:xfrm>
          <a:prstGeom prst="rect">
            <a:avLst/>
          </a:prstGeom>
          <a:noFill/>
          <a:ln/>
        </p:spPr>
        <p:txBody>
          <a:bodyPr wrap="square" lIns="0" tIns="0" rIns="0" bIns="0" rtlCol="0" anchor="ctr"/>
          <a:lstStyle/>
          <a:p>
            <a:pPr indent="0" marL="0">
              <a:buNone/>
            </a:pPr>
            <a:r>
              <a:rPr lang="en-US" sz="1300" dirty="0">
                <a:solidFill>
                  <a:schemeClr val="tx1"/>
                </a:solidFill>
              </a:rPr>
              <a:t>Palavras-passe cifradas (hash)</a:t>
            </a:r>
            <a:endParaRPr lang="en-US" sz="1300" dirty="0"/>
          </a:p>
        </p:txBody>
      </p:sp>
      <p:sp>
        <p:nvSpPr>
          <p:cNvPr id="29" name="g1_ck2"/>
          <p:cNvSpPr/>
          <p:nvPr/>
        </p:nvSpPr>
        <p:spPr>
          <a:xfrm>
            <a:off x="4937760" y="2798064"/>
            <a:ext cx="237744" cy="237744"/>
          </a:xfrm>
          <a:prstGeom prst="ellipse">
            <a:avLst/>
          </a:prstGeom>
          <a:solidFill>
            <a:schemeClr val="accent4"/>
          </a:solidFill>
          <a:ln/>
        </p:spPr>
      </p:sp>
      <p:pic>
        <p:nvPicPr>
          <p:cNvPr id="30" name="g1_ci2" descr="visto">    </p:cNvPr>
          <p:cNvPicPr>
            <a:picLocks noChangeAspect="1"/>
          </p:cNvPicPr>
          <p:nvPr/>
        </p:nvPicPr>
        <p:blipFill>
          <a:blip r:embed="rId9"/>
          <a:stretch>
            <a:fillRect/>
          </a:stretch>
        </p:blipFill>
        <p:spPr>
          <a:xfrm>
            <a:off x="4997196" y="2857500"/>
            <a:ext cx="118872" cy="118872"/>
          </a:xfrm>
          <a:prstGeom prst="rect">
            <a:avLst/>
          </a:prstGeom>
        </p:spPr>
      </p:pic>
      <p:sp>
        <p:nvSpPr>
          <p:cNvPr id="31" name="g1_t2"/>
          <p:cNvSpPr txBox="1"/>
          <p:nvPr/>
        </p:nvSpPr>
        <p:spPr>
          <a:xfrm>
            <a:off x="5349240" y="2761488"/>
            <a:ext cx="3200400" cy="310896"/>
          </a:xfrm>
          <a:prstGeom prst="rect">
            <a:avLst/>
          </a:prstGeom>
          <a:noFill/>
          <a:ln/>
        </p:spPr>
        <p:txBody>
          <a:bodyPr wrap="square" lIns="0" tIns="0" rIns="0" bIns="0" rtlCol="0" anchor="ctr"/>
          <a:lstStyle/>
          <a:p>
            <a:pPr indent="0" marL="0">
              <a:buNone/>
            </a:pPr>
            <a:r>
              <a:rPr lang="en-US" sz="1300" dirty="0">
                <a:solidFill>
                  <a:schemeClr val="tx1"/>
                </a:solidFill>
              </a:rPr>
              <a:t>Perfis com permissões diferentes</a:t>
            </a:r>
            <a:endParaRPr lang="en-US" sz="1300" dirty="0"/>
          </a:p>
        </p:txBody>
      </p:sp>
      <p:sp>
        <p:nvSpPr>
          <p:cNvPr id="32" name="g1_ck3"/>
          <p:cNvSpPr/>
          <p:nvPr/>
        </p:nvSpPr>
        <p:spPr>
          <a:xfrm>
            <a:off x="4937760" y="3172968"/>
            <a:ext cx="237744" cy="237744"/>
          </a:xfrm>
          <a:prstGeom prst="ellipse">
            <a:avLst/>
          </a:prstGeom>
          <a:solidFill>
            <a:schemeClr val="accent4"/>
          </a:solidFill>
          <a:ln/>
        </p:spPr>
      </p:sp>
      <p:pic>
        <p:nvPicPr>
          <p:cNvPr id="33" name="g1_ci3" descr="visto">    </p:cNvPr>
          <p:cNvPicPr>
            <a:picLocks noChangeAspect="1"/>
          </p:cNvPicPr>
          <p:nvPr/>
        </p:nvPicPr>
        <p:blipFill>
          <a:blip r:embed="rId10"/>
          <a:stretch>
            <a:fillRect/>
          </a:stretch>
        </p:blipFill>
        <p:spPr>
          <a:xfrm>
            <a:off x="4997196" y="3232404"/>
            <a:ext cx="118872" cy="118872"/>
          </a:xfrm>
          <a:prstGeom prst="rect">
            <a:avLst/>
          </a:prstGeom>
        </p:spPr>
      </p:pic>
      <p:sp>
        <p:nvSpPr>
          <p:cNvPr id="34" name="g1_t3"/>
          <p:cNvSpPr txBox="1"/>
          <p:nvPr/>
        </p:nvSpPr>
        <p:spPr>
          <a:xfrm>
            <a:off x="5349240" y="3136392"/>
            <a:ext cx="3200400" cy="310896"/>
          </a:xfrm>
          <a:prstGeom prst="rect">
            <a:avLst/>
          </a:prstGeom>
          <a:noFill/>
          <a:ln/>
        </p:spPr>
        <p:txBody>
          <a:bodyPr wrap="square" lIns="0" tIns="0" rIns="0" bIns="0" rtlCol="0" anchor="ctr"/>
          <a:lstStyle/>
          <a:p>
            <a:pPr indent="0" marL="0">
              <a:buNone/>
            </a:pPr>
            <a:r>
              <a:rPr lang="en-US" sz="1300" dirty="0">
                <a:solidFill>
                  <a:schemeClr val="tx1"/>
                </a:solidFill>
              </a:rPr>
              <a:t>Telemóvel confirmado e limite por pessoa</a:t>
            </a:r>
            <a:endParaRPr lang="en-US" sz="1300" dirty="0"/>
          </a:p>
        </p:txBody>
      </p:sp>
      <p:sp>
        <p:nvSpPr>
          <p:cNvPr id="35" name="g1_ck4"/>
          <p:cNvSpPr/>
          <p:nvPr/>
        </p:nvSpPr>
        <p:spPr>
          <a:xfrm>
            <a:off x="4937760" y="3547872"/>
            <a:ext cx="237744" cy="237744"/>
          </a:xfrm>
          <a:prstGeom prst="ellipse">
            <a:avLst/>
          </a:prstGeom>
          <a:solidFill>
            <a:schemeClr val="accent4"/>
          </a:solidFill>
          <a:ln/>
        </p:spPr>
      </p:sp>
      <p:pic>
        <p:nvPicPr>
          <p:cNvPr id="36" name="g1_ci4" descr="visto">    </p:cNvPr>
          <p:cNvPicPr>
            <a:picLocks noChangeAspect="1"/>
          </p:cNvPicPr>
          <p:nvPr/>
        </p:nvPicPr>
        <p:blipFill>
          <a:blip r:embed="rId11"/>
          <a:stretch>
            <a:fillRect/>
          </a:stretch>
        </p:blipFill>
        <p:spPr>
          <a:xfrm>
            <a:off x="4997196" y="3607308"/>
            <a:ext cx="118872" cy="118872"/>
          </a:xfrm>
          <a:prstGeom prst="rect">
            <a:avLst/>
          </a:prstGeom>
        </p:spPr>
      </p:pic>
      <p:sp>
        <p:nvSpPr>
          <p:cNvPr id="37" name="g1_t4"/>
          <p:cNvSpPr txBox="1"/>
          <p:nvPr/>
        </p:nvSpPr>
        <p:spPr>
          <a:xfrm>
            <a:off x="5349240" y="3511296"/>
            <a:ext cx="3200400" cy="310896"/>
          </a:xfrm>
          <a:prstGeom prst="rect">
            <a:avLst/>
          </a:prstGeom>
          <a:noFill/>
          <a:ln/>
        </p:spPr>
        <p:txBody>
          <a:bodyPr wrap="square" lIns="0" tIns="0" rIns="0" bIns="0" rtlCol="0" anchor="ctr"/>
          <a:lstStyle/>
          <a:p>
            <a:pPr indent="0" marL="0">
              <a:buNone/>
            </a:pPr>
            <a:r>
              <a:rPr lang="en-US" sz="1300" dirty="0">
                <a:solidFill>
                  <a:schemeClr val="tx1"/>
                </a:solidFill>
              </a:rPr>
              <a:t>Dados mínimos, segundo a Lei 22/11</a:t>
            </a:r>
            <a:endParaRPr lang="en-US" sz="1300" dirty="0"/>
          </a:p>
        </p:txBody>
      </p:sp>
      <p:sp>
        <p:nvSpPr>
          <p:cNvPr id="38" name="g1_ck5"/>
          <p:cNvSpPr/>
          <p:nvPr/>
        </p:nvSpPr>
        <p:spPr>
          <a:xfrm>
            <a:off x="4937760" y="3922776"/>
            <a:ext cx="237744" cy="237744"/>
          </a:xfrm>
          <a:prstGeom prst="ellipse">
            <a:avLst/>
          </a:prstGeom>
          <a:solidFill>
            <a:schemeClr val="accent4"/>
          </a:solidFill>
          <a:ln/>
        </p:spPr>
      </p:sp>
      <p:pic>
        <p:nvPicPr>
          <p:cNvPr id="39" name="g1_ci5" descr="visto">    </p:cNvPr>
          <p:cNvPicPr>
            <a:picLocks noChangeAspect="1"/>
          </p:cNvPicPr>
          <p:nvPr/>
        </p:nvPicPr>
        <p:blipFill>
          <a:blip r:embed="rId12"/>
          <a:stretch>
            <a:fillRect/>
          </a:stretch>
        </p:blipFill>
        <p:spPr>
          <a:xfrm>
            <a:off x="4997196" y="3982212"/>
            <a:ext cx="118872" cy="118872"/>
          </a:xfrm>
          <a:prstGeom prst="rect">
            <a:avLst/>
          </a:prstGeom>
        </p:spPr>
      </p:pic>
      <p:sp>
        <p:nvSpPr>
          <p:cNvPr id="40" name="g1_t5"/>
          <p:cNvSpPr txBox="1"/>
          <p:nvPr/>
        </p:nvSpPr>
        <p:spPr>
          <a:xfrm>
            <a:off x="5349240" y="3886200"/>
            <a:ext cx="3200400" cy="310896"/>
          </a:xfrm>
          <a:prstGeom prst="rect">
            <a:avLst/>
          </a:prstGeom>
          <a:noFill/>
          <a:ln/>
        </p:spPr>
        <p:txBody>
          <a:bodyPr wrap="square" lIns="0" tIns="0" rIns="0" bIns="0" rtlCol="0" anchor="ctr"/>
          <a:lstStyle/>
          <a:p>
            <a:pPr indent="0" marL="0">
              <a:buNone/>
            </a:pPr>
            <a:r>
              <a:rPr lang="en-US" sz="1300" dirty="0">
                <a:solidFill>
                  <a:schemeClr val="tx1"/>
                </a:solidFill>
              </a:rPr>
              <a:t>Registo de acções e backups</a:t>
            </a:r>
            <a:endParaRPr lang="en-US" sz="1300" dirty="0"/>
          </a:p>
        </p:txBody>
      </p:sp>
      <p:sp>
        <p:nvSpPr>
          <p:cNvPr id="41" name="g1_ck6"/>
          <p:cNvSpPr/>
          <p:nvPr/>
        </p:nvSpPr>
        <p:spPr>
          <a:xfrm>
            <a:off x="4937760" y="4297680"/>
            <a:ext cx="237744" cy="237744"/>
          </a:xfrm>
          <a:prstGeom prst="ellipse">
            <a:avLst/>
          </a:prstGeom>
          <a:solidFill>
            <a:schemeClr val="accent4"/>
          </a:solidFill>
          <a:ln/>
        </p:spPr>
      </p:sp>
      <p:pic>
        <p:nvPicPr>
          <p:cNvPr id="42" name="g1_ci6" descr="visto">    </p:cNvPr>
          <p:cNvPicPr>
            <a:picLocks noChangeAspect="1"/>
          </p:cNvPicPr>
          <p:nvPr/>
        </p:nvPicPr>
        <p:blipFill>
          <a:blip r:embed="rId13"/>
          <a:stretch>
            <a:fillRect/>
          </a:stretch>
        </p:blipFill>
        <p:spPr>
          <a:xfrm>
            <a:off x="4997196" y="4357116"/>
            <a:ext cx="118872" cy="118872"/>
          </a:xfrm>
          <a:prstGeom prst="rect">
            <a:avLst/>
          </a:prstGeom>
        </p:spPr>
      </p:pic>
      <p:sp>
        <p:nvSpPr>
          <p:cNvPr id="43" name="g1_t6"/>
          <p:cNvSpPr txBox="1"/>
          <p:nvPr/>
        </p:nvSpPr>
        <p:spPr>
          <a:xfrm>
            <a:off x="5349240" y="4261104"/>
            <a:ext cx="3200400" cy="310896"/>
          </a:xfrm>
          <a:prstGeom prst="rect">
            <a:avLst/>
          </a:prstGeom>
          <a:noFill/>
          <a:ln/>
        </p:spPr>
        <p:txBody>
          <a:bodyPr wrap="square" lIns="0" tIns="0" rIns="0" bIns="0" rtlCol="0" anchor="ctr"/>
          <a:lstStyle/>
          <a:p>
            <a:pPr indent="0" marL="0">
              <a:buNone/>
            </a:pPr>
            <a:r>
              <a:rPr lang="en-US" sz="1300" dirty="0">
                <a:solidFill>
                  <a:schemeClr val="tx1"/>
                </a:solidFill>
              </a:rPr>
              <a:t>Alojamento em Angola (a confirmar)</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2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22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22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nodeType="withEffect">
                                  <p:stCondLst>
                                    <p:cond delay="22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22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22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nodeType="withEffect">
                                  <p:stCondLst>
                                    <p:cond delay="22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22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grpId="0" nodeType="withEffect">
                                  <p:stCondLst>
                                    <p:cond delay="22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nodeType="withEffect">
                                  <p:stCondLst>
                                    <p:cond delay="22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22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grpId="0" nodeType="withEffect">
                                  <p:stCondLst>
                                    <p:cond delay="22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nodeType="withEffect">
                                  <p:stCondLst>
                                    <p:cond delay="22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par>
                                <p:cTn id="88" presetID="10" presetClass="entr" presetSubtype="0" fill="hold" grpId="0" nodeType="withEffect">
                                  <p:stCondLst>
                                    <p:cond delay="22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50"/>
                                        <p:tgtEl>
                                          <p:spTgt spid="31"/>
                                        </p:tgtEl>
                                      </p:cBhvr>
                                    </p:animEffect>
                                  </p:childTnLst>
                                </p:cTn>
                              </p:par>
                              <p:par>
                                <p:cTn id="91" presetID="10" presetClass="entr" presetSubtype="0" fill="hold" grpId="0" nodeType="withEffect">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50"/>
                                        <p:tgtEl>
                                          <p:spTgt spid="32"/>
                                        </p:tgtEl>
                                      </p:cBhvr>
                                    </p:animEffect>
                                  </p:childTnLst>
                                </p:cTn>
                              </p:par>
                              <p:par>
                                <p:cTn id="94" presetID="10" presetClass="entr" presetSubtype="0" fill="hold" nodeType="withEffect">
                                  <p:stCondLst>
                                    <p:cond delay="22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50"/>
                                        <p:tgtEl>
                                          <p:spTgt spid="33"/>
                                        </p:tgtEl>
                                      </p:cBhvr>
                                    </p:animEffect>
                                  </p:childTnLst>
                                </p:cTn>
                              </p:par>
                              <p:par>
                                <p:cTn id="97" presetID="10" presetClass="entr" presetSubtype="0" fill="hold" grpId="0" nodeType="withEffect">
                                  <p:stCondLst>
                                    <p:cond delay="22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grpId="0" nodeType="withEffect">
                                  <p:stCondLst>
                                    <p:cond delay="22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nodeType="withEffect">
                                  <p:stCondLst>
                                    <p:cond delay="22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par>
                                <p:cTn id="106" presetID="10" presetClass="entr" presetSubtype="0" fill="hold" grpId="0" nodeType="withEffect">
                                  <p:stCondLst>
                                    <p:cond delay="22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22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par>
                                <p:cTn id="112" presetID="10" presetClass="entr" presetSubtype="0" fill="hold" nodeType="withEffect">
                                  <p:stCondLst>
                                    <p:cond delay="22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50"/>
                                        <p:tgtEl>
                                          <p:spTgt spid="39"/>
                                        </p:tgtEl>
                                      </p:cBhvr>
                                    </p:animEffect>
                                  </p:childTnLst>
                                </p:cTn>
                              </p:par>
                              <p:par>
                                <p:cTn id="115" presetID="10" presetClass="entr" presetSubtype="0" fill="hold" grpId="0" nodeType="withEffect">
                                  <p:stCondLst>
                                    <p:cond delay="22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50"/>
                                        <p:tgtEl>
                                          <p:spTgt spid="40"/>
                                        </p:tgtEl>
                                      </p:cBhvr>
                                    </p:animEffect>
                                  </p:childTnLst>
                                </p:cTn>
                              </p:par>
                              <p:par>
                                <p:cTn id="118" presetID="10" presetClass="entr" presetSubtype="0" fill="hold" grpId="0" nodeType="withEffect">
                                  <p:stCondLst>
                                    <p:cond delay="22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450"/>
                                        <p:tgtEl>
                                          <p:spTgt spid="41"/>
                                        </p:tgtEl>
                                      </p:cBhvr>
                                    </p:animEffect>
                                  </p:childTnLst>
                                </p:cTn>
                              </p:par>
                              <p:par>
                                <p:cTn id="121" presetID="10" presetClass="entr" presetSubtype="0" fill="hold" nodeType="withEffect">
                                  <p:stCondLst>
                                    <p:cond delay="22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450"/>
                                        <p:tgtEl>
                                          <p:spTgt spid="42"/>
                                        </p:tgtEl>
                                      </p:cBhvr>
                                    </p:animEffect>
                                  </p:childTnLst>
                                </p:cTn>
                              </p:par>
                              <p:par>
                                <p:cTn id="124" presetID="10" presetClass="entr" presetSubtype="0" fill="hold" grpId="0" nodeType="withEffect">
                                  <p:stCondLst>
                                    <p:cond delay="22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4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Sustentabilidade, custos e fases</a:t>
            </a:r>
            <a:endParaRPr lang="en-US" sz="3000" dirty="0"/>
          </a:p>
        </p:txBody>
      </p:sp>
      <p:sp>
        <p:nvSpPr>
          <p:cNvPr id="3" name="g0_card"/>
          <p:cNvSpPr/>
          <p:nvPr/>
        </p:nvSpPr>
        <p:spPr>
          <a:xfrm>
            <a:off x="457200" y="11887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4" name="g0_ic"/>
          <p:cNvSpPr/>
          <p:nvPr/>
        </p:nvSpPr>
        <p:spPr>
          <a:xfrm>
            <a:off x="594360" y="1325880"/>
            <a:ext cx="502920" cy="502920"/>
          </a:xfrm>
          <a:prstGeom prst="ellipse">
            <a:avLst/>
          </a:prstGeom>
          <a:solidFill>
            <a:schemeClr val="accent2"/>
          </a:solidFill>
          <a:ln/>
        </p:spPr>
      </p:sp>
      <p:pic>
        <p:nvPicPr>
          <p:cNvPr id="5" name="g0_im" descr="ícone">    </p:cNvPr>
          <p:cNvPicPr>
            <a:picLocks noChangeAspect="1"/>
          </p:cNvPicPr>
          <p:nvPr/>
        </p:nvPicPr>
        <p:blipFill>
          <a:blip r:embed="rId1"/>
          <a:stretch>
            <a:fillRect/>
          </a:stretch>
        </p:blipFill>
        <p:spPr>
          <a:xfrm>
            <a:off x="715061" y="1446581"/>
            <a:ext cx="261518" cy="261518"/>
          </a:xfrm>
          <a:prstGeom prst="rect">
            <a:avLst/>
          </a:prstGeom>
        </p:spPr>
      </p:pic>
      <p:sp>
        <p:nvSpPr>
          <p:cNvPr id="6" name="g0_h"/>
          <p:cNvSpPr txBox="1"/>
          <p:nvPr/>
        </p:nvSpPr>
        <p:spPr>
          <a:xfrm>
            <a:off x="1234440" y="13167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Técnica</a:t>
            </a:r>
            <a:endParaRPr lang="en-US" sz="1500" dirty="0"/>
          </a:p>
        </p:txBody>
      </p:sp>
      <p:sp>
        <p:nvSpPr>
          <p:cNvPr id="7" name="g0_s"/>
          <p:cNvSpPr txBox="1"/>
          <p:nvPr/>
        </p:nvSpPr>
        <p:spPr>
          <a:xfrm>
            <a:off x="1234440" y="15910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Quem mantém</a:t>
            </a:r>
            <a:endParaRPr lang="en-US" sz="1100" dirty="0"/>
          </a:p>
        </p:txBody>
      </p:sp>
      <p:sp>
        <p:nvSpPr>
          <p:cNvPr id="8" name="g0_t"/>
          <p:cNvSpPr txBox="1"/>
          <p:nvPr/>
        </p:nvSpPr>
        <p:spPr>
          <a:xfrm>
            <a:off x="594360" y="1965960"/>
            <a:ext cx="2395728" cy="640080"/>
          </a:xfrm>
          <a:prstGeom prst="rect">
            <a:avLst/>
          </a:prstGeom>
          <a:noFill/>
          <a:ln/>
        </p:spPr>
        <p:txBody>
          <a:bodyPr wrap="square" lIns="0" tIns="0" rIns="0" bIns="0" rtlCol="0" anchor="t"/>
          <a:lstStyle/>
          <a:p>
            <a:pPr indent="0" marL="0">
              <a:buNone/>
            </a:pPr>
            <a:r>
              <a:rPr lang="en-US" sz="1250" dirty="0">
                <a:solidFill>
                  <a:schemeClr val="tx1"/>
                </a:solidFill>
              </a:rPr>
              <a:t>Tecnologias abertas e comuns, código documentado e acesso para duas ou mais pessoas</a:t>
            </a:r>
            <a:endParaRPr lang="en-US" sz="1250" dirty="0"/>
          </a:p>
        </p:txBody>
      </p:sp>
      <p:sp>
        <p:nvSpPr>
          <p:cNvPr id="9" name="g1_card"/>
          <p:cNvSpPr/>
          <p:nvPr/>
        </p:nvSpPr>
        <p:spPr>
          <a:xfrm>
            <a:off x="3246120" y="11887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10" name="g1_ic"/>
          <p:cNvSpPr/>
          <p:nvPr/>
        </p:nvSpPr>
        <p:spPr>
          <a:xfrm>
            <a:off x="3383280" y="1325880"/>
            <a:ext cx="502920" cy="502920"/>
          </a:xfrm>
          <a:prstGeom prst="ellipse">
            <a:avLst/>
          </a:prstGeom>
          <a:solidFill>
            <a:schemeClr val="accent1"/>
          </a:solidFill>
          <a:ln/>
        </p:spPr>
      </p:sp>
      <p:pic>
        <p:nvPicPr>
          <p:cNvPr id="11" name="g1_im" descr="ícone">    </p:cNvPr>
          <p:cNvPicPr>
            <a:picLocks noChangeAspect="1"/>
          </p:cNvPicPr>
          <p:nvPr/>
        </p:nvPicPr>
        <p:blipFill>
          <a:blip r:embed="rId9"/>
          <a:stretch>
            <a:fillRect/>
          </a:stretch>
        </p:blipFill>
        <p:spPr>
          <a:xfrm>
            <a:off x="3503981" y="1446581"/>
            <a:ext cx="261518" cy="261518"/>
          </a:xfrm>
          <a:prstGeom prst="rect">
            <a:avLst/>
          </a:prstGeom>
        </p:spPr>
      </p:pic>
      <p:sp>
        <p:nvSpPr>
          <p:cNvPr id="12" name="g1_h"/>
          <p:cNvSpPr txBox="1"/>
          <p:nvPr/>
        </p:nvSpPr>
        <p:spPr>
          <a:xfrm>
            <a:off x="4023360" y="13167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Financeira</a:t>
            </a:r>
            <a:endParaRPr lang="en-US" sz="1500" dirty="0"/>
          </a:p>
        </p:txBody>
      </p:sp>
      <p:sp>
        <p:nvSpPr>
          <p:cNvPr id="13" name="g1_s"/>
          <p:cNvSpPr txBox="1"/>
          <p:nvPr/>
        </p:nvSpPr>
        <p:spPr>
          <a:xfrm>
            <a:off x="4023360" y="15910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Custos</a:t>
            </a:r>
            <a:endParaRPr lang="en-US" sz="1100" dirty="0"/>
          </a:p>
        </p:txBody>
      </p:sp>
      <p:sp>
        <p:nvSpPr>
          <p:cNvPr id="14" name="g1_t"/>
          <p:cNvSpPr txBox="1"/>
          <p:nvPr/>
        </p:nvSpPr>
        <p:spPr>
          <a:xfrm>
            <a:off x="3383280" y="1965960"/>
            <a:ext cx="2395728" cy="640080"/>
          </a:xfrm>
          <a:prstGeom prst="rect">
            <a:avLst/>
          </a:prstGeom>
          <a:noFill/>
          <a:ln/>
        </p:spPr>
        <p:txBody>
          <a:bodyPr wrap="square" lIns="0" tIns="0" rIns="0" bIns="0" rtlCol="0" anchor="t"/>
          <a:lstStyle/>
          <a:p>
            <a:pPr indent="0" marL="0">
              <a:buNone/>
            </a:pPr>
            <a:r>
              <a:rPr lang="en-US" sz="1250" dirty="0">
                <a:solidFill>
                  <a:schemeClr val="tx1"/>
                </a:solidFill>
              </a:rPr>
              <a:t>Sem licenças; alojamento, SMS e manutenção a orçamentar em kwanzas</a:t>
            </a:r>
            <a:endParaRPr lang="en-US" sz="1250" dirty="0"/>
          </a:p>
        </p:txBody>
      </p:sp>
      <p:sp>
        <p:nvSpPr>
          <p:cNvPr id="15" name="g2_card"/>
          <p:cNvSpPr/>
          <p:nvPr/>
        </p:nvSpPr>
        <p:spPr>
          <a:xfrm>
            <a:off x="6035040" y="11887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16" name="g2_ic"/>
          <p:cNvSpPr/>
          <p:nvPr/>
        </p:nvSpPr>
        <p:spPr>
          <a:xfrm>
            <a:off x="6172200" y="1325880"/>
            <a:ext cx="502920" cy="502920"/>
          </a:xfrm>
          <a:prstGeom prst="ellipse">
            <a:avLst/>
          </a:prstGeom>
          <a:solidFill>
            <a:schemeClr val="accent3"/>
          </a:solidFill>
          <a:ln/>
        </p:spPr>
      </p:sp>
      <p:pic>
        <p:nvPicPr>
          <p:cNvPr id="17" name="g2_im" descr="ícone">    </p:cNvPr>
          <p:cNvPicPr>
            <a:picLocks noChangeAspect="1"/>
          </p:cNvPicPr>
          <p:nvPr/>
        </p:nvPicPr>
        <p:blipFill>
          <a:blip r:embed="rId10"/>
          <a:stretch>
            <a:fillRect/>
          </a:stretch>
        </p:blipFill>
        <p:spPr>
          <a:xfrm>
            <a:off x="6292901" y="1446581"/>
            <a:ext cx="261518" cy="261518"/>
          </a:xfrm>
          <a:prstGeom prst="rect">
            <a:avLst/>
          </a:prstGeom>
        </p:spPr>
      </p:pic>
      <p:sp>
        <p:nvSpPr>
          <p:cNvPr id="18" name="g2_h"/>
          <p:cNvSpPr txBox="1"/>
          <p:nvPr/>
        </p:nvSpPr>
        <p:spPr>
          <a:xfrm>
            <a:off x="6812280" y="13167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Organizacional</a:t>
            </a:r>
            <a:endParaRPr lang="en-US" sz="1500" dirty="0"/>
          </a:p>
        </p:txBody>
      </p:sp>
      <p:sp>
        <p:nvSpPr>
          <p:cNvPr id="19" name="g2_s"/>
          <p:cNvSpPr txBox="1"/>
          <p:nvPr/>
        </p:nvSpPr>
        <p:spPr>
          <a:xfrm>
            <a:off x="6812280" y="15910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Quem decide</a:t>
            </a:r>
            <a:endParaRPr lang="en-US" sz="1100" dirty="0"/>
          </a:p>
        </p:txBody>
      </p:sp>
      <p:sp>
        <p:nvSpPr>
          <p:cNvPr id="20" name="g2_t"/>
          <p:cNvSpPr txBox="1"/>
          <p:nvPr/>
        </p:nvSpPr>
        <p:spPr>
          <a:xfrm>
            <a:off x="6172200" y="1965960"/>
            <a:ext cx="2395728" cy="640080"/>
          </a:xfrm>
          <a:prstGeom prst="rect">
            <a:avLst/>
          </a:prstGeom>
          <a:noFill/>
          <a:ln/>
        </p:spPr>
        <p:txBody>
          <a:bodyPr wrap="square" lIns="0" tIns="0" rIns="0" bIns="0" rtlCol="0" anchor="t"/>
          <a:lstStyle/>
          <a:p>
            <a:pPr indent="0" marL="0">
              <a:buNone/>
            </a:pPr>
            <a:r>
              <a:rPr lang="en-US" sz="1250" dirty="0">
                <a:solidFill>
                  <a:schemeClr val="tx1"/>
                </a:solidFill>
              </a:rPr>
              <a:t>Protocolo escola–SIAC, responsável no SIAC e passagem de testemunho ao fim do piloto</a:t>
            </a:r>
            <a:endParaRPr lang="en-US" sz="1250" dirty="0"/>
          </a:p>
        </p:txBody>
      </p:sp>
      <p:sp>
        <p:nvSpPr>
          <p:cNvPr id="21" name="g3_card"/>
          <p:cNvSpPr/>
          <p:nvPr/>
        </p:nvSpPr>
        <p:spPr>
          <a:xfrm>
            <a:off x="457200" y="27889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22" name="g3_ic"/>
          <p:cNvSpPr/>
          <p:nvPr/>
        </p:nvSpPr>
        <p:spPr>
          <a:xfrm>
            <a:off x="594360" y="2926080"/>
            <a:ext cx="502920" cy="502920"/>
          </a:xfrm>
          <a:prstGeom prst="ellipse">
            <a:avLst/>
          </a:prstGeom>
          <a:solidFill>
            <a:schemeClr val="accent4"/>
          </a:solidFill>
          <a:ln/>
        </p:spPr>
      </p:sp>
      <p:pic>
        <p:nvPicPr>
          <p:cNvPr id="23" name="g3_im" descr="ícone">    </p:cNvPr>
          <p:cNvPicPr>
            <a:picLocks noChangeAspect="1"/>
          </p:cNvPicPr>
          <p:nvPr/>
        </p:nvPicPr>
        <p:blipFill>
          <a:blip r:embed="rId5"/>
          <a:stretch>
            <a:fillRect/>
          </a:stretch>
        </p:blipFill>
        <p:spPr>
          <a:xfrm>
            <a:off x="715061" y="3046781"/>
            <a:ext cx="261518" cy="261518"/>
          </a:xfrm>
          <a:prstGeom prst="rect">
            <a:avLst/>
          </a:prstGeom>
        </p:spPr>
      </p:pic>
      <p:sp>
        <p:nvSpPr>
          <p:cNvPr id="24" name="g3_h"/>
          <p:cNvSpPr txBox="1"/>
          <p:nvPr/>
        </p:nvSpPr>
        <p:spPr>
          <a:xfrm>
            <a:off x="1234440" y="29169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SMS</a:t>
            </a:r>
            <a:endParaRPr lang="en-US" sz="1500" dirty="0"/>
          </a:p>
        </p:txBody>
      </p:sp>
      <p:sp>
        <p:nvSpPr>
          <p:cNvPr id="25" name="g3_s"/>
          <p:cNvSpPr txBox="1"/>
          <p:nvPr/>
        </p:nvSpPr>
        <p:spPr>
          <a:xfrm>
            <a:off x="1234440" y="31912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Maior despesa</a:t>
            </a:r>
            <a:endParaRPr lang="en-US" sz="1100" dirty="0"/>
          </a:p>
        </p:txBody>
      </p:sp>
      <p:sp>
        <p:nvSpPr>
          <p:cNvPr id="26" name="g3_t"/>
          <p:cNvSpPr txBox="1"/>
          <p:nvPr/>
        </p:nvSpPr>
        <p:spPr>
          <a:xfrm>
            <a:off x="594360" y="3566160"/>
            <a:ext cx="2395728" cy="640080"/>
          </a:xfrm>
          <a:prstGeom prst="rect">
            <a:avLst/>
          </a:prstGeom>
          <a:noFill/>
          <a:ln/>
        </p:spPr>
        <p:txBody>
          <a:bodyPr wrap="square" lIns="0" tIns="0" rIns="0" bIns="0" rtlCol="0" anchor="t"/>
          <a:lstStyle/>
          <a:p>
            <a:pPr indent="0" marL="0">
              <a:buNone/>
            </a:pPr>
            <a:r>
              <a:rPr lang="en-US" sz="1250" dirty="0">
                <a:solidFill>
                  <a:schemeClr val="tx1"/>
                </a:solidFill>
              </a:rPr>
              <a:t>Cerca de 0,035 a 0,175 euros por SMS, segundo um fornecedor internacional</a:t>
            </a:r>
            <a:endParaRPr lang="en-US" sz="1250" dirty="0"/>
          </a:p>
        </p:txBody>
      </p:sp>
      <p:sp>
        <p:nvSpPr>
          <p:cNvPr id="27" name="g4_card"/>
          <p:cNvSpPr/>
          <p:nvPr/>
        </p:nvSpPr>
        <p:spPr>
          <a:xfrm>
            <a:off x="3246120" y="27889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28" name="g4_ic"/>
          <p:cNvSpPr/>
          <p:nvPr/>
        </p:nvSpPr>
        <p:spPr>
          <a:xfrm>
            <a:off x="3383280" y="2926080"/>
            <a:ext cx="502920" cy="502920"/>
          </a:xfrm>
          <a:prstGeom prst="ellipse">
            <a:avLst/>
          </a:prstGeom>
          <a:solidFill>
            <a:schemeClr val="accent5"/>
          </a:solidFill>
          <a:ln/>
        </p:spPr>
      </p:sp>
      <p:pic>
        <p:nvPicPr>
          <p:cNvPr id="29" name="g4_im" descr="ícone">    </p:cNvPr>
          <p:cNvPicPr>
            <a:picLocks noChangeAspect="1"/>
          </p:cNvPicPr>
          <p:nvPr/>
        </p:nvPicPr>
        <p:blipFill>
          <a:blip r:embed="rId11"/>
          <a:stretch>
            <a:fillRect/>
          </a:stretch>
        </p:blipFill>
        <p:spPr>
          <a:xfrm>
            <a:off x="3503981" y="3046781"/>
            <a:ext cx="261518" cy="261518"/>
          </a:xfrm>
          <a:prstGeom prst="rect">
            <a:avLst/>
          </a:prstGeom>
        </p:spPr>
      </p:pic>
      <p:sp>
        <p:nvSpPr>
          <p:cNvPr id="30" name="g4_h"/>
          <p:cNvSpPr txBox="1"/>
          <p:nvPr/>
        </p:nvSpPr>
        <p:spPr>
          <a:xfrm>
            <a:off x="4023360" y="29169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3 fases</a:t>
            </a:r>
            <a:endParaRPr lang="en-US" sz="1500" dirty="0"/>
          </a:p>
        </p:txBody>
      </p:sp>
      <p:sp>
        <p:nvSpPr>
          <p:cNvPr id="31" name="g4_s"/>
          <p:cNvSpPr txBox="1"/>
          <p:nvPr/>
        </p:nvSpPr>
        <p:spPr>
          <a:xfrm>
            <a:off x="4023360" y="31912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Como avançar</a:t>
            </a:r>
            <a:endParaRPr lang="en-US" sz="1100" dirty="0"/>
          </a:p>
        </p:txBody>
      </p:sp>
      <p:sp>
        <p:nvSpPr>
          <p:cNvPr id="32" name="g4_t"/>
          <p:cNvSpPr txBox="1"/>
          <p:nvPr/>
        </p:nvSpPr>
        <p:spPr>
          <a:xfrm>
            <a:off x="3383280" y="3566160"/>
            <a:ext cx="2395728" cy="640080"/>
          </a:xfrm>
          <a:prstGeom prst="rect">
            <a:avLst/>
          </a:prstGeom>
          <a:noFill/>
          <a:ln/>
        </p:spPr>
        <p:txBody>
          <a:bodyPr wrap="square" lIns="0" tIns="0" rIns="0" bIns="0" rtlCol="0" anchor="t"/>
          <a:lstStyle/>
          <a:p>
            <a:pPr indent="0" marL="0">
              <a:buNone/>
            </a:pPr>
            <a:r>
              <a:rPr lang="en-US" sz="1250" dirty="0">
                <a:solidFill>
                  <a:schemeClr val="tx1"/>
                </a:solidFill>
              </a:rPr>
              <a:t>Protótipo escolar, piloto num posto, expansão e entrega</a:t>
            </a:r>
            <a:endParaRPr lang="en-US" sz="1250" dirty="0"/>
          </a:p>
        </p:txBody>
      </p:sp>
      <p:sp>
        <p:nvSpPr>
          <p:cNvPr id="33" name="g5_card"/>
          <p:cNvSpPr/>
          <p:nvPr/>
        </p:nvSpPr>
        <p:spPr>
          <a:xfrm>
            <a:off x="6035040" y="2788920"/>
            <a:ext cx="2651760" cy="1463040"/>
          </a:xfrm>
          <a:prstGeom prst="roundRect">
            <a:avLst>
              <a:gd name="adj" fmla="val 7500"/>
            </a:avLst>
          </a:prstGeom>
          <a:solidFill>
            <a:schemeClr val="bg2"/>
          </a:solidFill>
          <a:ln/>
          <a:effectLst>
            <a:outerShdw sx="100000" sy="100000" kx="0" ky="0" algn="bl" rotWithShape="0" blurRad="101600" dist="25400" dir="5400000">
              <a:srgbClr val="000000">
                <a:alpha val="10000"/>
              </a:srgbClr>
            </a:outerShdw>
          </a:effectLst>
        </p:spPr>
      </p:sp>
      <p:sp>
        <p:nvSpPr>
          <p:cNvPr id="34" name="g5_ic"/>
          <p:cNvSpPr/>
          <p:nvPr/>
        </p:nvSpPr>
        <p:spPr>
          <a:xfrm>
            <a:off x="6172200" y="2926080"/>
            <a:ext cx="502920" cy="502920"/>
          </a:xfrm>
          <a:prstGeom prst="ellipse">
            <a:avLst/>
          </a:prstGeom>
          <a:solidFill>
            <a:schemeClr val="tx1"/>
          </a:solidFill>
          <a:ln/>
        </p:spPr>
      </p:sp>
      <p:pic>
        <p:nvPicPr>
          <p:cNvPr id="35" name="g5_im" descr="ícone">    </p:cNvPr>
          <p:cNvPicPr>
            <a:picLocks noChangeAspect="1"/>
          </p:cNvPicPr>
          <p:nvPr/>
        </p:nvPicPr>
        <p:blipFill>
          <a:blip r:embed="rId12"/>
          <a:stretch>
            <a:fillRect/>
          </a:stretch>
        </p:blipFill>
        <p:spPr>
          <a:xfrm>
            <a:off x="6292901" y="3046781"/>
            <a:ext cx="261518" cy="261518"/>
          </a:xfrm>
          <a:prstGeom prst="rect">
            <a:avLst/>
          </a:prstGeom>
        </p:spPr>
      </p:pic>
      <p:sp>
        <p:nvSpPr>
          <p:cNvPr id="36" name="g5_h"/>
          <p:cNvSpPr txBox="1"/>
          <p:nvPr/>
        </p:nvSpPr>
        <p:spPr>
          <a:xfrm>
            <a:off x="6812280" y="2916936"/>
            <a:ext cx="1783080" cy="274320"/>
          </a:xfrm>
          <a:prstGeom prst="rect">
            <a:avLst/>
          </a:prstGeom>
          <a:noFill/>
          <a:ln/>
        </p:spPr>
        <p:txBody>
          <a:bodyPr wrap="square" lIns="0" tIns="0" rIns="0" bIns="0" rtlCol="0" anchor="t"/>
          <a:lstStyle/>
          <a:p>
            <a:pPr indent="0" marL="0">
              <a:buNone/>
            </a:pPr>
            <a:r>
              <a:rPr lang="en-US" sz="1500" b="1" dirty="0">
                <a:solidFill>
                  <a:schemeClr val="tx1"/>
                </a:solidFill>
              </a:rPr>
              <a:t>Por confirmar</a:t>
            </a:r>
            <a:endParaRPr lang="en-US" sz="1500" dirty="0"/>
          </a:p>
        </p:txBody>
      </p:sp>
      <p:sp>
        <p:nvSpPr>
          <p:cNvPr id="37" name="g5_s"/>
          <p:cNvSpPr txBox="1"/>
          <p:nvPr/>
        </p:nvSpPr>
        <p:spPr>
          <a:xfrm>
            <a:off x="6812280" y="3191256"/>
            <a:ext cx="1783080" cy="228600"/>
          </a:xfrm>
          <a:prstGeom prst="rect">
            <a:avLst/>
          </a:prstGeom>
          <a:noFill/>
          <a:ln/>
        </p:spPr>
        <p:txBody>
          <a:bodyPr wrap="square" lIns="0" tIns="0" rIns="0" bIns="0" rtlCol="0" anchor="t"/>
          <a:lstStyle/>
          <a:p>
            <a:pPr indent="0" marL="0">
              <a:buNone/>
            </a:pPr>
            <a:r>
              <a:rPr lang="en-US" sz="1100" dirty="0">
                <a:solidFill>
                  <a:schemeClr val="accent5"/>
                </a:solidFill>
              </a:rPr>
              <a:t>Limites</a:t>
            </a:r>
            <a:endParaRPr lang="en-US" sz="1100" dirty="0"/>
          </a:p>
        </p:txBody>
      </p:sp>
      <p:sp>
        <p:nvSpPr>
          <p:cNvPr id="38" name="g5_t"/>
          <p:cNvSpPr txBox="1"/>
          <p:nvPr/>
        </p:nvSpPr>
        <p:spPr>
          <a:xfrm>
            <a:off x="6172200" y="3566160"/>
            <a:ext cx="2395728" cy="640080"/>
          </a:xfrm>
          <a:prstGeom prst="rect">
            <a:avLst/>
          </a:prstGeom>
          <a:noFill/>
          <a:ln/>
        </p:spPr>
        <p:txBody>
          <a:bodyPr wrap="square" lIns="0" tIns="0" rIns="0" bIns="0" rtlCol="0" anchor="t"/>
          <a:lstStyle/>
          <a:p>
            <a:pPr indent="0" marL="0">
              <a:buNone/>
            </a:pPr>
            <a:r>
              <a:rPr lang="en-US" sz="1250" dirty="0">
                <a:solidFill>
                  <a:schemeClr val="tx1"/>
                </a:solidFill>
              </a:rPr>
              <a:t>Alojamento, manutenção e equipamento ainda sem cotações</a:t>
            </a:r>
            <a:endParaRPr lang="en-US" sz="1250" dirty="0"/>
          </a:p>
        </p:txBody>
      </p:sp>
      <p:sp>
        <p:nvSpPr>
          <p:cNvPr id="39" name="g6_alt"/>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200" i="1" dirty="0">
                <a:solidFill>
                  <a:schemeClr val="accent5"/>
                </a:solidFill>
              </a:rPr>
              <a:t>Metas e prazos: </a:t>
            </a:r>
            <a:r>
              <a:rPr lang="en-US" sz="1200" i="1" dirty="0">
                <a:solidFill>
                  <a:schemeClr val="accent5"/>
                </a:solidFill>
              </a:rPr>
              <a:t>a definir com o SIAC. Custos: receitas do SIAC (proposta a discutir).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5"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nodeType="withEffect">
                                  <p:stCondLst>
                                    <p:cond delay="22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22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22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22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44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nodeType="withEffect">
                                  <p:stCondLst>
                                    <p:cond delay="44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44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44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44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66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66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nodeType="withEffect">
                                  <p:stCondLst>
                                    <p:cond delay="66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66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66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grpId="0" nodeType="withEffect">
                                  <p:stCondLst>
                                    <p:cond delay="66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grpId="0" nodeType="withEffect">
                                  <p:stCondLst>
                                    <p:cond delay="88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88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nodeType="withEffect">
                                  <p:stCondLst>
                                    <p:cond delay="88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grpId="0" nodeType="withEffect">
                                  <p:stCondLst>
                                    <p:cond delay="88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par>
                                <p:cTn id="88" presetID="10" presetClass="entr" presetSubtype="0" fill="hold" grpId="0" nodeType="withEffect">
                                  <p:stCondLst>
                                    <p:cond delay="88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50"/>
                                        <p:tgtEl>
                                          <p:spTgt spid="31"/>
                                        </p:tgtEl>
                                      </p:cBhvr>
                                    </p:animEffect>
                                  </p:childTnLst>
                                </p:cTn>
                              </p:par>
                              <p:par>
                                <p:cTn id="91" presetID="10" presetClass="entr" presetSubtype="0" fill="hold" grpId="0" nodeType="withEffect">
                                  <p:stCondLst>
                                    <p:cond delay="88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50"/>
                                        <p:tgtEl>
                                          <p:spTgt spid="32"/>
                                        </p:tgtEl>
                                      </p:cBhvr>
                                    </p:animEffect>
                                  </p:childTnLst>
                                </p:cTn>
                              </p:par>
                              <p:par>
                                <p:cTn id="94" presetID="10" presetClass="entr" presetSubtype="0" fill="hold" grpId="0" nodeType="withEffect">
                                  <p:stCondLst>
                                    <p:cond delay="110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50"/>
                                        <p:tgtEl>
                                          <p:spTgt spid="33"/>
                                        </p:tgtEl>
                                      </p:cBhvr>
                                    </p:animEffect>
                                  </p:childTnLst>
                                </p:cTn>
                              </p:par>
                              <p:par>
                                <p:cTn id="97" presetID="10" presetClass="entr" presetSubtype="0" fill="hold" grpId="0" nodeType="withEffect">
                                  <p:stCondLst>
                                    <p:cond delay="110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nodeType="withEffect">
                                  <p:stCondLst>
                                    <p:cond delay="110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110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par>
                                <p:cTn id="106" presetID="10" presetClass="entr" presetSubtype="0" fill="hold" grpId="0" nodeType="withEffect">
                                  <p:stCondLst>
                                    <p:cond delay="110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110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par>
                                <p:cTn id="112" presetID="10" presetClass="entr" presetSubtype="0" fill="hold" grpId="0" nodeType="withEffect">
                                  <p:stCondLst>
                                    <p:cond delay="132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6" grpId="0" animBg="1"/>
      <p:bldP spid="37" grpId="0" animBg="1"/>
      <p:bldP spid="38" grpId="0" animBg="1"/>
      <p:bldP spid="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accent1"/>
                </a:solidFill>
              </a:rPr>
              <a:t>Riscos e como os prevenimos</a:t>
            </a:r>
            <a:endParaRPr lang="en-US" sz="3000" dirty="0"/>
          </a:p>
        </p:txBody>
      </p:sp>
      <p:sp>
        <p:nvSpPr>
          <p:cNvPr id="3" name="g0_l1"/>
          <p:cNvSpPr txBox="1"/>
          <p:nvPr/>
        </p:nvSpPr>
        <p:spPr>
          <a:xfrm>
            <a:off x="457200" y="1097280"/>
            <a:ext cx="384048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O QUE PODE CORRER MAL</a:t>
            </a:r>
            <a:endParaRPr lang="en-US" sz="1100" dirty="0"/>
          </a:p>
        </p:txBody>
      </p:sp>
      <p:sp>
        <p:nvSpPr>
          <p:cNvPr id="4" name="g0_l2"/>
          <p:cNvSpPr txBox="1"/>
          <p:nvPr/>
        </p:nvSpPr>
        <p:spPr>
          <a:xfrm>
            <a:off x="4846320" y="1097280"/>
            <a:ext cx="384048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COMO PREVENIMOS</a:t>
            </a:r>
            <a:endParaRPr lang="en-US" sz="1100" dirty="0"/>
          </a:p>
        </p:txBody>
      </p:sp>
      <p:sp>
        <p:nvSpPr>
          <p:cNvPr id="5" name="g1_a"/>
          <p:cNvSpPr/>
          <p:nvPr/>
        </p:nvSpPr>
        <p:spPr>
          <a:xfrm>
            <a:off x="457200" y="1417320"/>
            <a:ext cx="4114800" cy="457200"/>
          </a:xfrm>
          <a:prstGeom prst="roundRect">
            <a:avLst>
              <a:gd name="adj" fmla="val 20000"/>
            </a:avLst>
          </a:prstGeom>
          <a:solidFill>
            <a:schemeClr val="accent1">
              <a:alpha val="10000"/>
            </a:schemeClr>
          </a:solidFill>
          <a:ln/>
        </p:spPr>
      </p:sp>
      <p:sp>
        <p:nvSpPr>
          <p:cNvPr id="6" name="g1_ic"/>
          <p:cNvSpPr/>
          <p:nvPr/>
        </p:nvSpPr>
        <p:spPr>
          <a:xfrm>
            <a:off x="566928" y="1499616"/>
            <a:ext cx="292608" cy="292608"/>
          </a:xfrm>
          <a:prstGeom prst="ellipse">
            <a:avLst/>
          </a:prstGeom>
          <a:solidFill>
            <a:schemeClr val="accent1"/>
          </a:solidFill>
          <a:ln/>
        </p:spPr>
      </p:sp>
      <p:pic>
        <p:nvPicPr>
          <p:cNvPr id="7" name="g1_im" descr="ícone">    </p:cNvPr>
          <p:cNvPicPr>
            <a:picLocks noChangeAspect="1"/>
          </p:cNvPicPr>
          <p:nvPr/>
        </p:nvPicPr>
        <p:blipFill>
          <a:blip r:embed="rId1"/>
          <a:stretch>
            <a:fillRect/>
          </a:stretch>
        </p:blipFill>
        <p:spPr>
          <a:xfrm>
            <a:off x="637154" y="1569842"/>
            <a:ext cx="152156" cy="152156"/>
          </a:xfrm>
          <a:prstGeom prst="rect">
            <a:avLst/>
          </a:prstGeom>
        </p:spPr>
      </p:pic>
      <p:sp>
        <p:nvSpPr>
          <p:cNvPr id="8" name="g1_at"/>
          <p:cNvSpPr txBox="1"/>
          <p:nvPr/>
        </p:nvSpPr>
        <p:spPr>
          <a:xfrm>
            <a:off x="960120" y="1417320"/>
            <a:ext cx="3566160" cy="457200"/>
          </a:xfrm>
          <a:prstGeom prst="rect">
            <a:avLst/>
          </a:prstGeom>
          <a:noFill/>
          <a:ln/>
        </p:spPr>
        <p:txBody>
          <a:bodyPr wrap="square" lIns="0" tIns="0" rIns="0" bIns="0" rtlCol="0" anchor="ctr"/>
          <a:lstStyle/>
          <a:p>
            <a:pPr indent="0" marL="0">
              <a:buNone/>
            </a:pPr>
            <a:r>
              <a:rPr lang="en-US" sz="1300" dirty="0">
                <a:solidFill>
                  <a:schemeClr val="tx1"/>
                </a:solidFill>
              </a:rPr>
              <a:t>O SIAC não autoriza a recolha ou o piloto</a:t>
            </a:r>
            <a:endParaRPr lang="en-US" sz="1300" dirty="0"/>
          </a:p>
        </p:txBody>
      </p:sp>
      <p:sp>
        <p:nvSpPr>
          <p:cNvPr id="9" name="g1_ar"/>
          <p:cNvSpPr/>
          <p:nvPr/>
        </p:nvSpPr>
        <p:spPr>
          <a:xfrm>
            <a:off x="4645152" y="1545336"/>
            <a:ext cx="219456" cy="201168"/>
          </a:xfrm>
          <a:prstGeom prst="rightArrow">
            <a:avLst/>
          </a:prstGeom>
          <a:solidFill>
            <a:schemeClr val="accent6"/>
          </a:solidFill>
          <a:ln/>
        </p:spPr>
      </p:sp>
      <p:sp>
        <p:nvSpPr>
          <p:cNvPr id="10" name="g1_b"/>
          <p:cNvSpPr/>
          <p:nvPr/>
        </p:nvSpPr>
        <p:spPr>
          <a:xfrm>
            <a:off x="4937760" y="1417320"/>
            <a:ext cx="3749040" cy="457200"/>
          </a:xfrm>
          <a:prstGeom prst="roundRect">
            <a:avLst>
              <a:gd name="adj" fmla="val 20000"/>
            </a:avLst>
          </a:prstGeom>
          <a:solidFill>
            <a:schemeClr val="accent4">
              <a:alpha val="12000"/>
            </a:schemeClr>
          </a:solidFill>
          <a:ln/>
        </p:spPr>
      </p:sp>
      <p:sp>
        <p:nvSpPr>
          <p:cNvPr id="11" name="g1_ic"/>
          <p:cNvSpPr/>
          <p:nvPr/>
        </p:nvSpPr>
        <p:spPr>
          <a:xfrm>
            <a:off x="5047488" y="1499616"/>
            <a:ext cx="292608" cy="292608"/>
          </a:xfrm>
          <a:prstGeom prst="ellipse">
            <a:avLst/>
          </a:prstGeom>
          <a:solidFill>
            <a:schemeClr val="accent4"/>
          </a:solidFill>
          <a:ln/>
        </p:spPr>
      </p:sp>
      <p:pic>
        <p:nvPicPr>
          <p:cNvPr id="12" name="g1_im" descr="ícone">    </p:cNvPr>
          <p:cNvPicPr>
            <a:picLocks noChangeAspect="1"/>
          </p:cNvPicPr>
          <p:nvPr/>
        </p:nvPicPr>
        <p:blipFill>
          <a:blip r:embed="rId2"/>
          <a:stretch>
            <a:fillRect/>
          </a:stretch>
        </p:blipFill>
        <p:spPr>
          <a:xfrm>
            <a:off x="5117714" y="1569842"/>
            <a:ext cx="152156" cy="152156"/>
          </a:xfrm>
          <a:prstGeom prst="rect">
            <a:avLst/>
          </a:prstGeom>
        </p:spPr>
      </p:pic>
      <p:sp>
        <p:nvSpPr>
          <p:cNvPr id="13" name="g1_bt"/>
          <p:cNvSpPr txBox="1"/>
          <p:nvPr/>
        </p:nvSpPr>
        <p:spPr>
          <a:xfrm>
            <a:off x="5440680" y="1417320"/>
            <a:ext cx="3200400" cy="457200"/>
          </a:xfrm>
          <a:prstGeom prst="rect">
            <a:avLst/>
          </a:prstGeom>
          <a:noFill/>
          <a:ln/>
        </p:spPr>
        <p:txBody>
          <a:bodyPr wrap="square" lIns="0" tIns="0" rIns="0" bIns="0" rtlCol="0" anchor="ctr"/>
          <a:lstStyle/>
          <a:p>
            <a:pPr indent="0" marL="0">
              <a:buNone/>
            </a:pPr>
            <a:r>
              <a:rPr lang="en-US" sz="1300" dirty="0">
                <a:solidFill>
                  <a:schemeClr val="tx1"/>
                </a:solidFill>
              </a:rPr>
              <a:t>Carta da escola; começar com voluntários e dados fictícios</a:t>
            </a:r>
            <a:endParaRPr lang="en-US" sz="1300" dirty="0"/>
          </a:p>
        </p:txBody>
      </p:sp>
      <p:sp>
        <p:nvSpPr>
          <p:cNvPr id="14" name="g2_a"/>
          <p:cNvSpPr/>
          <p:nvPr/>
        </p:nvSpPr>
        <p:spPr>
          <a:xfrm>
            <a:off x="457200" y="1947672"/>
            <a:ext cx="4114800" cy="457200"/>
          </a:xfrm>
          <a:prstGeom prst="roundRect">
            <a:avLst>
              <a:gd name="adj" fmla="val 20000"/>
            </a:avLst>
          </a:prstGeom>
          <a:solidFill>
            <a:schemeClr val="accent1">
              <a:alpha val="10000"/>
            </a:schemeClr>
          </a:solidFill>
          <a:ln/>
        </p:spPr>
      </p:sp>
      <p:sp>
        <p:nvSpPr>
          <p:cNvPr id="15" name="g2_ic"/>
          <p:cNvSpPr/>
          <p:nvPr/>
        </p:nvSpPr>
        <p:spPr>
          <a:xfrm>
            <a:off x="566928" y="2029968"/>
            <a:ext cx="292608" cy="292608"/>
          </a:xfrm>
          <a:prstGeom prst="ellipse">
            <a:avLst/>
          </a:prstGeom>
          <a:solidFill>
            <a:schemeClr val="accent1"/>
          </a:solidFill>
          <a:ln/>
        </p:spPr>
      </p:sp>
      <p:pic>
        <p:nvPicPr>
          <p:cNvPr id="16" name="g2_im" descr="ícone">    </p:cNvPr>
          <p:cNvPicPr>
            <a:picLocks noChangeAspect="1"/>
          </p:cNvPicPr>
          <p:nvPr/>
        </p:nvPicPr>
        <p:blipFill>
          <a:blip r:embed="rId3"/>
          <a:stretch>
            <a:fillRect/>
          </a:stretch>
        </p:blipFill>
        <p:spPr>
          <a:xfrm>
            <a:off x="637154" y="2100194"/>
            <a:ext cx="152156" cy="152156"/>
          </a:xfrm>
          <a:prstGeom prst="rect">
            <a:avLst/>
          </a:prstGeom>
        </p:spPr>
      </p:pic>
      <p:sp>
        <p:nvSpPr>
          <p:cNvPr id="17" name="g2_at"/>
          <p:cNvSpPr txBox="1"/>
          <p:nvPr/>
        </p:nvSpPr>
        <p:spPr>
          <a:xfrm>
            <a:off x="960120" y="1947672"/>
            <a:ext cx="3566160" cy="457200"/>
          </a:xfrm>
          <a:prstGeom prst="rect">
            <a:avLst/>
          </a:prstGeom>
          <a:noFill/>
          <a:ln/>
        </p:spPr>
        <p:txBody>
          <a:bodyPr wrap="square" lIns="0" tIns="0" rIns="0" bIns="0" rtlCol="0" anchor="ctr"/>
          <a:lstStyle/>
          <a:p>
            <a:pPr indent="0" marL="0">
              <a:buNone/>
            </a:pPr>
            <a:r>
              <a:rPr lang="en-US" sz="1300" dirty="0">
                <a:solidFill>
                  <a:schemeClr val="tx1"/>
                </a:solidFill>
              </a:rPr>
              <a:t>Sistema de senhas sem ligação técnica</a:t>
            </a:r>
            <a:endParaRPr lang="en-US" sz="1300" dirty="0"/>
          </a:p>
        </p:txBody>
      </p:sp>
      <p:sp>
        <p:nvSpPr>
          <p:cNvPr id="18" name="g2_ar"/>
          <p:cNvSpPr/>
          <p:nvPr/>
        </p:nvSpPr>
        <p:spPr>
          <a:xfrm>
            <a:off x="4645152" y="2075688"/>
            <a:ext cx="219456" cy="201168"/>
          </a:xfrm>
          <a:prstGeom prst="rightArrow">
            <a:avLst/>
          </a:prstGeom>
          <a:solidFill>
            <a:schemeClr val="accent6"/>
          </a:solidFill>
          <a:ln/>
        </p:spPr>
      </p:sp>
      <p:sp>
        <p:nvSpPr>
          <p:cNvPr id="19" name="g2_b"/>
          <p:cNvSpPr/>
          <p:nvPr/>
        </p:nvSpPr>
        <p:spPr>
          <a:xfrm>
            <a:off x="4937760" y="1947672"/>
            <a:ext cx="3749040" cy="457200"/>
          </a:xfrm>
          <a:prstGeom prst="roundRect">
            <a:avLst>
              <a:gd name="adj" fmla="val 20000"/>
            </a:avLst>
          </a:prstGeom>
          <a:solidFill>
            <a:schemeClr val="accent4">
              <a:alpha val="12000"/>
            </a:schemeClr>
          </a:solidFill>
          <a:ln/>
        </p:spPr>
      </p:sp>
      <p:sp>
        <p:nvSpPr>
          <p:cNvPr id="20" name="g2_ic"/>
          <p:cNvSpPr/>
          <p:nvPr/>
        </p:nvSpPr>
        <p:spPr>
          <a:xfrm>
            <a:off x="5047488" y="2029968"/>
            <a:ext cx="292608" cy="292608"/>
          </a:xfrm>
          <a:prstGeom prst="ellipse">
            <a:avLst/>
          </a:prstGeom>
          <a:solidFill>
            <a:schemeClr val="accent4"/>
          </a:solidFill>
          <a:ln/>
        </p:spPr>
      </p:sp>
      <p:pic>
        <p:nvPicPr>
          <p:cNvPr id="21" name="g2_im" descr="ícone">    </p:cNvPr>
          <p:cNvPicPr>
            <a:picLocks noChangeAspect="1"/>
          </p:cNvPicPr>
          <p:nvPr/>
        </p:nvPicPr>
        <p:blipFill>
          <a:blip r:embed="rId4"/>
          <a:stretch>
            <a:fillRect/>
          </a:stretch>
        </p:blipFill>
        <p:spPr>
          <a:xfrm>
            <a:off x="5117714" y="2100194"/>
            <a:ext cx="152156" cy="152156"/>
          </a:xfrm>
          <a:prstGeom prst="rect">
            <a:avLst/>
          </a:prstGeom>
        </p:spPr>
      </p:pic>
      <p:sp>
        <p:nvSpPr>
          <p:cNvPr id="22" name="g2_bt"/>
          <p:cNvSpPr txBox="1"/>
          <p:nvPr/>
        </p:nvSpPr>
        <p:spPr>
          <a:xfrm>
            <a:off x="5440680" y="1947672"/>
            <a:ext cx="3200400" cy="457200"/>
          </a:xfrm>
          <a:prstGeom prst="rect">
            <a:avLst/>
          </a:prstGeom>
          <a:noFill/>
          <a:ln/>
        </p:spPr>
        <p:txBody>
          <a:bodyPr wrap="square" lIns="0" tIns="0" rIns="0" bIns="0" rtlCol="0" anchor="ctr"/>
          <a:lstStyle/>
          <a:p>
            <a:pPr indent="0" marL="0">
              <a:buNone/>
            </a:pPr>
            <a:r>
              <a:rPr lang="en-US" sz="1300" dirty="0">
                <a:solidFill>
                  <a:schemeClr val="tx1"/>
                </a:solidFill>
              </a:rPr>
              <a:t>Usar o modo A, que não depende de ligação</a:t>
            </a:r>
            <a:endParaRPr lang="en-US" sz="1300" dirty="0"/>
          </a:p>
        </p:txBody>
      </p:sp>
      <p:sp>
        <p:nvSpPr>
          <p:cNvPr id="23" name="g3_a"/>
          <p:cNvSpPr/>
          <p:nvPr/>
        </p:nvSpPr>
        <p:spPr>
          <a:xfrm>
            <a:off x="457200" y="2478024"/>
            <a:ext cx="4114800" cy="457200"/>
          </a:xfrm>
          <a:prstGeom prst="roundRect">
            <a:avLst>
              <a:gd name="adj" fmla="val 20000"/>
            </a:avLst>
          </a:prstGeom>
          <a:solidFill>
            <a:schemeClr val="accent1">
              <a:alpha val="10000"/>
            </a:schemeClr>
          </a:solidFill>
          <a:ln/>
        </p:spPr>
      </p:sp>
      <p:sp>
        <p:nvSpPr>
          <p:cNvPr id="24" name="g3_ic"/>
          <p:cNvSpPr/>
          <p:nvPr/>
        </p:nvSpPr>
        <p:spPr>
          <a:xfrm>
            <a:off x="566928" y="2560320"/>
            <a:ext cx="292608" cy="292608"/>
          </a:xfrm>
          <a:prstGeom prst="ellipse">
            <a:avLst/>
          </a:prstGeom>
          <a:solidFill>
            <a:schemeClr val="accent1"/>
          </a:solidFill>
          <a:ln/>
        </p:spPr>
      </p:sp>
      <p:pic>
        <p:nvPicPr>
          <p:cNvPr id="25" name="g3_im" descr="ícone">    </p:cNvPr>
          <p:cNvPicPr>
            <a:picLocks noChangeAspect="1"/>
          </p:cNvPicPr>
          <p:nvPr/>
        </p:nvPicPr>
        <p:blipFill>
          <a:blip r:embed="rId5"/>
          <a:stretch>
            <a:fillRect/>
          </a:stretch>
        </p:blipFill>
        <p:spPr>
          <a:xfrm>
            <a:off x="637154" y="2630546"/>
            <a:ext cx="152156" cy="152156"/>
          </a:xfrm>
          <a:prstGeom prst="rect">
            <a:avLst/>
          </a:prstGeom>
        </p:spPr>
      </p:pic>
      <p:sp>
        <p:nvSpPr>
          <p:cNvPr id="26" name="g3_at"/>
          <p:cNvSpPr txBox="1"/>
          <p:nvPr/>
        </p:nvSpPr>
        <p:spPr>
          <a:xfrm>
            <a:off x="960120" y="2478024"/>
            <a:ext cx="3566160" cy="457200"/>
          </a:xfrm>
          <a:prstGeom prst="rect">
            <a:avLst/>
          </a:prstGeom>
          <a:noFill/>
          <a:ln/>
        </p:spPr>
        <p:txBody>
          <a:bodyPr wrap="square" lIns="0" tIns="0" rIns="0" bIns="0" rtlCol="0" anchor="ctr"/>
          <a:lstStyle/>
          <a:p>
            <a:pPr indent="0" marL="0">
              <a:buNone/>
            </a:pPr>
            <a:r>
              <a:rPr lang="en-US" sz="1300" dirty="0">
                <a:solidFill>
                  <a:schemeClr val="tx1"/>
                </a:solidFill>
              </a:rPr>
              <a:t>Pouca adesão por falta de hábito com tecnologia</a:t>
            </a:r>
            <a:endParaRPr lang="en-US" sz="1300" dirty="0"/>
          </a:p>
        </p:txBody>
      </p:sp>
      <p:sp>
        <p:nvSpPr>
          <p:cNvPr id="27" name="g3_ar"/>
          <p:cNvSpPr/>
          <p:nvPr/>
        </p:nvSpPr>
        <p:spPr>
          <a:xfrm>
            <a:off x="4645152" y="2606040"/>
            <a:ext cx="219456" cy="201168"/>
          </a:xfrm>
          <a:prstGeom prst="rightArrow">
            <a:avLst/>
          </a:prstGeom>
          <a:solidFill>
            <a:schemeClr val="accent6"/>
          </a:solidFill>
          <a:ln/>
        </p:spPr>
      </p:sp>
      <p:sp>
        <p:nvSpPr>
          <p:cNvPr id="28" name="g3_b"/>
          <p:cNvSpPr/>
          <p:nvPr/>
        </p:nvSpPr>
        <p:spPr>
          <a:xfrm>
            <a:off x="4937760" y="2478024"/>
            <a:ext cx="3749040" cy="457200"/>
          </a:xfrm>
          <a:prstGeom prst="roundRect">
            <a:avLst>
              <a:gd name="adj" fmla="val 20000"/>
            </a:avLst>
          </a:prstGeom>
          <a:solidFill>
            <a:schemeClr val="accent4">
              <a:alpha val="12000"/>
            </a:schemeClr>
          </a:solidFill>
          <a:ln/>
        </p:spPr>
      </p:sp>
      <p:sp>
        <p:nvSpPr>
          <p:cNvPr id="29" name="g3_ic"/>
          <p:cNvSpPr/>
          <p:nvPr/>
        </p:nvSpPr>
        <p:spPr>
          <a:xfrm>
            <a:off x="5047488" y="2560320"/>
            <a:ext cx="292608" cy="292608"/>
          </a:xfrm>
          <a:prstGeom prst="ellipse">
            <a:avLst/>
          </a:prstGeom>
          <a:solidFill>
            <a:schemeClr val="accent4"/>
          </a:solidFill>
          <a:ln/>
        </p:spPr>
      </p:sp>
      <p:pic>
        <p:nvPicPr>
          <p:cNvPr id="30" name="g3_im" descr="ícone">    </p:cNvPr>
          <p:cNvPicPr>
            <a:picLocks noChangeAspect="1"/>
          </p:cNvPicPr>
          <p:nvPr/>
        </p:nvPicPr>
        <p:blipFill>
          <a:blip r:embed="rId6"/>
          <a:stretch>
            <a:fillRect/>
          </a:stretch>
        </p:blipFill>
        <p:spPr>
          <a:xfrm>
            <a:off x="5117714" y="2630546"/>
            <a:ext cx="152156" cy="152156"/>
          </a:xfrm>
          <a:prstGeom prst="rect">
            <a:avLst/>
          </a:prstGeom>
        </p:spPr>
      </p:pic>
      <p:sp>
        <p:nvSpPr>
          <p:cNvPr id="31" name="g3_bt"/>
          <p:cNvSpPr txBox="1"/>
          <p:nvPr/>
        </p:nvSpPr>
        <p:spPr>
          <a:xfrm>
            <a:off x="5440680" y="2478024"/>
            <a:ext cx="3200400" cy="457200"/>
          </a:xfrm>
          <a:prstGeom prst="rect">
            <a:avLst/>
          </a:prstGeom>
          <a:noFill/>
          <a:ln/>
        </p:spPr>
        <p:txBody>
          <a:bodyPr wrap="square" lIns="0" tIns="0" rIns="0" bIns="0" rtlCol="0" anchor="ctr"/>
          <a:lstStyle/>
          <a:p>
            <a:pPr indent="0" marL="0">
              <a:buNone/>
            </a:pPr>
            <a:r>
              <a:rPr lang="en-US" sz="1300" dirty="0">
                <a:solidFill>
                  <a:schemeClr val="tx1"/>
                </a:solidFill>
              </a:rPr>
              <a:t>Marcação assistida, SMS e ajuda no posto</a:t>
            </a:r>
            <a:endParaRPr lang="en-US" sz="1300" dirty="0"/>
          </a:p>
        </p:txBody>
      </p:sp>
      <p:sp>
        <p:nvSpPr>
          <p:cNvPr id="32" name="g4_a"/>
          <p:cNvSpPr/>
          <p:nvPr/>
        </p:nvSpPr>
        <p:spPr>
          <a:xfrm>
            <a:off x="457200" y="3008376"/>
            <a:ext cx="4114800" cy="457200"/>
          </a:xfrm>
          <a:prstGeom prst="roundRect">
            <a:avLst>
              <a:gd name="adj" fmla="val 20000"/>
            </a:avLst>
          </a:prstGeom>
          <a:solidFill>
            <a:schemeClr val="accent1">
              <a:alpha val="10000"/>
            </a:schemeClr>
          </a:solidFill>
          <a:ln/>
        </p:spPr>
      </p:sp>
      <p:sp>
        <p:nvSpPr>
          <p:cNvPr id="33" name="g4_ic"/>
          <p:cNvSpPr/>
          <p:nvPr/>
        </p:nvSpPr>
        <p:spPr>
          <a:xfrm>
            <a:off x="566928" y="3090672"/>
            <a:ext cx="292608" cy="292608"/>
          </a:xfrm>
          <a:prstGeom prst="ellipse">
            <a:avLst/>
          </a:prstGeom>
          <a:solidFill>
            <a:schemeClr val="accent1"/>
          </a:solidFill>
          <a:ln/>
        </p:spPr>
      </p:sp>
      <p:pic>
        <p:nvPicPr>
          <p:cNvPr id="34" name="g4_im" descr="ícone">    </p:cNvPr>
          <p:cNvPicPr>
            <a:picLocks noChangeAspect="1"/>
          </p:cNvPicPr>
          <p:nvPr/>
        </p:nvPicPr>
        <p:blipFill>
          <a:blip r:embed="rId7"/>
          <a:stretch>
            <a:fillRect/>
          </a:stretch>
        </p:blipFill>
        <p:spPr>
          <a:xfrm>
            <a:off x="637154" y="3160898"/>
            <a:ext cx="152156" cy="152156"/>
          </a:xfrm>
          <a:prstGeom prst="rect">
            <a:avLst/>
          </a:prstGeom>
        </p:spPr>
      </p:pic>
      <p:sp>
        <p:nvSpPr>
          <p:cNvPr id="35" name="g4_at"/>
          <p:cNvSpPr txBox="1"/>
          <p:nvPr/>
        </p:nvSpPr>
        <p:spPr>
          <a:xfrm>
            <a:off x="960120" y="3008376"/>
            <a:ext cx="3566160" cy="457200"/>
          </a:xfrm>
          <a:prstGeom prst="rect">
            <a:avLst/>
          </a:prstGeom>
          <a:noFill/>
          <a:ln/>
        </p:spPr>
        <p:txBody>
          <a:bodyPr wrap="square" lIns="0" tIns="0" rIns="0" bIns="0" rtlCol="0" anchor="ctr"/>
          <a:lstStyle/>
          <a:p>
            <a:pPr indent="0" marL="0">
              <a:buNone/>
            </a:pPr>
            <a:r>
              <a:rPr lang="en-US" sz="1300" dirty="0">
                <a:solidFill>
                  <a:schemeClr val="tx1"/>
                </a:solidFill>
              </a:rPr>
              <a:t>SMS mais caros do que o previsto</a:t>
            </a:r>
            <a:endParaRPr lang="en-US" sz="1300" dirty="0"/>
          </a:p>
        </p:txBody>
      </p:sp>
      <p:sp>
        <p:nvSpPr>
          <p:cNvPr id="36" name="g4_ar"/>
          <p:cNvSpPr/>
          <p:nvPr/>
        </p:nvSpPr>
        <p:spPr>
          <a:xfrm>
            <a:off x="4645152" y="3136392"/>
            <a:ext cx="219456" cy="201168"/>
          </a:xfrm>
          <a:prstGeom prst="rightArrow">
            <a:avLst/>
          </a:prstGeom>
          <a:solidFill>
            <a:schemeClr val="accent6"/>
          </a:solidFill>
          <a:ln/>
        </p:spPr>
      </p:sp>
      <p:sp>
        <p:nvSpPr>
          <p:cNvPr id="37" name="g4_b"/>
          <p:cNvSpPr/>
          <p:nvPr/>
        </p:nvSpPr>
        <p:spPr>
          <a:xfrm>
            <a:off x="4937760" y="3008376"/>
            <a:ext cx="3749040" cy="457200"/>
          </a:xfrm>
          <a:prstGeom prst="roundRect">
            <a:avLst>
              <a:gd name="adj" fmla="val 20000"/>
            </a:avLst>
          </a:prstGeom>
          <a:solidFill>
            <a:schemeClr val="accent4">
              <a:alpha val="12000"/>
            </a:schemeClr>
          </a:solidFill>
          <a:ln/>
        </p:spPr>
      </p:sp>
      <p:sp>
        <p:nvSpPr>
          <p:cNvPr id="38" name="g4_ic"/>
          <p:cNvSpPr/>
          <p:nvPr/>
        </p:nvSpPr>
        <p:spPr>
          <a:xfrm>
            <a:off x="5047488" y="3090672"/>
            <a:ext cx="292608" cy="292608"/>
          </a:xfrm>
          <a:prstGeom prst="ellipse">
            <a:avLst/>
          </a:prstGeom>
          <a:solidFill>
            <a:schemeClr val="accent4"/>
          </a:solidFill>
          <a:ln/>
        </p:spPr>
      </p:sp>
      <p:pic>
        <p:nvPicPr>
          <p:cNvPr id="39" name="g4_im" descr="ícone">    </p:cNvPr>
          <p:cNvPicPr>
            <a:picLocks noChangeAspect="1"/>
          </p:cNvPicPr>
          <p:nvPr/>
        </p:nvPicPr>
        <p:blipFill>
          <a:blip r:embed="rId8"/>
          <a:stretch>
            <a:fillRect/>
          </a:stretch>
        </p:blipFill>
        <p:spPr>
          <a:xfrm>
            <a:off x="5117714" y="3160898"/>
            <a:ext cx="152156" cy="152156"/>
          </a:xfrm>
          <a:prstGeom prst="rect">
            <a:avLst/>
          </a:prstGeom>
        </p:spPr>
      </p:pic>
      <p:sp>
        <p:nvSpPr>
          <p:cNvPr id="40" name="g4_bt"/>
          <p:cNvSpPr txBox="1"/>
          <p:nvPr/>
        </p:nvSpPr>
        <p:spPr>
          <a:xfrm>
            <a:off x="5440680" y="3008376"/>
            <a:ext cx="3200400" cy="457200"/>
          </a:xfrm>
          <a:prstGeom prst="rect">
            <a:avLst/>
          </a:prstGeom>
          <a:noFill/>
          <a:ln/>
        </p:spPr>
        <p:txBody>
          <a:bodyPr wrap="square" lIns="0" tIns="0" rIns="0" bIns="0" rtlCol="0" anchor="ctr"/>
          <a:lstStyle/>
          <a:p>
            <a:pPr indent="0" marL="0">
              <a:buNone/>
            </a:pPr>
            <a:r>
              <a:rPr lang="en-US" sz="1300" dirty="0">
                <a:solidFill>
                  <a:schemeClr val="tx1"/>
                </a:solidFill>
              </a:rPr>
              <a:t>SMS só quando necessário, notificações da PWA e negociação</a:t>
            </a:r>
            <a:endParaRPr lang="en-US" sz="1300" dirty="0"/>
          </a:p>
        </p:txBody>
      </p:sp>
      <p:sp>
        <p:nvSpPr>
          <p:cNvPr id="41" name="g5_a"/>
          <p:cNvSpPr/>
          <p:nvPr/>
        </p:nvSpPr>
        <p:spPr>
          <a:xfrm>
            <a:off x="457200" y="3538728"/>
            <a:ext cx="4114800" cy="457200"/>
          </a:xfrm>
          <a:prstGeom prst="roundRect">
            <a:avLst>
              <a:gd name="adj" fmla="val 20000"/>
            </a:avLst>
          </a:prstGeom>
          <a:solidFill>
            <a:schemeClr val="accent1">
              <a:alpha val="10000"/>
            </a:schemeClr>
          </a:solidFill>
          <a:ln/>
        </p:spPr>
      </p:sp>
      <p:sp>
        <p:nvSpPr>
          <p:cNvPr id="42" name="g5_ic"/>
          <p:cNvSpPr/>
          <p:nvPr/>
        </p:nvSpPr>
        <p:spPr>
          <a:xfrm>
            <a:off x="566928" y="3621024"/>
            <a:ext cx="292608" cy="292608"/>
          </a:xfrm>
          <a:prstGeom prst="ellipse">
            <a:avLst/>
          </a:prstGeom>
          <a:solidFill>
            <a:schemeClr val="accent1"/>
          </a:solidFill>
          <a:ln/>
        </p:spPr>
      </p:sp>
      <p:pic>
        <p:nvPicPr>
          <p:cNvPr id="43" name="g5_im" descr="ícone">    </p:cNvPr>
          <p:cNvPicPr>
            <a:picLocks noChangeAspect="1"/>
          </p:cNvPicPr>
          <p:nvPr/>
        </p:nvPicPr>
        <p:blipFill>
          <a:blip r:embed="rId9"/>
          <a:stretch>
            <a:fillRect/>
          </a:stretch>
        </p:blipFill>
        <p:spPr>
          <a:xfrm>
            <a:off x="637154" y="3691250"/>
            <a:ext cx="152156" cy="152156"/>
          </a:xfrm>
          <a:prstGeom prst="rect">
            <a:avLst/>
          </a:prstGeom>
        </p:spPr>
      </p:pic>
      <p:sp>
        <p:nvSpPr>
          <p:cNvPr id="44" name="g5_at"/>
          <p:cNvSpPr txBox="1"/>
          <p:nvPr/>
        </p:nvSpPr>
        <p:spPr>
          <a:xfrm>
            <a:off x="960120" y="3538728"/>
            <a:ext cx="3566160" cy="457200"/>
          </a:xfrm>
          <a:prstGeom prst="rect">
            <a:avLst/>
          </a:prstGeom>
          <a:noFill/>
          <a:ln/>
        </p:spPr>
        <p:txBody>
          <a:bodyPr wrap="square" lIns="0" tIns="0" rIns="0" bIns="0" rtlCol="0" anchor="ctr"/>
          <a:lstStyle/>
          <a:p>
            <a:pPr indent="0" marL="0">
              <a:buNone/>
            </a:pPr>
            <a:r>
              <a:rPr lang="en-US" sz="1300" dirty="0">
                <a:solidFill>
                  <a:schemeClr val="tx1"/>
                </a:solidFill>
              </a:rPr>
              <a:t>Falha de rede, de energia ou da aplicação</a:t>
            </a:r>
            <a:endParaRPr lang="en-US" sz="1300" dirty="0"/>
          </a:p>
        </p:txBody>
      </p:sp>
      <p:sp>
        <p:nvSpPr>
          <p:cNvPr id="45" name="g5_ar"/>
          <p:cNvSpPr/>
          <p:nvPr/>
        </p:nvSpPr>
        <p:spPr>
          <a:xfrm>
            <a:off x="4645152" y="3666744"/>
            <a:ext cx="219456" cy="201168"/>
          </a:xfrm>
          <a:prstGeom prst="rightArrow">
            <a:avLst/>
          </a:prstGeom>
          <a:solidFill>
            <a:schemeClr val="accent6"/>
          </a:solidFill>
          <a:ln/>
        </p:spPr>
      </p:sp>
      <p:sp>
        <p:nvSpPr>
          <p:cNvPr id="46" name="g5_b"/>
          <p:cNvSpPr/>
          <p:nvPr/>
        </p:nvSpPr>
        <p:spPr>
          <a:xfrm>
            <a:off x="4937760" y="3538728"/>
            <a:ext cx="3749040" cy="457200"/>
          </a:xfrm>
          <a:prstGeom prst="roundRect">
            <a:avLst>
              <a:gd name="adj" fmla="val 20000"/>
            </a:avLst>
          </a:prstGeom>
          <a:solidFill>
            <a:schemeClr val="accent4">
              <a:alpha val="12000"/>
            </a:schemeClr>
          </a:solidFill>
          <a:ln/>
        </p:spPr>
      </p:sp>
      <p:sp>
        <p:nvSpPr>
          <p:cNvPr id="47" name="g5_ic"/>
          <p:cNvSpPr/>
          <p:nvPr/>
        </p:nvSpPr>
        <p:spPr>
          <a:xfrm>
            <a:off x="5047488" y="3621024"/>
            <a:ext cx="292608" cy="292608"/>
          </a:xfrm>
          <a:prstGeom prst="ellipse">
            <a:avLst/>
          </a:prstGeom>
          <a:solidFill>
            <a:schemeClr val="accent4"/>
          </a:solidFill>
          <a:ln/>
        </p:spPr>
      </p:sp>
      <p:pic>
        <p:nvPicPr>
          <p:cNvPr id="48" name="g5_im" descr="ícone">    </p:cNvPr>
          <p:cNvPicPr>
            <a:picLocks noChangeAspect="1"/>
          </p:cNvPicPr>
          <p:nvPr/>
        </p:nvPicPr>
        <p:blipFill>
          <a:blip r:embed="rId10"/>
          <a:stretch>
            <a:fillRect/>
          </a:stretch>
        </p:blipFill>
        <p:spPr>
          <a:xfrm>
            <a:off x="5117714" y="3691250"/>
            <a:ext cx="152156" cy="152156"/>
          </a:xfrm>
          <a:prstGeom prst="rect">
            <a:avLst/>
          </a:prstGeom>
        </p:spPr>
      </p:pic>
      <p:sp>
        <p:nvSpPr>
          <p:cNvPr id="49" name="g5_bt"/>
          <p:cNvSpPr txBox="1"/>
          <p:nvPr/>
        </p:nvSpPr>
        <p:spPr>
          <a:xfrm>
            <a:off x="5440680" y="3538728"/>
            <a:ext cx="3200400" cy="457200"/>
          </a:xfrm>
          <a:prstGeom prst="rect">
            <a:avLst/>
          </a:prstGeom>
          <a:noFill/>
          <a:ln/>
        </p:spPr>
        <p:txBody>
          <a:bodyPr wrap="square" lIns="0" tIns="0" rIns="0" bIns="0" rtlCol="0" anchor="ctr"/>
          <a:lstStyle/>
          <a:p>
            <a:pPr indent="0" marL="0">
              <a:buNone/>
            </a:pPr>
            <a:r>
              <a:rPr lang="en-US" sz="1300" dirty="0">
                <a:solidFill>
                  <a:schemeClr val="tx1"/>
                </a:solidFill>
              </a:rPr>
              <a:t>O posto atende por ordem de chegada com o sistema existente</a:t>
            </a:r>
            <a:endParaRPr lang="en-US" sz="1300" dirty="0"/>
          </a:p>
        </p:txBody>
      </p:sp>
      <p:sp>
        <p:nvSpPr>
          <p:cNvPr id="50" name="g6_a"/>
          <p:cNvSpPr/>
          <p:nvPr/>
        </p:nvSpPr>
        <p:spPr>
          <a:xfrm>
            <a:off x="457200" y="4069080"/>
            <a:ext cx="4114800" cy="457200"/>
          </a:xfrm>
          <a:prstGeom prst="roundRect">
            <a:avLst>
              <a:gd name="adj" fmla="val 20000"/>
            </a:avLst>
          </a:prstGeom>
          <a:solidFill>
            <a:schemeClr val="accent1">
              <a:alpha val="10000"/>
            </a:schemeClr>
          </a:solidFill>
          <a:ln/>
        </p:spPr>
      </p:sp>
      <p:sp>
        <p:nvSpPr>
          <p:cNvPr id="51" name="g6_ic"/>
          <p:cNvSpPr/>
          <p:nvPr/>
        </p:nvSpPr>
        <p:spPr>
          <a:xfrm>
            <a:off x="566928" y="4151376"/>
            <a:ext cx="292608" cy="292608"/>
          </a:xfrm>
          <a:prstGeom prst="ellipse">
            <a:avLst/>
          </a:prstGeom>
          <a:solidFill>
            <a:schemeClr val="accent1"/>
          </a:solidFill>
          <a:ln/>
        </p:spPr>
      </p:sp>
      <p:pic>
        <p:nvPicPr>
          <p:cNvPr id="52" name="g6_im" descr="ícone">    </p:cNvPr>
          <p:cNvPicPr>
            <a:picLocks noChangeAspect="1"/>
          </p:cNvPicPr>
          <p:nvPr/>
        </p:nvPicPr>
        <p:blipFill>
          <a:blip r:embed="rId11"/>
          <a:stretch>
            <a:fillRect/>
          </a:stretch>
        </p:blipFill>
        <p:spPr>
          <a:xfrm>
            <a:off x="637154" y="4221602"/>
            <a:ext cx="152156" cy="152156"/>
          </a:xfrm>
          <a:prstGeom prst="rect">
            <a:avLst/>
          </a:prstGeom>
        </p:spPr>
      </p:pic>
      <p:sp>
        <p:nvSpPr>
          <p:cNvPr id="53" name="g6_at"/>
          <p:cNvSpPr txBox="1"/>
          <p:nvPr/>
        </p:nvSpPr>
        <p:spPr>
          <a:xfrm>
            <a:off x="960120" y="4069080"/>
            <a:ext cx="3566160" cy="457200"/>
          </a:xfrm>
          <a:prstGeom prst="rect">
            <a:avLst/>
          </a:prstGeom>
          <a:noFill/>
          <a:ln/>
        </p:spPr>
        <p:txBody>
          <a:bodyPr wrap="square" lIns="0" tIns="0" rIns="0" bIns="0" rtlCol="0" anchor="ctr"/>
          <a:lstStyle/>
          <a:p>
            <a:pPr indent="0" marL="0">
              <a:buNone/>
            </a:pPr>
            <a:r>
              <a:rPr lang="en-US" sz="1300" dirty="0">
                <a:solidFill>
                  <a:schemeClr val="tx1"/>
                </a:solidFill>
              </a:rPr>
              <a:t>Dados pessoais expostos</a:t>
            </a:r>
            <a:endParaRPr lang="en-US" sz="1300" dirty="0"/>
          </a:p>
        </p:txBody>
      </p:sp>
      <p:sp>
        <p:nvSpPr>
          <p:cNvPr id="54" name="g6_ar"/>
          <p:cNvSpPr/>
          <p:nvPr/>
        </p:nvSpPr>
        <p:spPr>
          <a:xfrm>
            <a:off x="4645152" y="4197096"/>
            <a:ext cx="219456" cy="201168"/>
          </a:xfrm>
          <a:prstGeom prst="rightArrow">
            <a:avLst/>
          </a:prstGeom>
          <a:solidFill>
            <a:schemeClr val="accent6"/>
          </a:solidFill>
          <a:ln/>
        </p:spPr>
      </p:sp>
      <p:sp>
        <p:nvSpPr>
          <p:cNvPr id="55" name="g6_b"/>
          <p:cNvSpPr/>
          <p:nvPr/>
        </p:nvSpPr>
        <p:spPr>
          <a:xfrm>
            <a:off x="4937760" y="4069080"/>
            <a:ext cx="3749040" cy="457200"/>
          </a:xfrm>
          <a:prstGeom prst="roundRect">
            <a:avLst>
              <a:gd name="adj" fmla="val 20000"/>
            </a:avLst>
          </a:prstGeom>
          <a:solidFill>
            <a:schemeClr val="accent4">
              <a:alpha val="12000"/>
            </a:schemeClr>
          </a:solidFill>
          <a:ln/>
        </p:spPr>
      </p:sp>
      <p:sp>
        <p:nvSpPr>
          <p:cNvPr id="56" name="g6_ic"/>
          <p:cNvSpPr/>
          <p:nvPr/>
        </p:nvSpPr>
        <p:spPr>
          <a:xfrm>
            <a:off x="5047488" y="4151376"/>
            <a:ext cx="292608" cy="292608"/>
          </a:xfrm>
          <a:prstGeom prst="ellipse">
            <a:avLst/>
          </a:prstGeom>
          <a:solidFill>
            <a:schemeClr val="accent4"/>
          </a:solidFill>
          <a:ln/>
        </p:spPr>
      </p:sp>
      <p:pic>
        <p:nvPicPr>
          <p:cNvPr id="57" name="g6_im" descr="ícone">    </p:cNvPr>
          <p:cNvPicPr>
            <a:picLocks noChangeAspect="1"/>
          </p:cNvPicPr>
          <p:nvPr/>
        </p:nvPicPr>
        <p:blipFill>
          <a:blip r:embed="rId12"/>
          <a:stretch>
            <a:fillRect/>
          </a:stretch>
        </p:blipFill>
        <p:spPr>
          <a:xfrm>
            <a:off x="5117714" y="4221602"/>
            <a:ext cx="152156" cy="152156"/>
          </a:xfrm>
          <a:prstGeom prst="rect">
            <a:avLst/>
          </a:prstGeom>
        </p:spPr>
      </p:pic>
      <p:sp>
        <p:nvSpPr>
          <p:cNvPr id="58" name="g6_bt"/>
          <p:cNvSpPr txBox="1"/>
          <p:nvPr/>
        </p:nvSpPr>
        <p:spPr>
          <a:xfrm>
            <a:off x="5440680" y="4069080"/>
            <a:ext cx="3200400" cy="457200"/>
          </a:xfrm>
          <a:prstGeom prst="rect">
            <a:avLst/>
          </a:prstGeom>
          <a:noFill/>
          <a:ln/>
        </p:spPr>
        <p:txBody>
          <a:bodyPr wrap="square" lIns="0" tIns="0" rIns="0" bIns="0" rtlCol="0" anchor="ctr"/>
          <a:lstStyle/>
          <a:p>
            <a:pPr indent="0" marL="0">
              <a:buNone/>
            </a:pPr>
            <a:r>
              <a:rPr lang="en-US" sz="1300" dirty="0">
                <a:solidFill>
                  <a:schemeClr val="tx1"/>
                </a:solidFill>
              </a:rPr>
              <a:t>HTTPS, permissões, dados mínimos e alojamento nacional</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72"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withEffect">
                                  <p:stCondLst>
                                    <p:cond delay="22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nodeType="withEffect">
                                  <p:stCondLst>
                                    <p:cond delay="22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22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22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nodeType="withEffect">
                                  <p:stCondLst>
                                    <p:cond delay="22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22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44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nodeType="withEffect">
                                  <p:stCondLst>
                                    <p:cond delay="44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44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44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44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44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nodeType="withEffect">
                                  <p:stCondLst>
                                    <p:cond delay="44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44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66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66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nodeType="withEffect">
                                  <p:stCondLst>
                                    <p:cond delay="66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grpId="0" nodeType="withEffect">
                                  <p:stCondLst>
                                    <p:cond delay="66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grpId="0" nodeType="withEffect">
                                  <p:stCondLst>
                                    <p:cond delay="66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66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grpId="0" nodeType="withEffect">
                                  <p:stCondLst>
                                    <p:cond delay="66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nodeType="withEffect">
                                  <p:stCondLst>
                                    <p:cond delay="66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par>
                                <p:cTn id="88" presetID="10" presetClass="entr" presetSubtype="0" fill="hold" grpId="0" nodeType="withEffect">
                                  <p:stCondLst>
                                    <p:cond delay="66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50"/>
                                        <p:tgtEl>
                                          <p:spTgt spid="31"/>
                                        </p:tgtEl>
                                      </p:cBhvr>
                                    </p:animEffect>
                                  </p:childTnLst>
                                </p:cTn>
                              </p:par>
                              <p:par>
                                <p:cTn id="91" presetID="10" presetClass="entr" presetSubtype="0" fill="hold" grpId="0" nodeType="withEffect">
                                  <p:stCondLst>
                                    <p:cond delay="88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50"/>
                                        <p:tgtEl>
                                          <p:spTgt spid="32"/>
                                        </p:tgtEl>
                                      </p:cBhvr>
                                    </p:animEffect>
                                  </p:childTnLst>
                                </p:cTn>
                              </p:par>
                              <p:par>
                                <p:cTn id="94" presetID="10" presetClass="entr" presetSubtype="0" fill="hold" grpId="0" nodeType="withEffect">
                                  <p:stCondLst>
                                    <p:cond delay="88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50"/>
                                        <p:tgtEl>
                                          <p:spTgt spid="33"/>
                                        </p:tgtEl>
                                      </p:cBhvr>
                                    </p:animEffect>
                                  </p:childTnLst>
                                </p:cTn>
                              </p:par>
                              <p:par>
                                <p:cTn id="97" presetID="10" presetClass="entr" presetSubtype="0" fill="hold" nodeType="withEffect">
                                  <p:stCondLst>
                                    <p:cond delay="88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grpId="0" nodeType="withEffect">
                                  <p:stCondLst>
                                    <p:cond delay="88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88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par>
                                <p:cTn id="106" presetID="10" presetClass="entr" presetSubtype="0" fill="hold" grpId="0" nodeType="withEffect">
                                  <p:stCondLst>
                                    <p:cond delay="88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88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par>
                                <p:cTn id="112" presetID="10" presetClass="entr" presetSubtype="0" fill="hold" nodeType="withEffect">
                                  <p:stCondLst>
                                    <p:cond delay="88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50"/>
                                        <p:tgtEl>
                                          <p:spTgt spid="39"/>
                                        </p:tgtEl>
                                      </p:cBhvr>
                                    </p:animEffect>
                                  </p:childTnLst>
                                </p:cTn>
                              </p:par>
                              <p:par>
                                <p:cTn id="115" presetID="10" presetClass="entr" presetSubtype="0" fill="hold" grpId="0" nodeType="withEffect">
                                  <p:stCondLst>
                                    <p:cond delay="88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50"/>
                                        <p:tgtEl>
                                          <p:spTgt spid="40"/>
                                        </p:tgtEl>
                                      </p:cBhvr>
                                    </p:animEffect>
                                  </p:childTnLst>
                                </p:cTn>
                              </p:par>
                              <p:par>
                                <p:cTn id="118" presetID="10" presetClass="entr" presetSubtype="0" fill="hold" grpId="0" nodeType="withEffect">
                                  <p:stCondLst>
                                    <p:cond delay="110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450"/>
                                        <p:tgtEl>
                                          <p:spTgt spid="41"/>
                                        </p:tgtEl>
                                      </p:cBhvr>
                                    </p:animEffect>
                                  </p:childTnLst>
                                </p:cTn>
                              </p:par>
                              <p:par>
                                <p:cTn id="121" presetID="10" presetClass="entr" presetSubtype="0" fill="hold" grpId="0" nodeType="withEffect">
                                  <p:stCondLst>
                                    <p:cond delay="110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450"/>
                                        <p:tgtEl>
                                          <p:spTgt spid="42"/>
                                        </p:tgtEl>
                                      </p:cBhvr>
                                    </p:animEffect>
                                  </p:childTnLst>
                                </p:cTn>
                              </p:par>
                              <p:par>
                                <p:cTn id="124" presetID="10" presetClass="entr" presetSubtype="0" fill="hold" nodeType="withEffect">
                                  <p:stCondLst>
                                    <p:cond delay="110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450"/>
                                        <p:tgtEl>
                                          <p:spTgt spid="43"/>
                                        </p:tgtEl>
                                      </p:cBhvr>
                                    </p:animEffect>
                                  </p:childTnLst>
                                </p:cTn>
                              </p:par>
                              <p:par>
                                <p:cTn id="127" presetID="10" presetClass="entr" presetSubtype="0" fill="hold" grpId="0" nodeType="withEffect">
                                  <p:stCondLst>
                                    <p:cond delay="110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450"/>
                                        <p:tgtEl>
                                          <p:spTgt spid="44"/>
                                        </p:tgtEl>
                                      </p:cBhvr>
                                    </p:animEffect>
                                  </p:childTnLst>
                                </p:cTn>
                              </p:par>
                              <p:par>
                                <p:cTn id="130" presetID="10" presetClass="entr" presetSubtype="0" fill="hold" grpId="0" nodeType="withEffect">
                                  <p:stCondLst>
                                    <p:cond delay="110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450"/>
                                        <p:tgtEl>
                                          <p:spTgt spid="45"/>
                                        </p:tgtEl>
                                      </p:cBhvr>
                                    </p:animEffect>
                                  </p:childTnLst>
                                </p:cTn>
                              </p:par>
                              <p:par>
                                <p:cTn id="133" presetID="10" presetClass="entr" presetSubtype="0" fill="hold" grpId="0" nodeType="withEffect">
                                  <p:stCondLst>
                                    <p:cond delay="110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450"/>
                                        <p:tgtEl>
                                          <p:spTgt spid="46"/>
                                        </p:tgtEl>
                                      </p:cBhvr>
                                    </p:animEffect>
                                  </p:childTnLst>
                                </p:cTn>
                              </p:par>
                              <p:par>
                                <p:cTn id="136" presetID="10" presetClass="entr" presetSubtype="0" fill="hold" grpId="0" nodeType="withEffect">
                                  <p:stCondLst>
                                    <p:cond delay="110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450"/>
                                        <p:tgtEl>
                                          <p:spTgt spid="47"/>
                                        </p:tgtEl>
                                      </p:cBhvr>
                                    </p:animEffect>
                                  </p:childTnLst>
                                </p:cTn>
                              </p:par>
                              <p:par>
                                <p:cTn id="139" presetID="10" presetClass="entr" presetSubtype="0" fill="hold" nodeType="withEffect">
                                  <p:stCondLst>
                                    <p:cond delay="110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450"/>
                                        <p:tgtEl>
                                          <p:spTgt spid="48"/>
                                        </p:tgtEl>
                                      </p:cBhvr>
                                    </p:animEffect>
                                  </p:childTnLst>
                                </p:cTn>
                              </p:par>
                              <p:par>
                                <p:cTn id="142" presetID="10" presetClass="entr" presetSubtype="0" fill="hold" grpId="0" nodeType="withEffect">
                                  <p:stCondLst>
                                    <p:cond delay="110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450"/>
                                        <p:tgtEl>
                                          <p:spTgt spid="49"/>
                                        </p:tgtEl>
                                      </p:cBhvr>
                                    </p:animEffect>
                                  </p:childTnLst>
                                </p:cTn>
                              </p:par>
                              <p:par>
                                <p:cTn id="145" presetID="10" presetClass="entr" presetSubtype="0" fill="hold" grpId="0" nodeType="withEffect">
                                  <p:stCondLst>
                                    <p:cond delay="132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450"/>
                                        <p:tgtEl>
                                          <p:spTgt spid="50"/>
                                        </p:tgtEl>
                                      </p:cBhvr>
                                    </p:animEffect>
                                  </p:childTnLst>
                                </p:cTn>
                              </p:par>
                              <p:par>
                                <p:cTn id="148" presetID="10" presetClass="entr" presetSubtype="0" fill="hold" grpId="0" nodeType="withEffect">
                                  <p:stCondLst>
                                    <p:cond delay="132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450"/>
                                        <p:tgtEl>
                                          <p:spTgt spid="51"/>
                                        </p:tgtEl>
                                      </p:cBhvr>
                                    </p:animEffect>
                                  </p:childTnLst>
                                </p:cTn>
                              </p:par>
                              <p:par>
                                <p:cTn id="151" presetID="10" presetClass="entr" presetSubtype="0" fill="hold" nodeType="withEffect">
                                  <p:stCondLst>
                                    <p:cond delay="132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450"/>
                                        <p:tgtEl>
                                          <p:spTgt spid="52"/>
                                        </p:tgtEl>
                                      </p:cBhvr>
                                    </p:animEffect>
                                  </p:childTnLst>
                                </p:cTn>
                              </p:par>
                              <p:par>
                                <p:cTn id="154" presetID="10" presetClass="entr" presetSubtype="0" fill="hold" grpId="0" nodeType="withEffect">
                                  <p:stCondLst>
                                    <p:cond delay="132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450"/>
                                        <p:tgtEl>
                                          <p:spTgt spid="53"/>
                                        </p:tgtEl>
                                      </p:cBhvr>
                                    </p:animEffect>
                                  </p:childTnLst>
                                </p:cTn>
                              </p:par>
                              <p:par>
                                <p:cTn id="157" presetID="10" presetClass="entr" presetSubtype="0" fill="hold" grpId="0" nodeType="withEffect">
                                  <p:stCondLst>
                                    <p:cond delay="132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450"/>
                                        <p:tgtEl>
                                          <p:spTgt spid="54"/>
                                        </p:tgtEl>
                                      </p:cBhvr>
                                    </p:animEffect>
                                  </p:childTnLst>
                                </p:cTn>
                              </p:par>
                              <p:par>
                                <p:cTn id="160" presetID="10" presetClass="entr" presetSubtype="0" fill="hold" grpId="0" nodeType="withEffect">
                                  <p:stCondLst>
                                    <p:cond delay="132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450"/>
                                        <p:tgtEl>
                                          <p:spTgt spid="55"/>
                                        </p:tgtEl>
                                      </p:cBhvr>
                                    </p:animEffect>
                                  </p:childTnLst>
                                </p:cTn>
                              </p:par>
                              <p:par>
                                <p:cTn id="163" presetID="10" presetClass="entr" presetSubtype="0" fill="hold" grpId="0" nodeType="withEffect">
                                  <p:stCondLst>
                                    <p:cond delay="132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450"/>
                                        <p:tgtEl>
                                          <p:spTgt spid="56"/>
                                        </p:tgtEl>
                                      </p:cBhvr>
                                    </p:animEffect>
                                  </p:childTnLst>
                                </p:cTn>
                              </p:par>
                              <p:par>
                                <p:cTn id="166" presetID="10" presetClass="entr" presetSubtype="0" fill="hold" nodeType="withEffect">
                                  <p:stCondLst>
                                    <p:cond delay="132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450"/>
                                        <p:tgtEl>
                                          <p:spTgt spid="57"/>
                                        </p:tgtEl>
                                      </p:cBhvr>
                                    </p:animEffect>
                                  </p:childTnLst>
                                </p:cTn>
                              </p:par>
                              <p:par>
                                <p:cTn id="169" presetID="10" presetClass="entr" presetSubtype="0" fill="hold" grpId="0" nodeType="withEffect">
                                  <p:stCondLst>
                                    <p:cond delay="132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4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P spid="9" grpId="0" animBg="1"/>
      <p:bldP spid="10" grpId="0" animBg="1"/>
      <p:bldP spid="11"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5" grpId="0" animBg="1"/>
      <p:bldP spid="36" grpId="0" animBg="1"/>
      <p:bldP spid="37" grpId="0" animBg="1"/>
      <p:bldP spid="38" grpId="0" animBg="1"/>
      <p:bldP spid="40" grpId="0" animBg="1"/>
      <p:bldP spid="41" grpId="0" animBg="1"/>
      <p:bldP spid="42" grpId="0" animBg="1"/>
      <p:bldP spid="44" grpId="0" animBg="1"/>
      <p:bldP spid="45" grpId="0" animBg="1"/>
      <p:bldP spid="46" grpId="0" animBg="1"/>
      <p:bldP spid="47" grpId="0" animBg="1"/>
      <p:bldP spid="49" grpId="0" animBg="1"/>
      <p:bldP spid="50" grpId="0" animBg="1"/>
      <p:bldP spid="51" grpId="0" animBg="1"/>
      <p:bldP spid="53" grpId="0" animBg="1"/>
      <p:bldP spid="54" grpId="0" animBg="1"/>
      <p:bldP spid="55" grpId="0" animBg="1"/>
      <p:bldP spid="56" grpId="0" animBg="1"/>
      <p:bldP spid="5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822960" y="274320"/>
            <a:ext cx="7863840" cy="685800"/>
          </a:xfrm>
          <a:prstGeom prst="rect">
            <a:avLst/>
          </a:prstGeom>
          <a:noFill/>
          <a:ln/>
        </p:spPr>
        <p:txBody>
          <a:bodyPr wrap="square" lIns="0" tIns="0" rIns="0" bIns="0" rtlCol="0" anchor="ctr"/>
          <a:lstStyle/>
          <a:p>
            <a:pPr algn="l" indent="0" marL="0">
              <a:buNone/>
            </a:pPr>
            <a:r>
              <a:rPr lang="en-US" sz="3000" b="1" dirty="0">
                <a:solidFill>
                  <a:schemeClr val="bg1"/>
                </a:solidFill>
              </a:rPr>
              <a:t>Conclusão</a:t>
            </a:r>
            <a:endParaRPr lang="en-US" sz="3000" dirty="0"/>
          </a:p>
        </p:txBody>
      </p:sp>
      <p:sp>
        <p:nvSpPr>
          <p:cNvPr id="3" name="g0_ic"/>
          <p:cNvSpPr/>
          <p:nvPr/>
        </p:nvSpPr>
        <p:spPr>
          <a:xfrm>
            <a:off x="457200" y="1325880"/>
            <a:ext cx="548640" cy="548640"/>
          </a:xfrm>
          <a:prstGeom prst="ellipse">
            <a:avLst/>
          </a:prstGeom>
          <a:solidFill>
            <a:schemeClr val="accent3"/>
          </a:solidFill>
          <a:ln/>
        </p:spPr>
      </p:sp>
      <p:pic>
        <p:nvPicPr>
          <p:cNvPr id="4" name="g0_im" descr="ícone">    </p:cNvPr>
          <p:cNvPicPr>
            <a:picLocks noChangeAspect="1"/>
          </p:cNvPicPr>
          <p:nvPr/>
        </p:nvPicPr>
        <p:blipFill>
          <a:blip r:embed="rId1"/>
          <a:stretch>
            <a:fillRect/>
          </a:stretch>
        </p:blipFill>
        <p:spPr>
          <a:xfrm>
            <a:off x="588874" y="1457554"/>
            <a:ext cx="285293" cy="285293"/>
          </a:xfrm>
          <a:prstGeom prst="rect">
            <a:avLst/>
          </a:prstGeom>
        </p:spPr>
      </p:pic>
      <p:sp>
        <p:nvSpPr>
          <p:cNvPr id="5" name="g0_t"/>
          <p:cNvSpPr txBox="1"/>
          <p:nvPr/>
        </p:nvSpPr>
        <p:spPr>
          <a:xfrm>
            <a:off x="1234440" y="1234440"/>
            <a:ext cx="3840480" cy="731520"/>
          </a:xfrm>
          <a:prstGeom prst="rect">
            <a:avLst/>
          </a:prstGeom>
          <a:noFill/>
          <a:ln/>
        </p:spPr>
        <p:txBody>
          <a:bodyPr wrap="square" lIns="0" tIns="0" rIns="0" bIns="0" rtlCol="0" anchor="ctr"/>
          <a:lstStyle/>
          <a:p>
            <a:pPr indent="0" marL="0">
              <a:buNone/>
            </a:pPr>
            <a:r>
              <a:rPr lang="en-US" sz="1500" dirty="0">
                <a:solidFill>
                  <a:schemeClr val="bg1"/>
                </a:solidFill>
              </a:rPr>
              <a:t>Marcar online já existe em Angola; falta ligá-lo à vez no próprio posto.</a:t>
            </a:r>
            <a:endParaRPr lang="en-US" sz="1500" dirty="0"/>
          </a:p>
        </p:txBody>
      </p:sp>
      <p:sp>
        <p:nvSpPr>
          <p:cNvPr id="6" name="g1_ic"/>
          <p:cNvSpPr/>
          <p:nvPr/>
        </p:nvSpPr>
        <p:spPr>
          <a:xfrm>
            <a:off x="457200" y="2468880"/>
            <a:ext cx="548640" cy="548640"/>
          </a:xfrm>
          <a:prstGeom prst="ellipse">
            <a:avLst/>
          </a:prstGeom>
          <a:solidFill>
            <a:schemeClr val="accent3"/>
          </a:solidFill>
          <a:ln/>
        </p:spPr>
      </p:sp>
      <p:pic>
        <p:nvPicPr>
          <p:cNvPr id="7" name="g1_im" descr="ícone">    </p:cNvPr>
          <p:cNvPicPr>
            <a:picLocks noChangeAspect="1"/>
          </p:cNvPicPr>
          <p:nvPr/>
        </p:nvPicPr>
        <p:blipFill>
          <a:blip r:embed="rId2"/>
          <a:stretch>
            <a:fillRect/>
          </a:stretch>
        </p:blipFill>
        <p:spPr>
          <a:xfrm>
            <a:off x="588874" y="2600554"/>
            <a:ext cx="285293" cy="285293"/>
          </a:xfrm>
          <a:prstGeom prst="rect">
            <a:avLst/>
          </a:prstGeom>
        </p:spPr>
      </p:pic>
      <p:sp>
        <p:nvSpPr>
          <p:cNvPr id="8" name="g1_t"/>
          <p:cNvSpPr txBox="1"/>
          <p:nvPr/>
        </p:nvSpPr>
        <p:spPr>
          <a:xfrm>
            <a:off x="1234440" y="2377440"/>
            <a:ext cx="3840480" cy="731520"/>
          </a:xfrm>
          <a:prstGeom prst="rect">
            <a:avLst/>
          </a:prstGeom>
          <a:noFill/>
          <a:ln/>
        </p:spPr>
        <p:txBody>
          <a:bodyPr wrap="square" lIns="0" tIns="0" rIns="0" bIns="0" rtlCol="0" anchor="ctr"/>
          <a:lstStyle/>
          <a:p>
            <a:pPr indent="0" marL="0">
              <a:buNone/>
            </a:pPr>
            <a:r>
              <a:rPr lang="en-US" sz="1500" dirty="0">
                <a:solidFill>
                  <a:schemeClr val="bg1"/>
                </a:solidFill>
              </a:rPr>
              <a:t>Solução complementar às senhas do SIAC, aberta, de baixo custo e inclusiva.</a:t>
            </a:r>
            <a:endParaRPr lang="en-US" sz="1500" dirty="0"/>
          </a:p>
        </p:txBody>
      </p:sp>
      <p:sp>
        <p:nvSpPr>
          <p:cNvPr id="9" name="g2_ic"/>
          <p:cNvSpPr/>
          <p:nvPr/>
        </p:nvSpPr>
        <p:spPr>
          <a:xfrm>
            <a:off x="457200" y="3611880"/>
            <a:ext cx="548640" cy="548640"/>
          </a:xfrm>
          <a:prstGeom prst="ellipse">
            <a:avLst/>
          </a:prstGeom>
          <a:solidFill>
            <a:schemeClr val="accent3"/>
          </a:solidFill>
          <a:ln/>
        </p:spPr>
      </p:sp>
      <p:pic>
        <p:nvPicPr>
          <p:cNvPr id="10" name="g2_im" descr="ícone">    </p:cNvPr>
          <p:cNvPicPr>
            <a:picLocks noChangeAspect="1"/>
          </p:cNvPicPr>
          <p:nvPr/>
        </p:nvPicPr>
        <p:blipFill>
          <a:blip r:embed="rId3"/>
          <a:stretch>
            <a:fillRect/>
          </a:stretch>
        </p:blipFill>
        <p:spPr>
          <a:xfrm>
            <a:off x="588874" y="3743554"/>
            <a:ext cx="285293" cy="285293"/>
          </a:xfrm>
          <a:prstGeom prst="rect">
            <a:avLst/>
          </a:prstGeom>
        </p:spPr>
      </p:pic>
      <p:sp>
        <p:nvSpPr>
          <p:cNvPr id="11" name="g2_t"/>
          <p:cNvSpPr txBox="1"/>
          <p:nvPr/>
        </p:nvSpPr>
        <p:spPr>
          <a:xfrm>
            <a:off x="1234440" y="3520440"/>
            <a:ext cx="3840480" cy="731520"/>
          </a:xfrm>
          <a:prstGeom prst="rect">
            <a:avLst/>
          </a:prstGeom>
          <a:noFill/>
          <a:ln/>
        </p:spPr>
        <p:txBody>
          <a:bodyPr wrap="square" lIns="0" tIns="0" rIns="0" bIns="0" rtlCol="0" anchor="ctr"/>
          <a:lstStyle/>
          <a:p>
            <a:pPr indent="0" marL="0">
              <a:buNone/>
            </a:pPr>
            <a:r>
              <a:rPr lang="en-US" sz="1500" dirty="0">
                <a:solidFill>
                  <a:schemeClr val="bg1"/>
                </a:solidFill>
              </a:rPr>
              <a:t>Ainda sem dados medidos: falta autorização, medir no posto e testar o protótipo.</a:t>
            </a:r>
            <a:endParaRPr lang="en-US" sz="1500" dirty="0"/>
          </a:p>
        </p:txBody>
      </p:sp>
      <p:sp>
        <p:nvSpPr>
          <p:cNvPr id="12" name="g3_card"/>
          <p:cNvSpPr/>
          <p:nvPr/>
        </p:nvSpPr>
        <p:spPr>
          <a:xfrm>
            <a:off x="5394960" y="1188720"/>
            <a:ext cx="3291840" cy="3383280"/>
          </a:xfrm>
          <a:prstGeom prst="roundRect">
            <a:avLst>
              <a:gd name="adj" fmla="val 4167"/>
            </a:avLst>
          </a:prstGeom>
          <a:solidFill>
            <a:schemeClr val="bg1"/>
          </a:solidFill>
          <a:ln/>
          <a:effectLst>
            <a:outerShdw sx="100000" sy="100000" kx="0" ky="0" algn="bl" rotWithShape="0" blurRad="101600" dist="25400" dir="5400000">
              <a:srgbClr val="000000">
                <a:alpha val="10000"/>
              </a:srgbClr>
            </a:outerShdw>
          </a:effectLst>
        </p:spPr>
      </p:sp>
      <p:pic>
        <p:nvPicPr>
          <p:cNvPr id="13" name="g3_logo" descr="Logótipo do SIAC">    </p:cNvPr>
          <p:cNvPicPr>
            <a:picLocks noChangeAspect="1"/>
          </p:cNvPicPr>
          <p:nvPr/>
        </p:nvPicPr>
        <p:blipFill>
          <a:blip r:embed="rId4"/>
          <a:stretch>
            <a:fillRect/>
          </a:stretch>
        </p:blipFill>
        <p:spPr>
          <a:xfrm>
            <a:off x="5715000" y="1417320"/>
            <a:ext cx="2651760" cy="1353312"/>
          </a:xfrm>
          <a:prstGeom prst="rect">
            <a:avLst/>
          </a:prstGeom>
        </p:spPr>
      </p:pic>
      <p:sp>
        <p:nvSpPr>
          <p:cNvPr id="14" name="g4_ob"/>
          <p:cNvSpPr txBox="1"/>
          <p:nvPr/>
        </p:nvSpPr>
        <p:spPr>
          <a:xfrm>
            <a:off x="5394960" y="3017520"/>
            <a:ext cx="3291840" cy="548640"/>
          </a:xfrm>
          <a:prstGeom prst="rect">
            <a:avLst/>
          </a:prstGeom>
          <a:noFill/>
          <a:ln/>
        </p:spPr>
        <p:txBody>
          <a:bodyPr wrap="square" lIns="0" tIns="0" rIns="0" bIns="0" rtlCol="0" anchor="ctr"/>
          <a:lstStyle/>
          <a:p>
            <a:pPr algn="ctr" indent="0" marL="0">
              <a:buNone/>
            </a:pPr>
            <a:r>
              <a:rPr lang="en-US" sz="3000" b="1" dirty="0">
                <a:solidFill>
                  <a:schemeClr val="tx1"/>
                </a:solidFill>
                <a:latin typeface="+mj-lt" pitchFamily="34" charset="0"/>
                <a:ea typeface="+mj-lt" pitchFamily="34" charset="-122"/>
                <a:cs typeface="+mj-lt" pitchFamily="34" charset="-120"/>
              </a:rPr>
              <a:t>Obrigado!</a:t>
            </a:r>
            <a:endParaRPr lang="en-US" sz="3000" dirty="0"/>
          </a:p>
        </p:txBody>
      </p:sp>
      <p:sp>
        <p:nvSpPr>
          <p:cNvPr id="15" name="g5_pq"/>
          <p:cNvSpPr txBox="1"/>
          <p:nvPr/>
        </p:nvSpPr>
        <p:spPr>
          <a:xfrm>
            <a:off x="5394960" y="3611880"/>
            <a:ext cx="3291840" cy="457200"/>
          </a:xfrm>
          <a:prstGeom prst="rect">
            <a:avLst/>
          </a:prstGeom>
          <a:noFill/>
          <a:ln/>
        </p:spPr>
        <p:txBody>
          <a:bodyPr wrap="square" lIns="0" tIns="0" rIns="0" bIns="0" rtlCol="0" anchor="ctr"/>
          <a:lstStyle/>
          <a:p>
            <a:pPr algn="ctr" indent="0" marL="0">
              <a:buNone/>
            </a:pPr>
            <a:r>
              <a:rPr lang="en-US" sz="2200" b="1" dirty="0">
                <a:solidFill>
                  <a:schemeClr val="accent1"/>
                </a:solidFill>
                <a:latin typeface="+mj-lt" pitchFamily="34" charset="0"/>
                <a:ea typeface="+mj-lt" pitchFamily="34" charset="-122"/>
                <a:cs typeface="+mj-lt" pitchFamily="34" charset="-120"/>
              </a:rPr>
              <a:t>Perguntas?</a:t>
            </a:r>
            <a:endParaRPr lang="en-US" sz="2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withEffect">
                                  <p:stCondLst>
                                    <p:cond delay="22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nodeType="withEffect">
                                  <p:stCondLst>
                                    <p:cond delay="22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2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44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nodeType="withEffect">
                                  <p:stCondLst>
                                    <p:cond delay="44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44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nodeType="withEffect">
                                  <p:stCondLst>
                                    <p:cond delay="66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88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11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P spid="14" grpId="0" animBg="1"/>
      <p:bldP spid="15" grpId="0" animBg="1"/>
    </p:bldLst>
  </p:timing>
</p:sld>
</file>

<file path=ppt/theme/theme1.xml><?xml version="1.0" encoding="utf-8"?>
<a:theme xmlns:a="http://schemas.openxmlformats.org/drawingml/2006/main" name="SIAC Defesa">
  <a:themeElements>
    <a:clrScheme name="SIAC Defesa">
      <a:dk1>
        <a:srgbClr val="1F2026"/>
      </a:dk1>
      <a:lt1>
        <a:srgbClr val="FFFFFF"/>
      </a:lt1>
      <a:dk2>
        <a:srgbClr val="2B2D36"/>
      </a:dk2>
      <a:lt2>
        <a:srgbClr val="F3F5F9"/>
      </a:lt2>
      <a:accent1>
        <a:srgbClr val="D7263D"/>
      </a:accent1>
      <a:accent2>
        <a:srgbClr val="0077B6"/>
      </a:accent2>
      <a:accent3>
        <a:srgbClr val="FFC72C"/>
      </a:accent3>
      <a:accent4>
        <a:srgbClr val="2E9E6B"/>
      </a:accent4>
      <a:accent5>
        <a:srgbClr val="5B6472"/>
      </a:accent5>
      <a:accent6>
        <a:srgbClr val="8A94A6"/>
      </a:accent6>
      <a:hlink>
        <a:srgbClr val="0077B6"/>
      </a:hlink>
      <a:folHlink>
        <a:srgbClr val="5B6472"/>
      </a:folHlink>
    </a:clrScheme>
    <a:fontScheme name="SIAC Defes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Agendamento e Gestão de Filas de Atendimento para o SIAC</dc:title>
  <dc:subject>PptxGenJS Presentation</dc:subject>
  <dc:creator>Manuel Mavitidi Da Cunha</dc:creator>
  <cp:lastModifiedBy>Manuel Mavitidi Da Cunha</cp:lastModifiedBy>
  <cp:revision>1</cp:revision>
  <dcterms:created xsi:type="dcterms:W3CDTF">2026-10-20T18:38:37Z</dcterms:created>
  <dcterms:modified xsi:type="dcterms:W3CDTF">2026-10-20T18:38:37Z</dcterms:modified>
</cp:coreProperties>
</file>