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8963d2e-3610-9a29-f569-f03e96f553c3}">
          <p14:sldIdLst>
            <p14:sldId id="256"/>
          </p14:sldIdLst>
        </p14:section>
        <p14:section name="Enquadramento" id="{60d8ba0b-faa3-a776-ab5e-64d1437cb475}">
          <p14:sldIdLst>
            <p14:sldId id="257"/>
            <p14:sldId id="258"/>
            <p14:sldId id="259"/>
            <p14:sldId id="260"/>
          </p14:sldIdLst>
        </p14:section>
        <p14:section name="Metodologia e comparação" id="{a3f71f14-8d16-a255-54b4-08ffe630dde8}">
          <p14:sldIdLst>
            <p14:sldId id="261"/>
            <p14:sldId id="262"/>
            <p14:sldId id="263"/>
          </p14:sldIdLst>
        </p14:section>
        <p14:section name="Solução proposta" id="{c5f3b127-8815-4c02-fb80-17b6f1a71a07}">
          <p14:sldIdLst>
            <p14:sldId id="264"/>
            <p14:sldId id="265"/>
            <p14:sldId id="266"/>
            <p14:sldId id="267"/>
            <p14:sldId id="268"/>
          </p14:sldIdLst>
        </p14:section>
        <p14:section name="Fecho" id="{7df06e71-f7a4-bc3b-ee17-b66f3df0acd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dia/boa tarde. Eu sou o Manuel Mavitidi Da Cunha, nº 15, turma CTI. O meu trabalho é um estudo de caso sobre um sistema de marcação de atendimento e gestão de filas para o SIAC. Vou apresentar o problema, o que já existe, e as tecnologias que escolhi e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SIAC é um serviço do Estado onde se trata de vários assuntos no mesmo sítio, como o BI e o registo. Por isso tem sempre muita procura. O ambiente está a mudar: o Governo anunciou que quer levar a emissão do BI aos BUAP e a cerca de 600 postos, e quer melhorar o atendimento nos picos, como férias escolares e concursos públicos (Ver Angola, 2024). Também foram noticiadas taxas adicionais no SIAC (Expansão). Quem paga mais espera um serviço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Imaginem: uma pessoa acorda cedo, passa horas na fila e, ao chegar ao balcão, descobre que falta um documento. Perdeu a manhã. Isto afecta os dois lados. O utente: esperas longas, viagens em vão e sem poder planear. O SIAC: não sabe quantos funcionários pôr em cada balcão, não tem dados sobre a duração dos atendimentos e os funcionários ficam cansados. Na pesquisa que fiz não consegui confirmar que o atendimento presencial do SIAC tenha marcação com fila em tempo real. É uma hipótese, e vou verificá-la com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principal é: de que forma um sistema de marcação e gestão de filas pode diminuir o tempo de espera e melhorar o atendimento no SIAC? Para responder, divido em quatro perguntas mais pequenas. A nossa hipótese é que, ao juntar marcação prévia, senha no local, avisos por SMS e um ecrã com a fila em tempo real, as pessoas esperam menos e ficam menos na dúvida.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objectivo geral é criar um sistema de marcação e gestão de filas para o SIAC. Para lá chegar, defini seis passos: perceber o atendimento actual e medir esperas, descobrir o que utentes e funcionários precisam, comparar soluções existentes, escolher tecnologias adequadas a Angola, construir um protótipo e testá-lo com pessoas reais. Este trabalho cobre sobretudo a proposta e a escolha de tecnologias; a recolha de dados e os testes são os passos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as conclusões não dependerem de uma única fonte, uso cinco métodos: observação, cronómetro, inquérito a 30 a 50 utentes, entrevistas e pesquisa em documentos. O caso é delimitado a um posto do SIAC em Luanda, aos dois ou três serviços mais procurados, num dia normal e num dia de muito movimento. Recolher dados numa instituição pública exige autorização: o pedido é feito com carta de apresentação da escola à direcção do 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Comparei soluções já existentes com sete critérios ligados ao nosso problema: marcação prévia, fila em tempo real, avisos, uso sem smartphone, informação sobre documentos, relatórios e custo. Analisei o portal de marcação do SME, a marcação nos consulados para o BI, a plataforma de identidade digital do Estado, sistemas comerciais como a Qmatic e balcões únicos internacionais como o Poupatempo, no Brasil. Onde diz 'A confirmar', a informação pública não deixa afirmar nem negar. Não presumi preços: devem ser pedidos às empresas.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comparação tiro quatro ideias. Um: marcar online já é possível em Angola. Dois: falta ligar a marcação à fila no próprio local. Três: é preciso incluir quem não tem smartphone. Quatro: os sistemas comerciais são completos mas pouco práticos aqui, por causa de custos, licenças e dependência externa. A nossa proposta não quer substituir o que existe; quer juntar as melhores ideias numa só solução de baixo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escolher tecnologias, defini o que o sistema tem de fazer. É como construir uma casa: primeiro vê-se quantos quartos são precisos. São 10 requisitos funcionais, por exemplo criar conta com confirmação por SMS, escolher serviço, posto, dia e hora, ver os documentos a levar, tirar senha no local, ecrã da fila, registo do atendimento e relatórios. E 7 não funcionais: funcionar em telemóveis simples, ser fácil de usar em português, ser seguro, proteger dados pessoais segundo a Lei 22/11, continuar a funcionar sem rede ou energia, aguentar dias de pico e ser fácil de manter. O caminho principal: o utente marca ou tira senha, o sistema guarda, o funcionário chama, o ecrã actualiza, e o atendimento é registado.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Podemos imaginar o sistema como um restaurante: o cliente faz o pedido num ecrã (a aplicação), a cozinha prepara (o back-end), o armazém guarda os ingredientes (a base de dados) e um painel chama o prato quando está pronto (a fila em tempo real). São cinco camadas: canais de acesso, aplicação, dados, serviços de apoio e infra-estrutura.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Django: já vem seguro, com login, perfis e protecção contra ataques comuns, o que é importante porque vamos guardar dados pessoais; tem painel de administração pronto; é rápido de desenvolver; e Python combina com análise de dados para os relatórios. Comparei com Spring Boot, Laravel e Node.js. O Spring Boot é a alternativa mais forte, robusto, mas dá mais trabalho a configurar; se o professor preferir Java, o projecto continua válido, só muda a camada da aplicação. PostgreSQL: impede duas pessoas ficarem com a mesma vaga, mesmo com muita gente a marcar ao mesmo tempo; é gratuito. O MySQL também serviria. Channels e Redis dão o ecrã em tempo real por WebSockets, melhor do que o polling. A PWA funciona como aplicação sem instalar, em Android, iPhone e computador. Docker e Nginx tornam a instalação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sistema só serve se chegar a toda a gente. O SMS chega a qualquer telemóvel. O WhatsApp Business é muito usado, mas tem custos e regras que devem ser confirmados. O terminal de senhas atende quem não marcou ou não tem telemóvel moderno. O USSD fica para uma fase seguinte, porque precisa de acordo com os operadores. Quanto à segurança, ela é pensada desde o princípio: HTTPS, palavras-passe cifradas, perfis, confirmação por SMS, limite de marcações, registo de acções, cópias de segurança e recolha só dos dados necessários, em linha com a Lei 22/11, de 17 de Junho. A conformidade deve ser confirmada no texto oficial e, numa instalação real, com ajuda de um jurista.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risco há uma medida de prevenção. Se a rede ou a energia falham, o terminal de senhas liga-se a um pequeno servidor local que sincroniza depois, mais um UPS. Se há pouca adesão, há senha impressa, SMS e ajuda de um funcionário. Contra marcações falsas, confirmação por SMS e limite por pessoa. Dados protegidos com cifragem, permissões e recolha mínima. Para ligar a sistemas do Estado, uma arquitectura aberta com API documentada. E os funcionários são envolvidos desde o início e recebem formação. Os custos de alojamento, SMS e equipamento devem vir de orçamentos reais; não inventei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resumo: marcar online já é possível em Angola, mas falta ligar a marcação à fila no próprio posto. A minha proposta é uma solução própria, aberta e de baixo custo, que inclui quem não tem smartphone. Os próximos passos são recolher os dados no posto, construir o protótipo e testá-lo com utentes. Obrigado pela atenção; estou disponível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1417320"/>
            <a:ext cx="4663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94360" y="3108960"/>
            <a:ext cx="4663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12064"/>
            <a:ext cx="256032" cy="2011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SIAC  ·  Agendamento e Gestão de Filas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12064"/>
            <a:ext cx="256032" cy="2011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SIAC  ·  Agendamento e Gestão de Filas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_out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ln w="28575">
            <a:solidFill>
              <a:schemeClr val="tx1"/>
            </a:solidFill>
            <a:prstDash val="solid"/>
          </a:ln>
        </p:spPr>
      </p:sp>
      <p:sp>
        <p:nvSpPr>
          <p:cNvPr id="3" name="frame_in"/>
          <p:cNvSpPr/>
          <p:nvPr/>
        </p:nvSpPr>
        <p:spPr>
          <a:xfrm>
            <a:off x="301752" y="301752"/>
            <a:ext cx="8540496" cy="4539996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sp>
      <p:pic>
        <p:nvPicPr>
          <p:cNvPr id="4" name="g0_itcl" descr="Logótipo do ITC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1737360" cy="594360"/>
          </a:xfrm>
          <a:prstGeom prst="rect">
            <a:avLst/>
          </a:prstGeom>
        </p:spPr>
      </p:pic>
      <p:sp>
        <p:nvSpPr>
          <p:cNvPr id="5" name="g0_min"/>
          <p:cNvSpPr txBox="1"/>
          <p:nvPr/>
        </p:nvSpPr>
        <p:spPr>
          <a:xfrm>
            <a:off x="2560320" y="6035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Ministério da Educação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Instituto Técnico Comercial de Luanda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94360" y="14173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Sistema de Agendamento e Gestão de Filas de Atendimento para o SIAC</a:t>
            </a:r>
            <a:endParaRPr lang="en-US" sz="28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9436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Estudo de Caso  |  Defesa do trabalho</a:t>
            </a:r>
            <a:endParaRPr lang="en-US" sz="1600" dirty="0"/>
          </a:p>
        </p:txBody>
      </p:sp>
      <p:sp>
        <p:nvSpPr>
          <p:cNvPr id="8" name="g1_panel"/>
          <p:cNvSpPr/>
          <p:nvPr/>
        </p:nvSpPr>
        <p:spPr>
          <a:xfrm>
            <a:off x="5440680" y="1234440"/>
            <a:ext cx="315468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g1_siac" descr="Logótipo do SIA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697480" cy="1377086"/>
          </a:xfrm>
          <a:prstGeom prst="rect">
            <a:avLst/>
          </a:prstGeom>
        </p:spPr>
      </p:pic>
      <p:sp>
        <p:nvSpPr>
          <p:cNvPr id="10" name="g3_autor"/>
          <p:cNvSpPr txBox="1"/>
          <p:nvPr/>
        </p:nvSpPr>
        <p:spPr>
          <a:xfrm>
            <a:off x="59436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Autor: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Manuel Mavitidi Da Cunha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Nº 15   ·   Turma: CTI   ·   Turno: Tarde</a:t>
            </a:r>
            <a:endParaRPr lang="en-US" sz="1400" dirty="0"/>
          </a:p>
        </p:txBody>
      </p:sp>
      <p:sp>
        <p:nvSpPr>
          <p:cNvPr id="11" name="g3_doc"/>
          <p:cNvSpPr txBox="1"/>
          <p:nvPr/>
        </p:nvSpPr>
        <p:spPr>
          <a:xfrm>
            <a:off x="56692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Docente</a:t>
            </a:r>
            <a:endParaRPr lang="en-US" sz="1400" dirty="0"/>
          </a:p>
          <a:p>
            <a:pPr indent="0" marL="0"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Prof. Marcial Mbango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 SIAC e a procura por atendimento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05686"/>
            <a:ext cx="309067" cy="309067"/>
          </a:xfrm>
          <a:prstGeom prst="rect">
            <a:avLst/>
          </a:prstGeom>
        </p:spPr>
      </p:pic>
      <p:sp>
        <p:nvSpPr>
          <p:cNvPr id="6" name="g0_t1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Balcão único do Estado</a:t>
            </a:r>
            <a:endParaRPr lang="en-US" sz="2000" dirty="0"/>
          </a:p>
        </p:txBody>
      </p:sp>
      <p:sp>
        <p:nvSpPr>
          <p:cNvPr id="7" name="g0_t2"/>
          <p:cNvSpPr txBox="1"/>
          <p:nvPr/>
        </p:nvSpPr>
        <p:spPr>
          <a:xfrm>
            <a:off x="73152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cidadão trata do BI, do registo e de outros assuntos no mesmo sítio. Com tanta procura, o SIAC é um bom caso para estudar o problema das esperas.</a:t>
            </a:r>
            <a:endParaRPr lang="en-US" sz="1400" dirty="0"/>
          </a:p>
        </p:txBody>
      </p:sp>
      <p:sp>
        <p:nvSpPr>
          <p:cNvPr id="8" name="g1_card"/>
          <p:cNvSpPr/>
          <p:nvPr/>
        </p:nvSpPr>
        <p:spPr>
          <a:xfrm>
            <a:off x="4297680" y="1188720"/>
            <a:ext cx="43891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g1_ic"/>
          <p:cNvSpPr/>
          <p:nvPr/>
        </p:nvSpPr>
        <p:spPr>
          <a:xfrm>
            <a:off x="4480560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521562"/>
            <a:ext cx="285293" cy="285293"/>
          </a:xfrm>
          <a:prstGeom prst="rect">
            <a:avLst/>
          </a:prstGeom>
        </p:spPr>
      </p:pic>
      <p:sp>
        <p:nvSpPr>
          <p:cNvPr id="11" name="g1_h"/>
          <p:cNvSpPr txBox="1"/>
          <p:nvPr/>
        </p:nvSpPr>
        <p:spPr>
          <a:xfrm>
            <a:off x="521208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 mais perto do cidadão</a:t>
            </a:r>
            <a:endParaRPr lang="en-US" sz="1600" dirty="0"/>
          </a:p>
        </p:txBody>
      </p:sp>
      <p:sp>
        <p:nvSpPr>
          <p:cNvPr id="12" name="g1_b"/>
          <p:cNvSpPr txBox="1"/>
          <p:nvPr/>
        </p:nvSpPr>
        <p:spPr>
          <a:xfrm>
            <a:off x="5212080" y="15910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Emissão do BI nos BUAP e em cerca de 600 postos comunais e municipais.</a:t>
            </a:r>
            <a:endParaRPr lang="en-US" sz="1300" dirty="0"/>
          </a:p>
        </p:txBody>
      </p:sp>
      <p:sp>
        <p:nvSpPr>
          <p:cNvPr id="13" name="g2_card"/>
          <p:cNvSpPr/>
          <p:nvPr/>
        </p:nvSpPr>
        <p:spPr>
          <a:xfrm>
            <a:off x="4297680" y="2331720"/>
            <a:ext cx="43891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g2_ic"/>
          <p:cNvSpPr/>
          <p:nvPr/>
        </p:nvSpPr>
        <p:spPr>
          <a:xfrm>
            <a:off x="4480560" y="253288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234" y="2664562"/>
            <a:ext cx="285293" cy="285293"/>
          </a:xfrm>
          <a:prstGeom prst="rect">
            <a:avLst/>
          </a:prstGeom>
        </p:spPr>
      </p:pic>
      <p:sp>
        <p:nvSpPr>
          <p:cNvPr id="16" name="g2_h"/>
          <p:cNvSpPr txBox="1"/>
          <p:nvPr/>
        </p:nvSpPr>
        <p:spPr>
          <a:xfrm>
            <a:off x="521208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Picos de procura</a:t>
            </a:r>
            <a:endParaRPr lang="en-US" sz="1600" dirty="0"/>
          </a:p>
        </p:txBody>
      </p:sp>
      <p:sp>
        <p:nvSpPr>
          <p:cNvPr id="17" name="g2_b"/>
          <p:cNvSpPr txBox="1"/>
          <p:nvPr/>
        </p:nvSpPr>
        <p:spPr>
          <a:xfrm>
            <a:off x="5212080" y="27340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Férias escolares e concursos públicos: as alturas em que aparece mais gente.</a:t>
            </a:r>
            <a:endParaRPr lang="en-US" sz="1300" dirty="0"/>
          </a:p>
        </p:txBody>
      </p:sp>
      <p:sp>
        <p:nvSpPr>
          <p:cNvPr id="18" name="g3_card"/>
          <p:cNvSpPr/>
          <p:nvPr/>
        </p:nvSpPr>
        <p:spPr>
          <a:xfrm>
            <a:off x="4297680" y="3474720"/>
            <a:ext cx="43891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g3_ic"/>
          <p:cNvSpPr/>
          <p:nvPr/>
        </p:nvSpPr>
        <p:spPr>
          <a:xfrm>
            <a:off x="4480560" y="367588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g3_im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234" y="3807562"/>
            <a:ext cx="285293" cy="285293"/>
          </a:xfrm>
          <a:prstGeom prst="rect">
            <a:avLst/>
          </a:prstGeom>
        </p:spPr>
      </p:pic>
      <p:sp>
        <p:nvSpPr>
          <p:cNvPr id="21" name="g3_h"/>
          <p:cNvSpPr txBox="1"/>
          <p:nvPr/>
        </p:nvSpPr>
        <p:spPr>
          <a:xfrm>
            <a:off x="521208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Taxas adicionais</a:t>
            </a:r>
            <a:endParaRPr lang="en-US" sz="1600" dirty="0"/>
          </a:p>
        </p:txBody>
      </p:sp>
      <p:sp>
        <p:nvSpPr>
          <p:cNvPr id="22" name="g3_b"/>
          <p:cNvSpPr txBox="1"/>
          <p:nvPr/>
        </p:nvSpPr>
        <p:spPr>
          <a:xfrm>
            <a:off x="5212080" y="38770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Quem paga mais espera um atendimento melhor e mais rápido.</a:t>
            </a:r>
            <a:endParaRPr lang="en-US" sz="1300" dirty="0"/>
          </a:p>
        </p:txBody>
      </p:sp>
      <p:sp>
        <p:nvSpPr>
          <p:cNvPr id="23" name="g4_src"/>
          <p:cNvSpPr txBox="1"/>
          <p:nvPr/>
        </p:nvSpPr>
        <p:spPr>
          <a:xfrm>
            <a:off x="457200" y="45445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Fontes: Ver Angola (2024); Expansão (s.d.)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 problema: esperas e idas em vão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92301"/>
            <a:ext cx="261518" cy="261518"/>
          </a:xfrm>
          <a:prstGeom prst="rect">
            <a:avLst/>
          </a:prstGeom>
        </p:spPr>
      </p:pic>
      <p:sp>
        <p:nvSpPr>
          <p:cNvPr id="6" name="g0_h"/>
          <p:cNvSpPr txBox="1"/>
          <p:nvPr/>
        </p:nvSpPr>
        <p:spPr>
          <a:xfrm>
            <a:off x="137160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o utente</a:t>
            </a:r>
            <a:endParaRPr lang="en-US" sz="1800" dirty="0"/>
          </a:p>
        </p:txBody>
      </p:sp>
      <p:sp>
        <p:nvSpPr>
          <p:cNvPr id="7" name="g0_i0"/>
          <p:cNvSpPr txBox="1"/>
          <p:nvPr/>
        </p:nvSpPr>
        <p:spPr>
          <a:xfrm>
            <a:off x="73152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Esperas longas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podem custar horas ou um dia de trabalho</a:t>
            </a:r>
            <a:endParaRPr lang="en-US" sz="1400" dirty="0"/>
          </a:p>
        </p:txBody>
      </p:sp>
      <p:sp>
        <p:nvSpPr>
          <p:cNvPr id="8" name="g0_i1"/>
          <p:cNvSpPr txBox="1"/>
          <p:nvPr/>
        </p:nvSpPr>
        <p:spPr>
          <a:xfrm>
            <a:off x="731520" y="2715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Viagens em vão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falta um documento ou serviço indisponível</a:t>
            </a:r>
            <a:endParaRPr lang="en-US" sz="1400" dirty="0"/>
          </a:p>
        </p:txBody>
      </p:sp>
      <p:sp>
        <p:nvSpPr>
          <p:cNvPr id="9" name="g0_i2"/>
          <p:cNvSpPr txBox="1"/>
          <p:nvPr/>
        </p:nvSpPr>
        <p:spPr>
          <a:xfrm>
            <a:off x="731520" y="33741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 planeamento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impossível escolher uma hora melhor</a:t>
            </a:r>
            <a:endParaRPr lang="en-US" sz="1400" dirty="0"/>
          </a:p>
        </p:txBody>
      </p:sp>
      <p:sp>
        <p:nvSpPr>
          <p:cNvPr id="10" name="g1_card"/>
          <p:cNvSpPr/>
          <p:nvPr/>
        </p:nvSpPr>
        <p:spPr>
          <a:xfrm>
            <a:off x="4663440" y="118872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g1_ic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492301"/>
            <a:ext cx="261518" cy="261518"/>
          </a:xfrm>
          <a:prstGeom prst="rect">
            <a:avLst/>
          </a:prstGeom>
        </p:spPr>
      </p:pic>
      <p:sp>
        <p:nvSpPr>
          <p:cNvPr id="13" name="g1_h"/>
          <p:cNvSpPr txBox="1"/>
          <p:nvPr/>
        </p:nvSpPr>
        <p:spPr>
          <a:xfrm>
            <a:off x="557784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Para o SIAC</a:t>
            </a:r>
            <a:endParaRPr lang="en-US" sz="1800" dirty="0"/>
          </a:p>
        </p:txBody>
      </p:sp>
      <p:sp>
        <p:nvSpPr>
          <p:cNvPr id="14" name="g1_i0"/>
          <p:cNvSpPr txBox="1"/>
          <p:nvPr/>
        </p:nvSpPr>
        <p:spPr>
          <a:xfrm>
            <a:off x="493776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Balcões mal dimensionados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difícil decidir quantos funcionários por hora</a:t>
            </a:r>
            <a:endParaRPr lang="en-US" sz="1400" dirty="0"/>
          </a:p>
        </p:txBody>
      </p:sp>
      <p:sp>
        <p:nvSpPr>
          <p:cNvPr id="15" name="g1_i1"/>
          <p:cNvSpPr txBox="1"/>
          <p:nvPr/>
        </p:nvSpPr>
        <p:spPr>
          <a:xfrm>
            <a:off x="4937760" y="2715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Falta de 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tempos de atendimento e horas de pico</a:t>
            </a:r>
            <a:endParaRPr lang="en-US" sz="1400" dirty="0"/>
          </a:p>
        </p:txBody>
      </p:sp>
      <p:sp>
        <p:nvSpPr>
          <p:cNvPr id="16" name="g1_i2"/>
          <p:cNvSpPr txBox="1"/>
          <p:nvPr/>
        </p:nvSpPr>
        <p:spPr>
          <a:xfrm>
            <a:off x="4937760" y="33741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Desgaste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funcionários cansados e imagem negativa</a:t>
            </a:r>
            <a:endParaRPr lang="en-US" sz="1400" dirty="0"/>
          </a:p>
        </p:txBody>
      </p:sp>
      <p:sp>
        <p:nvSpPr>
          <p:cNvPr id="17" name="g2_card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18" name="g2_ic"/>
          <p:cNvSpPr/>
          <p:nvPr/>
        </p:nvSpPr>
        <p:spPr>
          <a:xfrm>
            <a:off x="594360" y="4224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" y="4312310"/>
            <a:ext cx="190195" cy="190195"/>
          </a:xfrm>
          <a:prstGeom prst="rect">
            <a:avLst/>
          </a:prstGeom>
        </p:spPr>
      </p:pic>
      <p:sp>
        <p:nvSpPr>
          <p:cNvPr id="20" name="g2_t"/>
          <p:cNvSpPr txBox="1"/>
          <p:nvPr/>
        </p:nvSpPr>
        <p:spPr>
          <a:xfrm>
            <a:off x="1097280" y="41605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Hipótese a verificar: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não conseguimos confirmar que o atendimento presencial do SIAC junte marcação e fila em tempo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Pergunta de pesquisa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l"/>
          <p:cNvSpPr txBox="1"/>
          <p:nvPr/>
        </p:nvSpPr>
        <p:spPr>
          <a:xfrm>
            <a:off x="77724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PERGUNTA PRINCIPAL</a:t>
            </a:r>
            <a:endParaRPr lang="en-US" sz="1100" dirty="0"/>
          </a:p>
        </p:txBody>
      </p:sp>
      <p:sp>
        <p:nvSpPr>
          <p:cNvPr id="5" name="g0_q"/>
          <p:cNvSpPr txBox="1"/>
          <p:nvPr/>
        </p:nvSpPr>
        <p:spPr>
          <a:xfrm>
            <a:off x="777240" y="16276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que forma um sistema de marcação e de gestão de filas pode diminuir o tempo de espera e melhorar o atendimento no SIAC?</a:t>
            </a:r>
            <a:endParaRPr lang="en-US" sz="1900" dirty="0"/>
          </a:p>
        </p:txBody>
      </p:sp>
      <p:sp>
        <p:nvSpPr>
          <p:cNvPr id="6" name="g1_card"/>
          <p:cNvSpPr/>
          <p:nvPr/>
        </p:nvSpPr>
        <p:spPr>
          <a:xfrm>
            <a:off x="457200" y="2560320"/>
            <a:ext cx="51206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g1_h"/>
          <p:cNvSpPr txBox="1"/>
          <p:nvPr/>
        </p:nvSpPr>
        <p:spPr>
          <a:xfrm>
            <a:off x="7315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 responder, precisamos de saber:</a:t>
            </a:r>
            <a:endParaRPr lang="en-US" sz="1500" dirty="0"/>
          </a:p>
        </p:txBody>
      </p:sp>
      <p:sp>
        <p:nvSpPr>
          <p:cNvPr id="8" name="g1_num"/>
          <p:cNvSpPr txBox="1"/>
          <p:nvPr/>
        </p:nvSpPr>
        <p:spPr>
          <a:xfrm>
            <a:off x="731520" y="310896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g1_q0"/>
          <p:cNvSpPr txBox="1"/>
          <p:nvPr/>
        </p:nvSpPr>
        <p:spPr>
          <a:xfrm>
            <a:off x="114300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se espera hoje e porquê?</a:t>
            </a:r>
            <a:endParaRPr lang="en-US" sz="1400" dirty="0"/>
          </a:p>
        </p:txBody>
      </p:sp>
      <p:sp>
        <p:nvSpPr>
          <p:cNvPr id="10" name="g1_num"/>
          <p:cNvSpPr txBox="1"/>
          <p:nvPr/>
        </p:nvSpPr>
        <p:spPr>
          <a:xfrm>
            <a:off x="731520" y="348386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g1_q1"/>
          <p:cNvSpPr txBox="1"/>
          <p:nvPr/>
        </p:nvSpPr>
        <p:spPr>
          <a:xfrm>
            <a:off x="1143000" y="3483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querem utentes e funcionários?</a:t>
            </a:r>
            <a:endParaRPr lang="en-US" sz="1400" dirty="0"/>
          </a:p>
        </p:txBody>
      </p:sp>
      <p:sp>
        <p:nvSpPr>
          <p:cNvPr id="12" name="g1_num"/>
          <p:cNvSpPr txBox="1"/>
          <p:nvPr/>
        </p:nvSpPr>
        <p:spPr>
          <a:xfrm>
            <a:off x="731520" y="385876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g1_q2"/>
          <p:cNvSpPr txBox="1"/>
          <p:nvPr/>
        </p:nvSpPr>
        <p:spPr>
          <a:xfrm>
            <a:off x="114300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aprendemos com soluções parecidas?</a:t>
            </a:r>
            <a:endParaRPr lang="en-US" sz="1400" dirty="0"/>
          </a:p>
        </p:txBody>
      </p:sp>
      <p:sp>
        <p:nvSpPr>
          <p:cNvPr id="14" name="g1_num"/>
          <p:cNvSpPr txBox="1"/>
          <p:nvPr/>
        </p:nvSpPr>
        <p:spPr>
          <a:xfrm>
            <a:off x="731520" y="42336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g1_q3"/>
          <p:cNvSpPr txBox="1"/>
          <p:nvPr/>
        </p:nvSpPr>
        <p:spPr>
          <a:xfrm>
            <a:off x="1143000" y="4233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tecnologias servem a realidade de Angola?</a:t>
            </a:r>
            <a:endParaRPr lang="en-US" sz="1400" dirty="0"/>
          </a:p>
        </p:txBody>
      </p:sp>
      <p:sp>
        <p:nvSpPr>
          <p:cNvPr id="16" name="g2_card"/>
          <p:cNvSpPr/>
          <p:nvPr/>
        </p:nvSpPr>
        <p:spPr>
          <a:xfrm>
            <a:off x="5760720" y="2560320"/>
            <a:ext cx="2926080" cy="2057400"/>
          </a:xfrm>
          <a:prstGeom prst="roundRect">
            <a:avLst>
              <a:gd name="adj" fmla="val 5333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17" name="g2_ic"/>
          <p:cNvSpPr/>
          <p:nvPr/>
        </p:nvSpPr>
        <p:spPr>
          <a:xfrm>
            <a:off x="5989320" y="2743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g2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2852928"/>
            <a:ext cx="237744" cy="237744"/>
          </a:xfrm>
          <a:prstGeom prst="rect">
            <a:avLst/>
          </a:prstGeom>
        </p:spPr>
      </p:pic>
      <p:sp>
        <p:nvSpPr>
          <p:cNvPr id="19" name="g2_h"/>
          <p:cNvSpPr txBox="1"/>
          <p:nvPr/>
        </p:nvSpPr>
        <p:spPr>
          <a:xfrm>
            <a:off x="658368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Hipótese</a:t>
            </a:r>
            <a:endParaRPr lang="en-US" sz="1700" dirty="0"/>
          </a:p>
        </p:txBody>
      </p:sp>
      <p:sp>
        <p:nvSpPr>
          <p:cNvPr id="20" name="g2_t"/>
          <p:cNvSpPr txBox="1"/>
          <p:nvPr/>
        </p:nvSpPr>
        <p:spPr>
          <a:xfrm>
            <a:off x="5989320" y="33375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Marcação prévia + senha no local + SMS + ecrã em tempo real = menos espera, menos dúvida e dados para organizar os balcões.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Objectivos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2926080" cy="342900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05686"/>
            <a:ext cx="309067" cy="309067"/>
          </a:xfrm>
          <a:prstGeom prst="rect">
            <a:avLst/>
          </a:prstGeom>
        </p:spPr>
      </p:pic>
      <p:sp>
        <p:nvSpPr>
          <p:cNvPr id="6" name="g0_l"/>
          <p:cNvSpPr txBox="1"/>
          <p:nvPr/>
        </p:nvSpPr>
        <p:spPr>
          <a:xfrm>
            <a:off x="73152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OBJECTIVO GERAL</a:t>
            </a:r>
            <a:endParaRPr lang="en-US" sz="1200" dirty="0"/>
          </a:p>
        </p:txBody>
      </p:sp>
      <p:sp>
        <p:nvSpPr>
          <p:cNvPr id="7" name="g0_t"/>
          <p:cNvSpPr txBox="1"/>
          <p:nvPr/>
        </p:nvSpPr>
        <p:spPr>
          <a:xfrm>
            <a:off x="731520" y="25603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Criar um sistema de marcação e de gestão de filas para o SIAC, para que utentes e funcionários percam menos tempo e tenham uma melhor experiência.</a:t>
            </a:r>
            <a:endParaRPr lang="en-US" sz="1600" dirty="0"/>
          </a:p>
        </p:txBody>
      </p:sp>
      <p:sp>
        <p:nvSpPr>
          <p:cNvPr id="8" name="g1_h"/>
          <p:cNvSpPr txBox="1"/>
          <p:nvPr/>
        </p:nvSpPr>
        <p:spPr>
          <a:xfrm>
            <a:off x="365760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Objectivos específicos</a:t>
            </a:r>
            <a:endParaRPr lang="en-US" sz="1600" dirty="0"/>
          </a:p>
        </p:txBody>
      </p:sp>
      <p:sp>
        <p:nvSpPr>
          <p:cNvPr id="9" name="g2_card"/>
          <p:cNvSpPr/>
          <p:nvPr/>
        </p:nvSpPr>
        <p:spPr>
          <a:xfrm>
            <a:off x="3657600" y="1600200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g2_num"/>
          <p:cNvSpPr txBox="1"/>
          <p:nvPr/>
        </p:nvSpPr>
        <p:spPr>
          <a:xfrm>
            <a:off x="3794760" y="185623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g2_t"/>
          <p:cNvSpPr txBox="1"/>
          <p:nvPr/>
        </p:nvSpPr>
        <p:spPr>
          <a:xfrm>
            <a:off x="4343400" y="167335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Entender o atendimento actual e medir os tempos de espera</a:t>
            </a:r>
            <a:endParaRPr lang="en-US" sz="1300" dirty="0"/>
          </a:p>
        </p:txBody>
      </p:sp>
      <p:sp>
        <p:nvSpPr>
          <p:cNvPr id="12" name="g3_card"/>
          <p:cNvSpPr/>
          <p:nvPr/>
        </p:nvSpPr>
        <p:spPr>
          <a:xfrm>
            <a:off x="6217920" y="1600200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g3_num"/>
          <p:cNvSpPr txBox="1"/>
          <p:nvPr/>
        </p:nvSpPr>
        <p:spPr>
          <a:xfrm>
            <a:off x="6355080" y="185623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g3_t"/>
          <p:cNvSpPr txBox="1"/>
          <p:nvPr/>
        </p:nvSpPr>
        <p:spPr>
          <a:xfrm>
            <a:off x="6903720" y="167335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Descobrir o que utentes e funcionários precisam</a:t>
            </a:r>
            <a:endParaRPr lang="en-US" sz="1300" dirty="0"/>
          </a:p>
        </p:txBody>
      </p:sp>
      <p:sp>
        <p:nvSpPr>
          <p:cNvPr id="15" name="g4_card"/>
          <p:cNvSpPr/>
          <p:nvPr/>
        </p:nvSpPr>
        <p:spPr>
          <a:xfrm>
            <a:off x="3657600" y="2624328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g4_num"/>
          <p:cNvSpPr txBox="1"/>
          <p:nvPr/>
        </p:nvSpPr>
        <p:spPr>
          <a:xfrm>
            <a:off x="3794760" y="2880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g4_t"/>
          <p:cNvSpPr txBox="1"/>
          <p:nvPr/>
        </p:nvSpPr>
        <p:spPr>
          <a:xfrm>
            <a:off x="4343400" y="269748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Comparar soluções que já existem</a:t>
            </a:r>
            <a:endParaRPr lang="en-US" sz="1300" dirty="0"/>
          </a:p>
        </p:txBody>
      </p:sp>
      <p:sp>
        <p:nvSpPr>
          <p:cNvPr id="18" name="g5_card"/>
          <p:cNvSpPr/>
          <p:nvPr/>
        </p:nvSpPr>
        <p:spPr>
          <a:xfrm>
            <a:off x="6217920" y="2624328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g5_num"/>
          <p:cNvSpPr txBox="1"/>
          <p:nvPr/>
        </p:nvSpPr>
        <p:spPr>
          <a:xfrm>
            <a:off x="6355080" y="2880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g5_t"/>
          <p:cNvSpPr txBox="1"/>
          <p:nvPr/>
        </p:nvSpPr>
        <p:spPr>
          <a:xfrm>
            <a:off x="6903720" y="269748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Escolher tecnologias adequadas a Angola</a:t>
            </a:r>
            <a:endParaRPr lang="en-US" sz="1300" dirty="0"/>
          </a:p>
        </p:txBody>
      </p:sp>
      <p:sp>
        <p:nvSpPr>
          <p:cNvPr id="21" name="g6_card"/>
          <p:cNvSpPr/>
          <p:nvPr/>
        </p:nvSpPr>
        <p:spPr>
          <a:xfrm>
            <a:off x="3657600" y="3648456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g6_num"/>
          <p:cNvSpPr txBox="1"/>
          <p:nvPr/>
        </p:nvSpPr>
        <p:spPr>
          <a:xfrm>
            <a:off x="3794760" y="39044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g6_t"/>
          <p:cNvSpPr txBox="1"/>
          <p:nvPr/>
        </p:nvSpPr>
        <p:spPr>
          <a:xfrm>
            <a:off x="4343400" y="3721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Construir um protótipo funcional</a:t>
            </a:r>
            <a:endParaRPr lang="en-US" sz="1300" dirty="0"/>
          </a:p>
        </p:txBody>
      </p:sp>
      <p:sp>
        <p:nvSpPr>
          <p:cNvPr id="24" name="g7_card"/>
          <p:cNvSpPr/>
          <p:nvPr/>
        </p:nvSpPr>
        <p:spPr>
          <a:xfrm>
            <a:off x="6217920" y="3648456"/>
            <a:ext cx="246888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g7_num"/>
          <p:cNvSpPr txBox="1"/>
          <p:nvPr/>
        </p:nvSpPr>
        <p:spPr>
          <a:xfrm>
            <a:off x="6355080" y="39044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g7_t"/>
          <p:cNvSpPr txBox="1"/>
          <p:nvPr/>
        </p:nvSpPr>
        <p:spPr>
          <a:xfrm>
            <a:off x="6903720" y="3721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Testar com pessoas reais e analisar 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Como vamos recolher dados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1554480" cy="23317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4" y="1503274"/>
            <a:ext cx="285293" cy="285293"/>
          </a:xfrm>
          <a:prstGeom prst="rect">
            <a:avLst/>
          </a:prstGeom>
        </p:spPr>
      </p:pic>
      <p:sp>
        <p:nvSpPr>
          <p:cNvPr id="6" name="g0_h"/>
          <p:cNvSpPr txBox="1"/>
          <p:nvPr/>
        </p:nvSpPr>
        <p:spPr>
          <a:xfrm>
            <a:off x="594360" y="2084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Observação</a:t>
            </a:r>
            <a:endParaRPr lang="en-US" sz="1400" dirty="0"/>
          </a:p>
        </p:txBody>
      </p:sp>
      <p:sp>
        <p:nvSpPr>
          <p:cNvPr id="7" name="g0_t"/>
          <p:cNvSpPr txBox="1"/>
          <p:nvPr/>
        </p:nvSpPr>
        <p:spPr>
          <a:xfrm>
            <a:off x="594360" y="239572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Ver como funciona o atendimento, os balcões e a fila</a:t>
            </a:r>
            <a:endParaRPr lang="en-US" sz="1300" dirty="0"/>
          </a:p>
        </p:txBody>
      </p:sp>
      <p:sp>
        <p:nvSpPr>
          <p:cNvPr id="8" name="g1_card"/>
          <p:cNvSpPr/>
          <p:nvPr/>
        </p:nvSpPr>
        <p:spPr>
          <a:xfrm>
            <a:off x="2125980" y="1188720"/>
            <a:ext cx="1554480" cy="23317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g1_ic"/>
          <p:cNvSpPr/>
          <p:nvPr/>
        </p:nvSpPr>
        <p:spPr>
          <a:xfrm>
            <a:off x="226314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14" y="1503274"/>
            <a:ext cx="285293" cy="285293"/>
          </a:xfrm>
          <a:prstGeom prst="rect">
            <a:avLst/>
          </a:prstGeom>
        </p:spPr>
      </p:pic>
      <p:sp>
        <p:nvSpPr>
          <p:cNvPr id="11" name="g1_h"/>
          <p:cNvSpPr txBox="1"/>
          <p:nvPr/>
        </p:nvSpPr>
        <p:spPr>
          <a:xfrm>
            <a:off x="2263140" y="2084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Cronómetro</a:t>
            </a:r>
            <a:endParaRPr lang="en-US" sz="1400" dirty="0"/>
          </a:p>
        </p:txBody>
      </p:sp>
      <p:sp>
        <p:nvSpPr>
          <p:cNvPr id="12" name="g1_t"/>
          <p:cNvSpPr txBox="1"/>
          <p:nvPr/>
        </p:nvSpPr>
        <p:spPr>
          <a:xfrm>
            <a:off x="2263140" y="239572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Medir esperas e duração de cada atendimento</a:t>
            </a:r>
            <a:endParaRPr lang="en-US" sz="1300" dirty="0"/>
          </a:p>
        </p:txBody>
      </p:sp>
      <p:sp>
        <p:nvSpPr>
          <p:cNvPr id="13" name="g2_card"/>
          <p:cNvSpPr/>
          <p:nvPr/>
        </p:nvSpPr>
        <p:spPr>
          <a:xfrm>
            <a:off x="3794760" y="1188720"/>
            <a:ext cx="1554480" cy="23317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g2_ic"/>
          <p:cNvSpPr/>
          <p:nvPr/>
        </p:nvSpPr>
        <p:spPr>
          <a:xfrm>
            <a:off x="393192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594" y="1503274"/>
            <a:ext cx="285293" cy="285293"/>
          </a:xfrm>
          <a:prstGeom prst="rect">
            <a:avLst/>
          </a:prstGeom>
        </p:spPr>
      </p:pic>
      <p:sp>
        <p:nvSpPr>
          <p:cNvPr id="16" name="g2_h"/>
          <p:cNvSpPr txBox="1"/>
          <p:nvPr/>
        </p:nvSpPr>
        <p:spPr>
          <a:xfrm>
            <a:off x="3931920" y="2084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Inquérito</a:t>
            </a:r>
            <a:endParaRPr lang="en-US" sz="1400" dirty="0"/>
          </a:p>
        </p:txBody>
      </p:sp>
      <p:sp>
        <p:nvSpPr>
          <p:cNvPr id="17" name="g2_t"/>
          <p:cNvSpPr txBox="1"/>
          <p:nvPr/>
        </p:nvSpPr>
        <p:spPr>
          <a:xfrm>
            <a:off x="3931920" y="239572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30 a 50 utentes: espera, idas em vão e uso do telemóvel</a:t>
            </a:r>
            <a:endParaRPr lang="en-US" sz="1300" dirty="0"/>
          </a:p>
        </p:txBody>
      </p:sp>
      <p:sp>
        <p:nvSpPr>
          <p:cNvPr id="18" name="g3_card"/>
          <p:cNvSpPr/>
          <p:nvPr/>
        </p:nvSpPr>
        <p:spPr>
          <a:xfrm>
            <a:off x="5463540" y="1188720"/>
            <a:ext cx="1554480" cy="23317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g3_ic"/>
          <p:cNvSpPr/>
          <p:nvPr/>
        </p:nvSpPr>
        <p:spPr>
          <a:xfrm>
            <a:off x="5600700" y="1371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g3_im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374" y="1503274"/>
            <a:ext cx="285293" cy="285293"/>
          </a:xfrm>
          <a:prstGeom prst="rect">
            <a:avLst/>
          </a:prstGeom>
        </p:spPr>
      </p:pic>
      <p:sp>
        <p:nvSpPr>
          <p:cNvPr id="21" name="g3_h"/>
          <p:cNvSpPr txBox="1"/>
          <p:nvPr/>
        </p:nvSpPr>
        <p:spPr>
          <a:xfrm>
            <a:off x="5600700" y="2084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Entrevistas</a:t>
            </a:r>
            <a:endParaRPr lang="en-US" sz="1400" dirty="0"/>
          </a:p>
        </p:txBody>
      </p:sp>
      <p:sp>
        <p:nvSpPr>
          <p:cNvPr id="22" name="g3_t"/>
          <p:cNvSpPr txBox="1"/>
          <p:nvPr/>
        </p:nvSpPr>
        <p:spPr>
          <a:xfrm>
            <a:off x="5600700" y="239572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Funcionários e, se autorizado, o responsável do posto</a:t>
            </a:r>
            <a:endParaRPr lang="en-US" sz="1300" dirty="0"/>
          </a:p>
        </p:txBody>
      </p:sp>
      <p:sp>
        <p:nvSpPr>
          <p:cNvPr id="23" name="g4_card"/>
          <p:cNvSpPr/>
          <p:nvPr/>
        </p:nvSpPr>
        <p:spPr>
          <a:xfrm>
            <a:off x="7132320" y="1188720"/>
            <a:ext cx="1554480" cy="23317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g4_ic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g4_im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154" y="1503274"/>
            <a:ext cx="285293" cy="285293"/>
          </a:xfrm>
          <a:prstGeom prst="rect">
            <a:avLst/>
          </a:prstGeom>
        </p:spPr>
      </p:pic>
      <p:sp>
        <p:nvSpPr>
          <p:cNvPr id="26" name="g4_h"/>
          <p:cNvSpPr txBox="1"/>
          <p:nvPr/>
        </p:nvSpPr>
        <p:spPr>
          <a:xfrm>
            <a:off x="7269480" y="20848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Documentos</a:t>
            </a:r>
            <a:endParaRPr lang="en-US" sz="1400" dirty="0"/>
          </a:p>
        </p:txBody>
      </p:sp>
      <p:sp>
        <p:nvSpPr>
          <p:cNvPr id="27" name="g4_t"/>
          <p:cNvSpPr txBox="1"/>
          <p:nvPr/>
        </p:nvSpPr>
        <p:spPr>
          <a:xfrm>
            <a:off x="7269480" y="2395728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Leis, notícias e textos oficiais</a:t>
            </a:r>
            <a:endParaRPr lang="en-US" sz="1300" dirty="0"/>
          </a:p>
        </p:txBody>
      </p:sp>
      <p:sp>
        <p:nvSpPr>
          <p:cNvPr id="28" name="g5_h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Delimitação do caso</a:t>
            </a:r>
            <a:endParaRPr lang="en-US" sz="1500" dirty="0"/>
          </a:p>
        </p:txBody>
      </p:sp>
      <p:sp>
        <p:nvSpPr>
          <p:cNvPr id="29" name="g6_c0"/>
          <p:cNvSpPr/>
          <p:nvPr/>
        </p:nvSpPr>
        <p:spPr>
          <a:xfrm>
            <a:off x="457200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0" name="g6_t0"/>
          <p:cNvSpPr txBox="1"/>
          <p:nvPr/>
        </p:nvSpPr>
        <p:spPr>
          <a:xfrm>
            <a:off x="566928" y="402336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Onde: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 posto do SIAC em Luanda</a:t>
            </a:r>
            <a:endParaRPr lang="en-US" sz="1200" dirty="0"/>
          </a:p>
        </p:txBody>
      </p:sp>
      <p:sp>
        <p:nvSpPr>
          <p:cNvPr id="31" name="g6_c1"/>
          <p:cNvSpPr/>
          <p:nvPr/>
        </p:nvSpPr>
        <p:spPr>
          <a:xfrm>
            <a:off x="2544775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2" name="g6_t1"/>
          <p:cNvSpPr txBox="1"/>
          <p:nvPr/>
        </p:nvSpPr>
        <p:spPr>
          <a:xfrm>
            <a:off x="2654503" y="402336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 quê: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a 3 serviços mais procurados</a:t>
            </a:r>
            <a:endParaRPr lang="en-US" sz="1200" dirty="0"/>
          </a:p>
        </p:txBody>
      </p:sp>
      <p:sp>
        <p:nvSpPr>
          <p:cNvPr id="33" name="g6_c2"/>
          <p:cNvSpPr/>
          <p:nvPr/>
        </p:nvSpPr>
        <p:spPr>
          <a:xfrm>
            <a:off x="4632350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4" name="g6_t2"/>
          <p:cNvSpPr txBox="1"/>
          <p:nvPr/>
        </p:nvSpPr>
        <p:spPr>
          <a:xfrm>
            <a:off x="4742078" y="402336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Quando: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 dia normal e um dia de pico</a:t>
            </a:r>
            <a:endParaRPr lang="en-US" sz="1200" dirty="0"/>
          </a:p>
        </p:txBody>
      </p:sp>
      <p:sp>
        <p:nvSpPr>
          <p:cNvPr id="35" name="g6_c3"/>
          <p:cNvSpPr/>
          <p:nvPr/>
        </p:nvSpPr>
        <p:spPr>
          <a:xfrm>
            <a:off x="6719926" y="402336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6" name="g6_t3"/>
          <p:cNvSpPr txBox="1"/>
          <p:nvPr/>
        </p:nvSpPr>
        <p:spPr>
          <a:xfrm>
            <a:off x="6829654" y="402336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 quem: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utentes e funcionários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Estudo de comparação</a:t>
            </a:r>
            <a:endParaRPr lang="en-US" sz="3000" dirty="0"/>
          </a:p>
        </p:txBody>
      </p:sp>
      <p:graphicFrame>
        <p:nvGraphicFramePr>
          <p:cNvPr id="8" name="g0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463040"/>
                <a:gridCol w="18288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0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Portal SME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0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Marcação consular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0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Sistemas comerciais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0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Nossa proposta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Marcação prévia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Normalmente 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Fila em tempo real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Avisos ao utente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 (varia)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 (SMS e WhatsApp)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Uso sem smartphone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Limitado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 (terminais no local)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 (senha física e SMS)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Lista de documentos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Depende da configuração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Relatórios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472"/>
                          </a:solidFill>
                        </a:rPr>
                        <a:t>A confirmar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Custo e dependência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Estatal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Estatal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026"/>
                          </a:solidFill>
                        </a:rPr>
                        <a:t>Licenças e fornecedor externo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026"/>
                          </a:solidFill>
                        </a:rPr>
                        <a:t>Código próprio, sem licenças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</a:tr>
            </a:tbl>
          </a:graphicData>
        </a:graphic>
      </p:graphicFrame>
      <p:sp>
        <p:nvSpPr>
          <p:cNvPr id="4" name="g1_leg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“A confirmar”: a informação pública não permite afirmar nem negar; será verificado com testes, entrevistas e a documentação dos fornecedores.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 que aprendemos e o que propomos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num"/>
          <p:cNvSpPr txBox="1"/>
          <p:nvPr/>
        </p:nvSpPr>
        <p:spPr>
          <a:xfrm>
            <a:off x="640080" y="15316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g0_t"/>
          <p:cNvSpPr txBox="1"/>
          <p:nvPr/>
        </p:nvSpPr>
        <p:spPr>
          <a:xfrm>
            <a:off x="1234440" y="129844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Marcar online já existe em Angola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O SME e os consulados provam que funciona; o desafio é adaptar a um atendimento presencial cheio.</a:t>
            </a:r>
            <a:endParaRPr lang="en-US" sz="1400" dirty="0"/>
          </a:p>
        </p:txBody>
      </p:sp>
      <p:sp>
        <p:nvSpPr>
          <p:cNvPr id="6" name="g1_card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g1_num"/>
          <p:cNvSpPr txBox="1"/>
          <p:nvPr/>
        </p:nvSpPr>
        <p:spPr>
          <a:xfrm>
            <a:off x="4846320" y="15316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g1_t"/>
          <p:cNvSpPr txBox="1"/>
          <p:nvPr/>
        </p:nvSpPr>
        <p:spPr>
          <a:xfrm>
            <a:off x="5440680" y="129844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Falta ligar à fila no local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As soluções vistas focam-se na marcação, sem senha, chamada ao balcão e ecrã em tempo real.</a:t>
            </a:r>
            <a:endParaRPr lang="en-US" sz="1400" dirty="0"/>
          </a:p>
        </p:txBody>
      </p:sp>
      <p:sp>
        <p:nvSpPr>
          <p:cNvPr id="9" name="g2_card"/>
          <p:cNvSpPr/>
          <p:nvPr/>
        </p:nvSpPr>
        <p:spPr>
          <a:xfrm>
            <a:off x="457200" y="237744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g2_num"/>
          <p:cNvSpPr txBox="1"/>
          <p:nvPr/>
        </p:nvSpPr>
        <p:spPr>
          <a:xfrm>
            <a:off x="640080" y="27203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g2_t"/>
          <p:cNvSpPr txBox="1"/>
          <p:nvPr/>
        </p:nvSpPr>
        <p:spPr>
          <a:xfrm>
            <a:off x="1234440" y="248716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Incluir quem não tem smartphone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SMS, senha impressa e, mais tarde, USSD.</a:t>
            </a:r>
            <a:endParaRPr lang="en-US" sz="1400" dirty="0"/>
          </a:p>
        </p:txBody>
      </p:sp>
      <p:sp>
        <p:nvSpPr>
          <p:cNvPr id="12" name="g3_card"/>
          <p:cNvSpPr/>
          <p:nvPr/>
        </p:nvSpPr>
        <p:spPr>
          <a:xfrm>
            <a:off x="4663440" y="237744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g3_num"/>
          <p:cNvSpPr txBox="1"/>
          <p:nvPr/>
        </p:nvSpPr>
        <p:spPr>
          <a:xfrm>
            <a:off x="4846320" y="27203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g3_t"/>
          <p:cNvSpPr txBox="1"/>
          <p:nvPr/>
        </p:nvSpPr>
        <p:spPr>
          <a:xfrm>
            <a:off x="5440680" y="2487168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Sistemas comerciais pouco práticos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Licenças, custos e dependência de empresas de fora favorecem uma solução local e aberta.</a:t>
            </a:r>
            <a:endParaRPr lang="en-US" sz="1400" dirty="0"/>
          </a:p>
        </p:txBody>
      </p:sp>
      <p:sp>
        <p:nvSpPr>
          <p:cNvPr id="15" name="g4_card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g4_l"/>
          <p:cNvSpPr txBox="1"/>
          <p:nvPr/>
        </p:nvSpPr>
        <p:spPr>
          <a:xfrm>
            <a:off x="777240" y="3721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O QUE A NOSSA PROPOSTA TRAZ DE NOVO</a:t>
            </a:r>
            <a:endParaRPr lang="en-US" sz="1100" dirty="0"/>
          </a:p>
        </p:txBody>
      </p:sp>
      <p:sp>
        <p:nvSpPr>
          <p:cNvPr id="17" name="g4_t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Juntar, numa só solução de baixo custo: marcação prévia (SME), lista de documentos por serviço (consulados), fila em tempo real e relatórios (sistemas comerciais) e preparação para ligar à identidade digital do Estado.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 que o sistema tem de fazer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n"/>
          <p:cNvSpPr txBox="1"/>
          <p:nvPr/>
        </p:nvSpPr>
        <p:spPr>
          <a:xfrm>
            <a:off x="64008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4800" dirty="0"/>
          </a:p>
        </p:txBody>
      </p:sp>
      <p:sp>
        <p:nvSpPr>
          <p:cNvPr id="5" name="g0_l"/>
          <p:cNvSpPr txBox="1"/>
          <p:nvPr/>
        </p:nvSpPr>
        <p:spPr>
          <a:xfrm>
            <a:off x="64008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funcionais</a:t>
            </a:r>
            <a:endParaRPr lang="en-US" sz="1200" dirty="0"/>
          </a:p>
        </p:txBody>
      </p:sp>
      <p:sp>
        <p:nvSpPr>
          <p:cNvPr id="6" name="g0_b"/>
          <p:cNvSpPr txBox="1"/>
          <p:nvPr/>
        </p:nvSpPr>
        <p:spPr>
          <a:xfrm>
            <a:off x="2057400" y="1325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Marcar dia e hora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Senha no local e ecrã da fila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Relatórios para o posto</a:t>
            </a:r>
            <a:endParaRPr lang="en-US" sz="1300" dirty="0"/>
          </a:p>
        </p:txBody>
      </p:sp>
      <p:sp>
        <p:nvSpPr>
          <p:cNvPr id="7" name="g1_card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g1_n"/>
          <p:cNvSpPr txBox="1"/>
          <p:nvPr/>
        </p:nvSpPr>
        <p:spPr>
          <a:xfrm>
            <a:off x="484632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9" name="g1_l"/>
          <p:cNvSpPr txBox="1"/>
          <p:nvPr/>
        </p:nvSpPr>
        <p:spPr>
          <a:xfrm>
            <a:off x="48463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não funcionais</a:t>
            </a:r>
            <a:endParaRPr lang="en-US" sz="1200" dirty="0"/>
          </a:p>
        </p:txBody>
      </p:sp>
      <p:sp>
        <p:nvSpPr>
          <p:cNvPr id="10" name="g1_b"/>
          <p:cNvSpPr txBox="1"/>
          <p:nvPr/>
        </p:nvSpPr>
        <p:spPr>
          <a:xfrm>
            <a:off x="6263640" y="13258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Telemóveis simples e rede lenta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Seguro (Lei 22/11)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Funciona se a rede falhar</a:t>
            </a:r>
            <a:endParaRPr lang="en-US" sz="1300" dirty="0"/>
          </a:p>
        </p:txBody>
      </p:sp>
      <p:sp>
        <p:nvSpPr>
          <p:cNvPr id="11" name="g2_h"/>
          <p:cNvSpPr txBox="1"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 caminho principal</a:t>
            </a:r>
            <a:endParaRPr lang="en-US" sz="1500" dirty="0"/>
          </a:p>
        </p:txBody>
      </p:sp>
      <p:sp>
        <p:nvSpPr>
          <p:cNvPr id="12" name="g3_card"/>
          <p:cNvSpPr/>
          <p:nvPr/>
        </p:nvSpPr>
        <p:spPr>
          <a:xfrm>
            <a:off x="457200" y="315468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g3_num"/>
          <p:cNvSpPr txBox="1"/>
          <p:nvPr/>
        </p:nvSpPr>
        <p:spPr>
          <a:xfrm>
            <a:off x="566928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g3_t"/>
          <p:cNvSpPr txBox="1"/>
          <p:nvPr/>
        </p:nvSpPr>
        <p:spPr>
          <a:xfrm>
            <a:off x="566928" y="370332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utente marca na aplicação ou tira senha no terminal</a:t>
            </a:r>
            <a:endParaRPr lang="en-US" sz="1200" dirty="0"/>
          </a:p>
        </p:txBody>
      </p:sp>
      <p:sp>
        <p:nvSpPr>
          <p:cNvPr id="15" name="g3_ar"/>
          <p:cNvSpPr/>
          <p:nvPr/>
        </p:nvSpPr>
        <p:spPr>
          <a:xfrm>
            <a:off x="1956816" y="3767328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6" name="g4_card"/>
          <p:cNvSpPr/>
          <p:nvPr/>
        </p:nvSpPr>
        <p:spPr>
          <a:xfrm>
            <a:off x="2148840" y="315468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g4_num"/>
          <p:cNvSpPr txBox="1"/>
          <p:nvPr/>
        </p:nvSpPr>
        <p:spPr>
          <a:xfrm>
            <a:off x="2258568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g4_t"/>
          <p:cNvSpPr txBox="1"/>
          <p:nvPr/>
        </p:nvSpPr>
        <p:spPr>
          <a:xfrm>
            <a:off x="2258568" y="370332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sistema guarda o pedido</a:t>
            </a:r>
            <a:endParaRPr lang="en-US" sz="1200" dirty="0"/>
          </a:p>
        </p:txBody>
      </p:sp>
      <p:sp>
        <p:nvSpPr>
          <p:cNvPr id="19" name="g4_ar"/>
          <p:cNvSpPr/>
          <p:nvPr/>
        </p:nvSpPr>
        <p:spPr>
          <a:xfrm>
            <a:off x="3648456" y="3767328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0" name="g5_card"/>
          <p:cNvSpPr/>
          <p:nvPr/>
        </p:nvSpPr>
        <p:spPr>
          <a:xfrm>
            <a:off x="3840480" y="315468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g5_num"/>
          <p:cNvSpPr txBox="1"/>
          <p:nvPr/>
        </p:nvSpPr>
        <p:spPr>
          <a:xfrm>
            <a:off x="3950208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g5_t"/>
          <p:cNvSpPr txBox="1"/>
          <p:nvPr/>
        </p:nvSpPr>
        <p:spPr>
          <a:xfrm>
            <a:off x="3950208" y="370332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funcionário chama a senha ao balcão</a:t>
            </a:r>
            <a:endParaRPr lang="en-US" sz="1200" dirty="0"/>
          </a:p>
        </p:txBody>
      </p:sp>
      <p:sp>
        <p:nvSpPr>
          <p:cNvPr id="23" name="g5_ar"/>
          <p:cNvSpPr/>
          <p:nvPr/>
        </p:nvSpPr>
        <p:spPr>
          <a:xfrm>
            <a:off x="5340096" y="3767328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g6_card"/>
          <p:cNvSpPr/>
          <p:nvPr/>
        </p:nvSpPr>
        <p:spPr>
          <a:xfrm>
            <a:off x="5532120" y="315468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g6_num"/>
          <p:cNvSpPr txBox="1"/>
          <p:nvPr/>
        </p:nvSpPr>
        <p:spPr>
          <a:xfrm>
            <a:off x="5641848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g6_t"/>
          <p:cNvSpPr txBox="1"/>
          <p:nvPr/>
        </p:nvSpPr>
        <p:spPr>
          <a:xfrm>
            <a:off x="5641848" y="370332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ecrã da fila actualiza-se</a:t>
            </a:r>
            <a:endParaRPr lang="en-US" sz="1200" dirty="0"/>
          </a:p>
        </p:txBody>
      </p:sp>
      <p:sp>
        <p:nvSpPr>
          <p:cNvPr id="27" name="g6_ar"/>
          <p:cNvSpPr/>
          <p:nvPr/>
        </p:nvSpPr>
        <p:spPr>
          <a:xfrm>
            <a:off x="7031736" y="3767328"/>
            <a:ext cx="182880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8" name="g7_card"/>
          <p:cNvSpPr/>
          <p:nvPr/>
        </p:nvSpPr>
        <p:spPr>
          <a:xfrm>
            <a:off x="7223760" y="3154680"/>
            <a:ext cx="1463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g7_num"/>
          <p:cNvSpPr txBox="1"/>
          <p:nvPr/>
        </p:nvSpPr>
        <p:spPr>
          <a:xfrm>
            <a:off x="7333488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g7_t"/>
          <p:cNvSpPr txBox="1"/>
          <p:nvPr/>
        </p:nvSpPr>
        <p:spPr>
          <a:xfrm>
            <a:off x="7333488" y="370332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atendimento é registado e entra nos relatórios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Arquitectura em cinco camadas</a:t>
            </a:r>
            <a:endParaRPr lang="en-US" sz="3000" dirty="0"/>
          </a:p>
        </p:txBody>
      </p:sp>
      <p:sp>
        <p:nvSpPr>
          <p:cNvPr id="3" name="g0_chip"/>
          <p:cNvSpPr/>
          <p:nvPr/>
        </p:nvSpPr>
        <p:spPr>
          <a:xfrm>
            <a:off x="457200" y="11887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cl"/>
          <p:cNvSpPr txBox="1"/>
          <p:nvPr/>
        </p:nvSpPr>
        <p:spPr>
          <a:xfrm>
            <a:off x="640080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  Canais de acesso</a:t>
            </a:r>
            <a:endParaRPr lang="en-US" sz="1500" dirty="0"/>
          </a:p>
        </p:txBody>
      </p:sp>
      <p:sp>
        <p:nvSpPr>
          <p:cNvPr id="5" name="g0_card"/>
          <p:cNvSpPr/>
          <p:nvPr/>
        </p:nvSpPr>
        <p:spPr>
          <a:xfrm>
            <a:off x="3337560" y="1188720"/>
            <a:ext cx="5349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6" name="g0_d"/>
          <p:cNvSpPr txBox="1"/>
          <p:nvPr/>
        </p:nvSpPr>
        <p:spPr>
          <a:xfrm>
            <a:off x="352044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Aplicação web no telemóvel, terminal de senhas no posto e mensagens SMS</a:t>
            </a:r>
            <a:endParaRPr lang="en-US" sz="1300" dirty="0"/>
          </a:p>
        </p:txBody>
      </p:sp>
      <p:sp>
        <p:nvSpPr>
          <p:cNvPr id="7" name="g1_chip"/>
          <p:cNvSpPr/>
          <p:nvPr/>
        </p:nvSpPr>
        <p:spPr>
          <a:xfrm>
            <a:off x="457200" y="18745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g1_cl"/>
          <p:cNvSpPr txBox="1"/>
          <p:nvPr/>
        </p:nvSpPr>
        <p:spPr>
          <a:xfrm>
            <a:off x="640080" y="18745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 Aplicação (back-end)</a:t>
            </a:r>
            <a:endParaRPr lang="en-US" sz="1500" dirty="0"/>
          </a:p>
        </p:txBody>
      </p:sp>
      <p:sp>
        <p:nvSpPr>
          <p:cNvPr id="9" name="g1_card"/>
          <p:cNvSpPr/>
          <p:nvPr/>
        </p:nvSpPr>
        <p:spPr>
          <a:xfrm>
            <a:off x="3337560" y="1874520"/>
            <a:ext cx="5349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0" name="g1_d"/>
          <p:cNvSpPr txBox="1"/>
          <p:nvPr/>
        </p:nvSpPr>
        <p:spPr>
          <a:xfrm>
            <a:off x="3520440" y="1874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parte invisível, onde ficam as regras: quem pode marcar, quantas vagas há, quem é o próximo</a:t>
            </a:r>
            <a:endParaRPr lang="en-US" sz="1300" dirty="0"/>
          </a:p>
        </p:txBody>
      </p:sp>
      <p:sp>
        <p:nvSpPr>
          <p:cNvPr id="11" name="g2_chip"/>
          <p:cNvSpPr/>
          <p:nvPr/>
        </p:nvSpPr>
        <p:spPr>
          <a:xfrm>
            <a:off x="457200" y="25603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g2_cl"/>
          <p:cNvSpPr txBox="1"/>
          <p:nvPr/>
        </p:nvSpPr>
        <p:spPr>
          <a:xfrm>
            <a:off x="640080" y="2560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 Dados</a:t>
            </a:r>
            <a:endParaRPr lang="en-US" sz="1500" dirty="0"/>
          </a:p>
        </p:txBody>
      </p:sp>
      <p:sp>
        <p:nvSpPr>
          <p:cNvPr id="13" name="g2_card"/>
          <p:cNvSpPr/>
          <p:nvPr/>
        </p:nvSpPr>
        <p:spPr>
          <a:xfrm>
            <a:off x="3337560" y="2560320"/>
            <a:ext cx="5349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4" name="g2_d"/>
          <p:cNvSpPr txBox="1"/>
          <p:nvPr/>
        </p:nvSpPr>
        <p:spPr>
          <a:xfrm>
            <a:off x="3520440" y="2560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Base de dados com utentes, serviços, marcações, senhas e atendimentos</a:t>
            </a:r>
            <a:endParaRPr lang="en-US" sz="1300" dirty="0"/>
          </a:p>
        </p:txBody>
      </p:sp>
      <p:sp>
        <p:nvSpPr>
          <p:cNvPr id="15" name="g3_chip"/>
          <p:cNvSpPr/>
          <p:nvPr/>
        </p:nvSpPr>
        <p:spPr>
          <a:xfrm>
            <a:off x="457200" y="32461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g3_cl"/>
          <p:cNvSpPr txBox="1"/>
          <p:nvPr/>
        </p:nvSpPr>
        <p:spPr>
          <a:xfrm>
            <a:off x="640080" y="32461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  Serviços de apoio</a:t>
            </a:r>
            <a:endParaRPr lang="en-US" sz="1500" dirty="0"/>
          </a:p>
        </p:txBody>
      </p:sp>
      <p:sp>
        <p:nvSpPr>
          <p:cNvPr id="17" name="g3_card"/>
          <p:cNvSpPr/>
          <p:nvPr/>
        </p:nvSpPr>
        <p:spPr>
          <a:xfrm>
            <a:off x="3337560" y="3246120"/>
            <a:ext cx="5349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8" name="g3_d"/>
          <p:cNvSpPr txBox="1"/>
          <p:nvPr/>
        </p:nvSpPr>
        <p:spPr>
          <a:xfrm>
            <a:off x="3520440" y="3246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Actualizam o ecrã da fila e enviam as mensagens</a:t>
            </a:r>
            <a:endParaRPr lang="en-US" sz="1300" dirty="0"/>
          </a:p>
        </p:txBody>
      </p:sp>
      <p:sp>
        <p:nvSpPr>
          <p:cNvPr id="19" name="g4_chip"/>
          <p:cNvSpPr/>
          <p:nvPr/>
        </p:nvSpPr>
        <p:spPr>
          <a:xfrm>
            <a:off x="457200" y="3931920"/>
            <a:ext cx="27432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g4_cl"/>
          <p:cNvSpPr txBox="1"/>
          <p:nvPr/>
        </p:nvSpPr>
        <p:spPr>
          <a:xfrm>
            <a:off x="640080" y="3931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 Infra-estrutura</a:t>
            </a:r>
            <a:endParaRPr lang="en-US" sz="1500" dirty="0"/>
          </a:p>
        </p:txBody>
      </p:sp>
      <p:sp>
        <p:nvSpPr>
          <p:cNvPr id="21" name="g4_card"/>
          <p:cNvSpPr/>
          <p:nvPr/>
        </p:nvSpPr>
        <p:spPr>
          <a:xfrm>
            <a:off x="3337560" y="3931920"/>
            <a:ext cx="5349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22" name="g4_d"/>
          <p:cNvSpPr txBox="1"/>
          <p:nvPr/>
        </p:nvSpPr>
        <p:spPr>
          <a:xfrm>
            <a:off x="352044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servidor onde tudo funciona e as cópias de segurança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Tecnologias escolhidas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446581"/>
            <a:ext cx="261518" cy="261518"/>
          </a:xfrm>
          <a:prstGeom prst="rect">
            <a:avLst/>
          </a:prstGeom>
        </p:spPr>
      </p:pic>
      <p:sp>
        <p:nvSpPr>
          <p:cNvPr id="6" name="g0_h"/>
          <p:cNvSpPr txBox="1"/>
          <p:nvPr/>
        </p:nvSpPr>
        <p:spPr>
          <a:xfrm>
            <a:off x="1234440" y="13167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Python + Django</a:t>
            </a:r>
            <a:endParaRPr lang="en-US" sz="1500" dirty="0"/>
          </a:p>
        </p:txBody>
      </p:sp>
      <p:sp>
        <p:nvSpPr>
          <p:cNvPr id="7" name="g0_s"/>
          <p:cNvSpPr txBox="1"/>
          <p:nvPr/>
        </p:nvSpPr>
        <p:spPr>
          <a:xfrm>
            <a:off x="1234440" y="15910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Back-end e API</a:t>
            </a:r>
            <a:endParaRPr lang="en-US" sz="1100" dirty="0"/>
          </a:p>
        </p:txBody>
      </p:sp>
      <p:sp>
        <p:nvSpPr>
          <p:cNvPr id="8" name="g0_t"/>
          <p:cNvSpPr txBox="1"/>
          <p:nvPr/>
        </p:nvSpPr>
        <p:spPr>
          <a:xfrm>
            <a:off x="594360" y="19659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Já vem seguro, traz painel de administração e é rápido de desenvolver</a:t>
            </a:r>
            <a:endParaRPr lang="en-US" sz="1250" dirty="0"/>
          </a:p>
        </p:txBody>
      </p:sp>
      <p:sp>
        <p:nvSpPr>
          <p:cNvPr id="9" name="g1_card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g1_ic"/>
          <p:cNvSpPr/>
          <p:nvPr/>
        </p:nvSpPr>
        <p:spPr>
          <a:xfrm>
            <a:off x="338328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81" y="1446581"/>
            <a:ext cx="261518" cy="261518"/>
          </a:xfrm>
          <a:prstGeom prst="rect">
            <a:avLst/>
          </a:prstGeom>
        </p:spPr>
      </p:pic>
      <p:sp>
        <p:nvSpPr>
          <p:cNvPr id="12" name="g1_h"/>
          <p:cNvSpPr txBox="1"/>
          <p:nvPr/>
        </p:nvSpPr>
        <p:spPr>
          <a:xfrm>
            <a:off x="4023360" y="13167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3" name="g1_s"/>
          <p:cNvSpPr txBox="1"/>
          <p:nvPr/>
        </p:nvSpPr>
        <p:spPr>
          <a:xfrm>
            <a:off x="4023360" y="15910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Base de dados</a:t>
            </a:r>
            <a:endParaRPr lang="en-US" sz="1100" dirty="0"/>
          </a:p>
        </p:txBody>
      </p:sp>
      <p:sp>
        <p:nvSpPr>
          <p:cNvPr id="14" name="g1_t"/>
          <p:cNvSpPr txBox="1"/>
          <p:nvPr/>
        </p:nvSpPr>
        <p:spPr>
          <a:xfrm>
            <a:off x="3383280" y="19659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Evita marcações repetidas, é gratuito e cresce connosco</a:t>
            </a:r>
            <a:endParaRPr lang="en-US" sz="1250" dirty="0"/>
          </a:p>
        </p:txBody>
      </p:sp>
      <p:sp>
        <p:nvSpPr>
          <p:cNvPr id="15" name="g2_card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g2_ic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1" y="1446581"/>
            <a:ext cx="261518" cy="261518"/>
          </a:xfrm>
          <a:prstGeom prst="rect">
            <a:avLst/>
          </a:prstGeom>
        </p:spPr>
      </p:pic>
      <p:sp>
        <p:nvSpPr>
          <p:cNvPr id="18" name="g2_h"/>
          <p:cNvSpPr txBox="1"/>
          <p:nvPr/>
        </p:nvSpPr>
        <p:spPr>
          <a:xfrm>
            <a:off x="6812280" y="13167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Channels + Redis</a:t>
            </a:r>
            <a:endParaRPr lang="en-US" sz="1500" dirty="0"/>
          </a:p>
        </p:txBody>
      </p:sp>
      <p:sp>
        <p:nvSpPr>
          <p:cNvPr id="19" name="g2_s"/>
          <p:cNvSpPr txBox="1"/>
          <p:nvPr/>
        </p:nvSpPr>
        <p:spPr>
          <a:xfrm>
            <a:off x="6812280" y="15910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Tempo real</a:t>
            </a:r>
            <a:endParaRPr lang="en-US" sz="1100" dirty="0"/>
          </a:p>
        </p:txBody>
      </p:sp>
      <p:sp>
        <p:nvSpPr>
          <p:cNvPr id="20" name="g2_t"/>
          <p:cNvSpPr txBox="1"/>
          <p:nvPr/>
        </p:nvSpPr>
        <p:spPr>
          <a:xfrm>
            <a:off x="6172200" y="19659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ecrã da fila actualiza sozinho, sem carregar em “actualizar”</a:t>
            </a:r>
            <a:endParaRPr lang="en-US" sz="1250" dirty="0"/>
          </a:p>
        </p:txBody>
      </p:sp>
      <p:sp>
        <p:nvSpPr>
          <p:cNvPr id="21" name="g3_card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g3_ic"/>
          <p:cNvSpPr/>
          <p:nvPr/>
        </p:nvSpPr>
        <p:spPr>
          <a:xfrm>
            <a:off x="594360" y="2926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g3_im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046781"/>
            <a:ext cx="261518" cy="261518"/>
          </a:xfrm>
          <a:prstGeom prst="rect">
            <a:avLst/>
          </a:prstGeom>
        </p:spPr>
      </p:pic>
      <p:sp>
        <p:nvSpPr>
          <p:cNvPr id="24" name="g3_h"/>
          <p:cNvSpPr txBox="1"/>
          <p:nvPr/>
        </p:nvSpPr>
        <p:spPr>
          <a:xfrm>
            <a:off x="1234440" y="2916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PWA</a:t>
            </a:r>
            <a:endParaRPr lang="en-US" sz="1500" dirty="0"/>
          </a:p>
        </p:txBody>
      </p:sp>
      <p:sp>
        <p:nvSpPr>
          <p:cNvPr id="25" name="g3_s"/>
          <p:cNvSpPr txBox="1"/>
          <p:nvPr/>
        </p:nvSpPr>
        <p:spPr>
          <a:xfrm>
            <a:off x="1234440" y="31912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Interface</a:t>
            </a:r>
            <a:endParaRPr lang="en-US" sz="1100" dirty="0"/>
          </a:p>
        </p:txBody>
      </p:sp>
      <p:sp>
        <p:nvSpPr>
          <p:cNvPr id="26" name="g3_t"/>
          <p:cNvSpPr txBox="1"/>
          <p:nvPr/>
        </p:nvSpPr>
        <p:spPr>
          <a:xfrm>
            <a:off x="594360" y="3566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Sem instalar nada, aguenta internet fraca e gasta poucos dados</a:t>
            </a:r>
            <a:endParaRPr lang="en-US" sz="1250" dirty="0"/>
          </a:p>
        </p:txBody>
      </p:sp>
      <p:sp>
        <p:nvSpPr>
          <p:cNvPr id="27" name="g4_card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g4_ic"/>
          <p:cNvSpPr/>
          <p:nvPr/>
        </p:nvSpPr>
        <p:spPr>
          <a:xfrm>
            <a:off x="3383280" y="29260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g4_im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981" y="3046781"/>
            <a:ext cx="261518" cy="261518"/>
          </a:xfrm>
          <a:prstGeom prst="rect">
            <a:avLst/>
          </a:prstGeom>
        </p:spPr>
      </p:pic>
      <p:sp>
        <p:nvSpPr>
          <p:cNvPr id="30" name="g4_h"/>
          <p:cNvSpPr txBox="1"/>
          <p:nvPr/>
        </p:nvSpPr>
        <p:spPr>
          <a:xfrm>
            <a:off x="4023360" y="2916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SMS e WhatsApp</a:t>
            </a:r>
            <a:endParaRPr lang="en-US" sz="1500" dirty="0"/>
          </a:p>
        </p:txBody>
      </p:sp>
      <p:sp>
        <p:nvSpPr>
          <p:cNvPr id="31" name="g4_s"/>
          <p:cNvSpPr txBox="1"/>
          <p:nvPr/>
        </p:nvSpPr>
        <p:spPr>
          <a:xfrm>
            <a:off x="4023360" y="31912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Avisos</a:t>
            </a:r>
            <a:endParaRPr lang="en-US" sz="1100" dirty="0"/>
          </a:p>
        </p:txBody>
      </p:sp>
      <p:sp>
        <p:nvSpPr>
          <p:cNvPr id="32" name="g4_t"/>
          <p:cNvSpPr txBox="1"/>
          <p:nvPr/>
        </p:nvSpPr>
        <p:spPr>
          <a:xfrm>
            <a:off x="3383280" y="3566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Chegam a quem não tem smartphone e diminuem as faltas</a:t>
            </a:r>
            <a:endParaRPr lang="en-US" sz="1250" dirty="0"/>
          </a:p>
        </p:txBody>
      </p:sp>
      <p:sp>
        <p:nvSpPr>
          <p:cNvPr id="33" name="g5_card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g5_ic"/>
          <p:cNvSpPr/>
          <p:nvPr/>
        </p:nvSpPr>
        <p:spPr>
          <a:xfrm>
            <a:off x="6172200" y="29260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5" name="g5_im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901" y="3046781"/>
            <a:ext cx="261518" cy="261518"/>
          </a:xfrm>
          <a:prstGeom prst="rect">
            <a:avLst/>
          </a:prstGeom>
        </p:spPr>
      </p:pic>
      <p:sp>
        <p:nvSpPr>
          <p:cNvPr id="36" name="g5_h"/>
          <p:cNvSpPr txBox="1"/>
          <p:nvPr/>
        </p:nvSpPr>
        <p:spPr>
          <a:xfrm>
            <a:off x="6812280" y="2916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Docker + Nginx</a:t>
            </a:r>
            <a:endParaRPr lang="en-US" sz="1500" dirty="0"/>
          </a:p>
        </p:txBody>
      </p:sp>
      <p:sp>
        <p:nvSpPr>
          <p:cNvPr id="37" name="g5_s"/>
          <p:cNvSpPr txBox="1"/>
          <p:nvPr/>
        </p:nvSpPr>
        <p:spPr>
          <a:xfrm>
            <a:off x="6812280" y="31912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Infra-estrutura</a:t>
            </a:r>
            <a:endParaRPr lang="en-US" sz="1100" dirty="0"/>
          </a:p>
        </p:txBody>
      </p:sp>
      <p:sp>
        <p:nvSpPr>
          <p:cNvPr id="38" name="g5_t"/>
          <p:cNvSpPr txBox="1"/>
          <p:nvPr/>
        </p:nvSpPr>
        <p:spPr>
          <a:xfrm>
            <a:off x="6172200" y="3566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Instalação simples, repetível e fácil de manter</a:t>
            </a:r>
            <a:endParaRPr lang="en-US" sz="1250" dirty="0"/>
          </a:p>
        </p:txBody>
      </p:sp>
      <p:sp>
        <p:nvSpPr>
          <p:cNvPr id="39" name="g6_alt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Alternativas analisadas: Spring Boot, Laravel, Node.js e MySQL.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Chegar a todos e proteger os dados</a:t>
            </a:r>
            <a:endParaRPr lang="en-US" sz="3000" dirty="0"/>
          </a:p>
        </p:txBody>
      </p:sp>
      <p:sp>
        <p:nvSpPr>
          <p:cNvPr id="3" name="g0_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g0_ic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81328"/>
            <a:ext cx="237744" cy="237744"/>
          </a:xfrm>
          <a:prstGeom prst="rect">
            <a:avLst/>
          </a:prstGeom>
        </p:spPr>
      </p:pic>
      <p:sp>
        <p:nvSpPr>
          <p:cNvPr id="6" name="g0_h"/>
          <p:cNvSpPr txBox="1"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Chegar a todos</a:t>
            </a:r>
            <a:endParaRPr lang="en-US" sz="1800" dirty="0"/>
          </a:p>
        </p:txBody>
      </p:sp>
      <p:sp>
        <p:nvSpPr>
          <p:cNvPr id="7" name="g0_ic"/>
          <p:cNvSpPr/>
          <p:nvPr/>
        </p:nvSpPr>
        <p:spPr>
          <a:xfrm>
            <a:off x="685800" y="20574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g0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" y="2156155"/>
            <a:ext cx="213970" cy="213970"/>
          </a:xfrm>
          <a:prstGeom prst="rect">
            <a:avLst/>
          </a:prstGeom>
        </p:spPr>
      </p:pic>
      <p:sp>
        <p:nvSpPr>
          <p:cNvPr id="9" name="g0_c0"/>
          <p:cNvSpPr txBox="1"/>
          <p:nvPr/>
        </p:nvSpPr>
        <p:spPr>
          <a:xfrm>
            <a:off x="1280160" y="20116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Chega a qualquer telemóvel</a:t>
            </a:r>
            <a:endParaRPr lang="en-US" sz="1400" dirty="0"/>
          </a:p>
        </p:txBody>
      </p:sp>
      <p:sp>
        <p:nvSpPr>
          <p:cNvPr id="10" name="g0_ic"/>
          <p:cNvSpPr/>
          <p:nvPr/>
        </p:nvSpPr>
        <p:spPr>
          <a:xfrm>
            <a:off x="685800" y="26974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g0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2796235"/>
            <a:ext cx="213970" cy="213970"/>
          </a:xfrm>
          <a:prstGeom prst="rect">
            <a:avLst/>
          </a:prstGeom>
        </p:spPr>
      </p:pic>
      <p:sp>
        <p:nvSpPr>
          <p:cNvPr id="12" name="g0_c1"/>
          <p:cNvSpPr txBox="1"/>
          <p:nvPr/>
        </p:nvSpPr>
        <p:spPr>
          <a:xfrm>
            <a:off x="1280160" y="26517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WhatsApp Business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Muito usado em Angola; custos a confirmar</a:t>
            </a:r>
            <a:endParaRPr lang="en-US" sz="1400" dirty="0"/>
          </a:p>
        </p:txBody>
      </p:sp>
      <p:sp>
        <p:nvSpPr>
          <p:cNvPr id="13" name="g0_ic"/>
          <p:cNvSpPr/>
          <p:nvPr/>
        </p:nvSpPr>
        <p:spPr>
          <a:xfrm>
            <a:off x="685800" y="3337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g0_im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3436315"/>
            <a:ext cx="213970" cy="213970"/>
          </a:xfrm>
          <a:prstGeom prst="rect">
            <a:avLst/>
          </a:prstGeom>
        </p:spPr>
      </p:pic>
      <p:sp>
        <p:nvSpPr>
          <p:cNvPr id="15" name="g0_c2"/>
          <p:cNvSpPr txBox="1"/>
          <p:nvPr/>
        </p:nvSpPr>
        <p:spPr>
          <a:xfrm>
            <a:off x="1280160" y="32918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Terminal de senhas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 quem não marcou ou não tem smartphone</a:t>
            </a:r>
            <a:endParaRPr lang="en-US" sz="1400" dirty="0"/>
          </a:p>
        </p:txBody>
      </p:sp>
      <p:sp>
        <p:nvSpPr>
          <p:cNvPr id="16" name="g0_ic"/>
          <p:cNvSpPr/>
          <p:nvPr/>
        </p:nvSpPr>
        <p:spPr>
          <a:xfrm>
            <a:off x="685800" y="39776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g0_im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4076395"/>
            <a:ext cx="213970" cy="213970"/>
          </a:xfrm>
          <a:prstGeom prst="rect">
            <a:avLst/>
          </a:prstGeom>
        </p:spPr>
      </p:pic>
      <p:sp>
        <p:nvSpPr>
          <p:cNvPr id="18" name="g0_c3"/>
          <p:cNvSpPr txBox="1"/>
          <p:nvPr/>
        </p:nvSpPr>
        <p:spPr>
          <a:xfrm>
            <a:off x="12801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USSD (fase seguinte)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Código no telemóvel, sem internet; exige acordo com operadores</a:t>
            </a:r>
            <a:endParaRPr lang="en-US" sz="1400" dirty="0"/>
          </a:p>
        </p:txBody>
      </p:sp>
      <p:sp>
        <p:nvSpPr>
          <p:cNvPr id="19" name="g1_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g1_ic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g1_im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22" name="g1_h"/>
          <p:cNvSpPr txBox="1"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Proteger os dados</a:t>
            </a:r>
            <a:endParaRPr lang="en-US" sz="1800" dirty="0"/>
          </a:p>
        </p:txBody>
      </p:sp>
      <p:sp>
        <p:nvSpPr>
          <p:cNvPr id="23" name="g1_ck0"/>
          <p:cNvSpPr/>
          <p:nvPr/>
        </p:nvSpPr>
        <p:spPr>
          <a:xfrm>
            <a:off x="4937760" y="2048256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g1_ci0" descr="vist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196" y="2107692"/>
            <a:ext cx="118872" cy="118872"/>
          </a:xfrm>
          <a:prstGeom prst="rect">
            <a:avLst/>
          </a:prstGeom>
        </p:spPr>
      </p:pic>
      <p:sp>
        <p:nvSpPr>
          <p:cNvPr id="25" name="g1_t0"/>
          <p:cNvSpPr txBox="1"/>
          <p:nvPr/>
        </p:nvSpPr>
        <p:spPr>
          <a:xfrm>
            <a:off x="5349240" y="2011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HTTPS em todo o lado</a:t>
            </a:r>
            <a:endParaRPr lang="en-US" sz="1300" dirty="0"/>
          </a:p>
        </p:txBody>
      </p:sp>
      <p:sp>
        <p:nvSpPr>
          <p:cNvPr id="26" name="g1_ck1"/>
          <p:cNvSpPr/>
          <p:nvPr/>
        </p:nvSpPr>
        <p:spPr>
          <a:xfrm>
            <a:off x="4937760" y="2423160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g1_ci1" descr="vist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196" y="2482596"/>
            <a:ext cx="118872" cy="118872"/>
          </a:xfrm>
          <a:prstGeom prst="rect">
            <a:avLst/>
          </a:prstGeom>
        </p:spPr>
      </p:pic>
      <p:sp>
        <p:nvSpPr>
          <p:cNvPr id="28" name="g1_t1"/>
          <p:cNvSpPr txBox="1"/>
          <p:nvPr/>
        </p:nvSpPr>
        <p:spPr>
          <a:xfrm>
            <a:off x="5349240" y="2386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Palavras-passe cifradas (hash)</a:t>
            </a:r>
            <a:endParaRPr lang="en-US" sz="1300" dirty="0"/>
          </a:p>
        </p:txBody>
      </p:sp>
      <p:sp>
        <p:nvSpPr>
          <p:cNvPr id="29" name="g1_ck2"/>
          <p:cNvSpPr/>
          <p:nvPr/>
        </p:nvSpPr>
        <p:spPr>
          <a:xfrm>
            <a:off x="4937760" y="2798064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g1_ci2" descr="vist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7196" y="2857500"/>
            <a:ext cx="118872" cy="118872"/>
          </a:xfrm>
          <a:prstGeom prst="rect">
            <a:avLst/>
          </a:prstGeom>
        </p:spPr>
      </p:pic>
      <p:sp>
        <p:nvSpPr>
          <p:cNvPr id="31" name="g1_t2"/>
          <p:cNvSpPr txBox="1"/>
          <p:nvPr/>
        </p:nvSpPr>
        <p:spPr>
          <a:xfrm>
            <a:off x="5349240" y="27614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Perfis com permissões diferentes</a:t>
            </a:r>
            <a:endParaRPr lang="en-US" sz="1300" dirty="0"/>
          </a:p>
        </p:txBody>
      </p:sp>
      <p:sp>
        <p:nvSpPr>
          <p:cNvPr id="32" name="g1_ck3"/>
          <p:cNvSpPr/>
          <p:nvPr/>
        </p:nvSpPr>
        <p:spPr>
          <a:xfrm>
            <a:off x="4937760" y="31729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g1_ci3" descr="vist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7196" y="3232404"/>
            <a:ext cx="118872" cy="118872"/>
          </a:xfrm>
          <a:prstGeom prst="rect">
            <a:avLst/>
          </a:prstGeom>
        </p:spPr>
      </p:pic>
      <p:sp>
        <p:nvSpPr>
          <p:cNvPr id="34" name="g1_t3"/>
          <p:cNvSpPr txBox="1"/>
          <p:nvPr/>
        </p:nvSpPr>
        <p:spPr>
          <a:xfrm>
            <a:off x="5349240" y="3136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Telemóvel confirmado por SMS</a:t>
            </a:r>
            <a:endParaRPr lang="en-US" sz="1300" dirty="0"/>
          </a:p>
        </p:txBody>
      </p:sp>
      <p:sp>
        <p:nvSpPr>
          <p:cNvPr id="35" name="g1_ck4"/>
          <p:cNvSpPr/>
          <p:nvPr/>
        </p:nvSpPr>
        <p:spPr>
          <a:xfrm>
            <a:off x="4937760" y="3547872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g1_ci4" descr="vist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7196" y="3607308"/>
            <a:ext cx="118872" cy="118872"/>
          </a:xfrm>
          <a:prstGeom prst="rect">
            <a:avLst/>
          </a:prstGeom>
        </p:spPr>
      </p:pic>
      <p:sp>
        <p:nvSpPr>
          <p:cNvPr id="37" name="g1_t4"/>
          <p:cNvSpPr txBox="1"/>
          <p:nvPr/>
        </p:nvSpPr>
        <p:spPr>
          <a:xfrm>
            <a:off x="5349240" y="3511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Limite de marcações por pessoa</a:t>
            </a:r>
            <a:endParaRPr lang="en-US" sz="1300" dirty="0"/>
          </a:p>
        </p:txBody>
      </p:sp>
      <p:sp>
        <p:nvSpPr>
          <p:cNvPr id="38" name="g1_ck5"/>
          <p:cNvSpPr/>
          <p:nvPr/>
        </p:nvSpPr>
        <p:spPr>
          <a:xfrm>
            <a:off x="4937760" y="3922776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g1_ci5" descr="vist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7196" y="3982212"/>
            <a:ext cx="118872" cy="118872"/>
          </a:xfrm>
          <a:prstGeom prst="rect">
            <a:avLst/>
          </a:prstGeom>
        </p:spPr>
      </p:pic>
      <p:sp>
        <p:nvSpPr>
          <p:cNvPr id="40" name="g1_t5"/>
          <p:cNvSpPr txBox="1"/>
          <p:nvPr/>
        </p:nvSpPr>
        <p:spPr>
          <a:xfrm>
            <a:off x="5349240" y="38862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Registo de acções e backups</a:t>
            </a:r>
            <a:endParaRPr lang="en-US" sz="1300" dirty="0"/>
          </a:p>
        </p:txBody>
      </p:sp>
      <p:sp>
        <p:nvSpPr>
          <p:cNvPr id="41" name="g1_ck6"/>
          <p:cNvSpPr/>
          <p:nvPr/>
        </p:nvSpPr>
        <p:spPr>
          <a:xfrm>
            <a:off x="4937760" y="4297680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2" name="g1_ci6" descr="vist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7196" y="4357116"/>
            <a:ext cx="118872" cy="118872"/>
          </a:xfrm>
          <a:prstGeom prst="rect">
            <a:avLst/>
          </a:prstGeom>
        </p:spPr>
      </p:pic>
      <p:sp>
        <p:nvSpPr>
          <p:cNvPr id="43" name="g1_t6"/>
          <p:cNvSpPr txBox="1"/>
          <p:nvPr/>
        </p:nvSpPr>
        <p:spPr>
          <a:xfrm>
            <a:off x="5349240" y="4261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Dados mínimos, segundo a Lei 22/11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Riscos e como os prevenimos</a:t>
            </a:r>
            <a:endParaRPr lang="en-US" sz="3000" dirty="0"/>
          </a:p>
        </p:txBody>
      </p:sp>
      <p:sp>
        <p:nvSpPr>
          <p:cNvPr id="3" name="g0_l1"/>
          <p:cNvSpPr txBox="1"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 QUE PODE CORRER MAL</a:t>
            </a:r>
            <a:endParaRPr lang="en-US" sz="1100" dirty="0"/>
          </a:p>
        </p:txBody>
      </p:sp>
      <p:sp>
        <p:nvSpPr>
          <p:cNvPr id="4" name="g0_l2"/>
          <p:cNvSpPr txBox="1"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COMO PREVENIMOS</a:t>
            </a:r>
            <a:endParaRPr lang="en-US" sz="1100" dirty="0"/>
          </a:p>
        </p:txBody>
      </p:sp>
      <p:sp>
        <p:nvSpPr>
          <p:cNvPr id="5" name="g1_a"/>
          <p:cNvSpPr/>
          <p:nvPr/>
        </p:nvSpPr>
        <p:spPr>
          <a:xfrm>
            <a:off x="457200" y="1417320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6" name="g1_ic"/>
          <p:cNvSpPr/>
          <p:nvPr/>
        </p:nvSpPr>
        <p:spPr>
          <a:xfrm>
            <a:off x="566928" y="149961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g1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54" y="1569842"/>
            <a:ext cx="152156" cy="152156"/>
          </a:xfrm>
          <a:prstGeom prst="rect">
            <a:avLst/>
          </a:prstGeom>
        </p:spPr>
      </p:pic>
      <p:sp>
        <p:nvSpPr>
          <p:cNvPr id="8" name="g1_at"/>
          <p:cNvSpPr txBox="1"/>
          <p:nvPr/>
        </p:nvSpPr>
        <p:spPr>
          <a:xfrm>
            <a:off x="9601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Falha de rede ou de energia no posto</a:t>
            </a:r>
            <a:endParaRPr lang="en-US" sz="1300" dirty="0"/>
          </a:p>
        </p:txBody>
      </p:sp>
      <p:sp>
        <p:nvSpPr>
          <p:cNvPr id="9" name="g1_ar"/>
          <p:cNvSpPr/>
          <p:nvPr/>
        </p:nvSpPr>
        <p:spPr>
          <a:xfrm>
            <a:off x="4645152" y="1545336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g1_b"/>
          <p:cNvSpPr/>
          <p:nvPr/>
        </p:nvSpPr>
        <p:spPr>
          <a:xfrm>
            <a:off x="4937760" y="1417320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1" name="g1_ic"/>
          <p:cNvSpPr/>
          <p:nvPr/>
        </p:nvSpPr>
        <p:spPr>
          <a:xfrm>
            <a:off x="5047488" y="1499616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714" y="1569842"/>
            <a:ext cx="152156" cy="152156"/>
          </a:xfrm>
          <a:prstGeom prst="rect">
            <a:avLst/>
          </a:prstGeom>
        </p:spPr>
      </p:pic>
      <p:sp>
        <p:nvSpPr>
          <p:cNvPr id="13" name="g1_bt"/>
          <p:cNvSpPr txBox="1"/>
          <p:nvPr/>
        </p:nvSpPr>
        <p:spPr>
          <a:xfrm>
            <a:off x="544068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Servidor local de reserva e UPS</a:t>
            </a:r>
            <a:endParaRPr lang="en-US" sz="1300" dirty="0"/>
          </a:p>
        </p:txBody>
      </p:sp>
      <p:sp>
        <p:nvSpPr>
          <p:cNvPr id="14" name="g2_a"/>
          <p:cNvSpPr/>
          <p:nvPr/>
        </p:nvSpPr>
        <p:spPr>
          <a:xfrm>
            <a:off x="457200" y="1947672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5" name="g2_ic"/>
          <p:cNvSpPr/>
          <p:nvPr/>
        </p:nvSpPr>
        <p:spPr>
          <a:xfrm>
            <a:off x="566928" y="202996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2100194"/>
            <a:ext cx="152156" cy="152156"/>
          </a:xfrm>
          <a:prstGeom prst="rect">
            <a:avLst/>
          </a:prstGeom>
        </p:spPr>
      </p:pic>
      <p:sp>
        <p:nvSpPr>
          <p:cNvPr id="17" name="g2_at"/>
          <p:cNvSpPr txBox="1"/>
          <p:nvPr/>
        </p:nvSpPr>
        <p:spPr>
          <a:xfrm>
            <a:off x="960120" y="1947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Pouca adesão por falta de hábito com tecnologia</a:t>
            </a:r>
            <a:endParaRPr lang="en-US" sz="1300" dirty="0"/>
          </a:p>
        </p:txBody>
      </p:sp>
      <p:sp>
        <p:nvSpPr>
          <p:cNvPr id="18" name="g2_ar"/>
          <p:cNvSpPr/>
          <p:nvPr/>
        </p:nvSpPr>
        <p:spPr>
          <a:xfrm>
            <a:off x="4645152" y="2075688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9" name="g2_b"/>
          <p:cNvSpPr/>
          <p:nvPr/>
        </p:nvSpPr>
        <p:spPr>
          <a:xfrm>
            <a:off x="4937760" y="1947672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g2_ic"/>
          <p:cNvSpPr/>
          <p:nvPr/>
        </p:nvSpPr>
        <p:spPr>
          <a:xfrm>
            <a:off x="5047488" y="202996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g2_im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714" y="2100194"/>
            <a:ext cx="152156" cy="152156"/>
          </a:xfrm>
          <a:prstGeom prst="rect">
            <a:avLst/>
          </a:prstGeom>
        </p:spPr>
      </p:pic>
      <p:sp>
        <p:nvSpPr>
          <p:cNvPr id="22" name="g2_bt"/>
          <p:cNvSpPr txBox="1"/>
          <p:nvPr/>
        </p:nvSpPr>
        <p:spPr>
          <a:xfrm>
            <a:off x="5440680" y="1947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Senha impressa, SMS e ajuda de um funcionário</a:t>
            </a:r>
            <a:endParaRPr lang="en-US" sz="1300" dirty="0"/>
          </a:p>
        </p:txBody>
      </p:sp>
      <p:sp>
        <p:nvSpPr>
          <p:cNvPr id="23" name="g3_a"/>
          <p:cNvSpPr/>
          <p:nvPr/>
        </p:nvSpPr>
        <p:spPr>
          <a:xfrm>
            <a:off x="457200" y="2478024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g3_ic"/>
          <p:cNvSpPr/>
          <p:nvPr/>
        </p:nvSpPr>
        <p:spPr>
          <a:xfrm>
            <a:off x="566928" y="2560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g3_im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2630546"/>
            <a:ext cx="152156" cy="152156"/>
          </a:xfrm>
          <a:prstGeom prst="rect">
            <a:avLst/>
          </a:prstGeom>
        </p:spPr>
      </p:pic>
      <p:sp>
        <p:nvSpPr>
          <p:cNvPr id="26" name="g3_at"/>
          <p:cNvSpPr txBox="1"/>
          <p:nvPr/>
        </p:nvSpPr>
        <p:spPr>
          <a:xfrm>
            <a:off x="960120" y="2478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Marcações falsas ou abusivas</a:t>
            </a:r>
            <a:endParaRPr lang="en-US" sz="1300" dirty="0"/>
          </a:p>
        </p:txBody>
      </p:sp>
      <p:sp>
        <p:nvSpPr>
          <p:cNvPr id="27" name="g3_ar"/>
          <p:cNvSpPr/>
          <p:nvPr/>
        </p:nvSpPr>
        <p:spPr>
          <a:xfrm>
            <a:off x="4645152" y="2606040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8" name="g3_b"/>
          <p:cNvSpPr/>
          <p:nvPr/>
        </p:nvSpPr>
        <p:spPr>
          <a:xfrm>
            <a:off x="4937760" y="2478024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9" name="g3_ic"/>
          <p:cNvSpPr/>
          <p:nvPr/>
        </p:nvSpPr>
        <p:spPr>
          <a:xfrm>
            <a:off x="5047488" y="256032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g3_im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7714" y="2630546"/>
            <a:ext cx="152156" cy="152156"/>
          </a:xfrm>
          <a:prstGeom prst="rect">
            <a:avLst/>
          </a:prstGeom>
        </p:spPr>
      </p:pic>
      <p:sp>
        <p:nvSpPr>
          <p:cNvPr id="31" name="g3_bt"/>
          <p:cNvSpPr txBox="1"/>
          <p:nvPr/>
        </p:nvSpPr>
        <p:spPr>
          <a:xfrm>
            <a:off x="5440680" y="24780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Confirmação por SMS e limite por pessoa</a:t>
            </a:r>
            <a:endParaRPr lang="en-US" sz="1300" dirty="0"/>
          </a:p>
        </p:txBody>
      </p:sp>
      <p:sp>
        <p:nvSpPr>
          <p:cNvPr id="32" name="g4_a"/>
          <p:cNvSpPr/>
          <p:nvPr/>
        </p:nvSpPr>
        <p:spPr>
          <a:xfrm>
            <a:off x="457200" y="3008376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3" name="g4_ic"/>
          <p:cNvSpPr/>
          <p:nvPr/>
        </p:nvSpPr>
        <p:spPr>
          <a:xfrm>
            <a:off x="566928" y="309067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g4_im" descr="íco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154" y="3160898"/>
            <a:ext cx="152156" cy="152156"/>
          </a:xfrm>
          <a:prstGeom prst="rect">
            <a:avLst/>
          </a:prstGeom>
        </p:spPr>
      </p:pic>
      <p:sp>
        <p:nvSpPr>
          <p:cNvPr id="35" name="g4_at"/>
          <p:cNvSpPr txBox="1"/>
          <p:nvPr/>
        </p:nvSpPr>
        <p:spPr>
          <a:xfrm>
            <a:off x="960120" y="3008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Dados pessoais expostos</a:t>
            </a:r>
            <a:endParaRPr lang="en-US" sz="1300" dirty="0"/>
          </a:p>
        </p:txBody>
      </p:sp>
      <p:sp>
        <p:nvSpPr>
          <p:cNvPr id="36" name="g4_ar"/>
          <p:cNvSpPr/>
          <p:nvPr/>
        </p:nvSpPr>
        <p:spPr>
          <a:xfrm>
            <a:off x="4645152" y="3136392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37" name="g4_b"/>
          <p:cNvSpPr/>
          <p:nvPr/>
        </p:nvSpPr>
        <p:spPr>
          <a:xfrm>
            <a:off x="4937760" y="3008376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8" name="g4_ic"/>
          <p:cNvSpPr/>
          <p:nvPr/>
        </p:nvSpPr>
        <p:spPr>
          <a:xfrm>
            <a:off x="5047488" y="309067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g4_im" descr="íc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7714" y="3160898"/>
            <a:ext cx="152156" cy="152156"/>
          </a:xfrm>
          <a:prstGeom prst="rect">
            <a:avLst/>
          </a:prstGeom>
        </p:spPr>
      </p:pic>
      <p:sp>
        <p:nvSpPr>
          <p:cNvPr id="40" name="g4_bt"/>
          <p:cNvSpPr txBox="1"/>
          <p:nvPr/>
        </p:nvSpPr>
        <p:spPr>
          <a:xfrm>
            <a:off x="5440680" y="3008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Cifragem, permissões e dados mínimos</a:t>
            </a:r>
            <a:endParaRPr lang="en-US" sz="1300" dirty="0"/>
          </a:p>
        </p:txBody>
      </p:sp>
      <p:sp>
        <p:nvSpPr>
          <p:cNvPr id="41" name="g5_a"/>
          <p:cNvSpPr/>
          <p:nvPr/>
        </p:nvSpPr>
        <p:spPr>
          <a:xfrm>
            <a:off x="457200" y="3538728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2" name="g5_ic"/>
          <p:cNvSpPr/>
          <p:nvPr/>
        </p:nvSpPr>
        <p:spPr>
          <a:xfrm>
            <a:off x="566928" y="362102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g5_im" descr="íco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54" y="3691250"/>
            <a:ext cx="152156" cy="152156"/>
          </a:xfrm>
          <a:prstGeom prst="rect">
            <a:avLst/>
          </a:prstGeom>
        </p:spPr>
      </p:pic>
      <p:sp>
        <p:nvSpPr>
          <p:cNvPr id="44" name="g5_at"/>
          <p:cNvSpPr txBox="1"/>
          <p:nvPr/>
        </p:nvSpPr>
        <p:spPr>
          <a:xfrm>
            <a:off x="960120" y="3538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Dificuldade em ligar a sistemas do Estado</a:t>
            </a:r>
            <a:endParaRPr lang="en-US" sz="1300" dirty="0"/>
          </a:p>
        </p:txBody>
      </p:sp>
      <p:sp>
        <p:nvSpPr>
          <p:cNvPr id="45" name="g5_ar"/>
          <p:cNvSpPr/>
          <p:nvPr/>
        </p:nvSpPr>
        <p:spPr>
          <a:xfrm>
            <a:off x="4645152" y="3666744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46" name="g5_b"/>
          <p:cNvSpPr/>
          <p:nvPr/>
        </p:nvSpPr>
        <p:spPr>
          <a:xfrm>
            <a:off x="4937760" y="3538728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7" name="g5_ic"/>
          <p:cNvSpPr/>
          <p:nvPr/>
        </p:nvSpPr>
        <p:spPr>
          <a:xfrm>
            <a:off x="5047488" y="3621024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8" name="g5_im" descr="ícon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7714" y="3691250"/>
            <a:ext cx="152156" cy="152156"/>
          </a:xfrm>
          <a:prstGeom prst="rect">
            <a:avLst/>
          </a:prstGeom>
        </p:spPr>
      </p:pic>
      <p:sp>
        <p:nvSpPr>
          <p:cNvPr id="49" name="g5_bt"/>
          <p:cNvSpPr txBox="1"/>
          <p:nvPr/>
        </p:nvSpPr>
        <p:spPr>
          <a:xfrm>
            <a:off x="5440680" y="3538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Arquitectura aberta com API documentada</a:t>
            </a:r>
            <a:endParaRPr lang="en-US" sz="1300" dirty="0"/>
          </a:p>
        </p:txBody>
      </p:sp>
      <p:sp>
        <p:nvSpPr>
          <p:cNvPr id="50" name="g6_a"/>
          <p:cNvSpPr/>
          <p:nvPr/>
        </p:nvSpPr>
        <p:spPr>
          <a:xfrm>
            <a:off x="457200" y="4069080"/>
            <a:ext cx="411480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1" name="g6_ic"/>
          <p:cNvSpPr/>
          <p:nvPr/>
        </p:nvSpPr>
        <p:spPr>
          <a:xfrm>
            <a:off x="566928" y="41513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2" name="g6_im" descr="ícon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154" y="4221602"/>
            <a:ext cx="152156" cy="152156"/>
          </a:xfrm>
          <a:prstGeom prst="rect">
            <a:avLst/>
          </a:prstGeom>
        </p:spPr>
      </p:pic>
      <p:sp>
        <p:nvSpPr>
          <p:cNvPr id="53" name="g6_at"/>
          <p:cNvSpPr txBox="1"/>
          <p:nvPr/>
        </p:nvSpPr>
        <p:spPr>
          <a:xfrm>
            <a:off x="96012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Funcionários que não gostam da mudança</a:t>
            </a:r>
            <a:endParaRPr lang="en-US" sz="1300" dirty="0"/>
          </a:p>
        </p:txBody>
      </p:sp>
      <p:sp>
        <p:nvSpPr>
          <p:cNvPr id="54" name="g6_ar"/>
          <p:cNvSpPr/>
          <p:nvPr/>
        </p:nvSpPr>
        <p:spPr>
          <a:xfrm>
            <a:off x="4645152" y="4197096"/>
            <a:ext cx="219456" cy="201168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55" name="g6_b"/>
          <p:cNvSpPr/>
          <p:nvPr/>
        </p:nvSpPr>
        <p:spPr>
          <a:xfrm>
            <a:off x="4937760" y="4069080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6" name="g6_ic"/>
          <p:cNvSpPr/>
          <p:nvPr/>
        </p:nvSpPr>
        <p:spPr>
          <a:xfrm>
            <a:off x="5047488" y="4151376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7" name="g6_im" descr="ícon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7714" y="4221602"/>
            <a:ext cx="152156" cy="152156"/>
          </a:xfrm>
          <a:prstGeom prst="rect">
            <a:avLst/>
          </a:prstGeom>
        </p:spPr>
      </p:pic>
      <p:sp>
        <p:nvSpPr>
          <p:cNvPr id="58" name="g6_bt"/>
          <p:cNvSpPr txBox="1"/>
          <p:nvPr/>
        </p:nvSpPr>
        <p:spPr>
          <a:xfrm>
            <a:off x="544068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Envolvê-los desde o início e dar formação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Conclusão</a:t>
            </a:r>
            <a:endParaRPr lang="en-US" sz="3000" dirty="0"/>
          </a:p>
        </p:txBody>
      </p:sp>
      <p:sp>
        <p:nvSpPr>
          <p:cNvPr id="3" name="g0_ic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g0_im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457554"/>
            <a:ext cx="285293" cy="285293"/>
          </a:xfrm>
          <a:prstGeom prst="rect">
            <a:avLst/>
          </a:prstGeom>
        </p:spPr>
      </p:pic>
      <p:sp>
        <p:nvSpPr>
          <p:cNvPr id="5" name="g0_t"/>
          <p:cNvSpPr txBox="1"/>
          <p:nvPr/>
        </p:nvSpPr>
        <p:spPr>
          <a:xfrm>
            <a:off x="1234440" y="1234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Marcar online já existe em Angola; falta ligá-lo à fila no próprio posto.</a:t>
            </a:r>
            <a:endParaRPr lang="en-US" sz="1500" dirty="0"/>
          </a:p>
        </p:txBody>
      </p:sp>
      <p:sp>
        <p:nvSpPr>
          <p:cNvPr id="6" name="g1_ic"/>
          <p:cNvSpPr/>
          <p:nvPr/>
        </p:nvSpPr>
        <p:spPr>
          <a:xfrm>
            <a:off x="457200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g1_im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600554"/>
            <a:ext cx="285293" cy="285293"/>
          </a:xfrm>
          <a:prstGeom prst="rect">
            <a:avLst/>
          </a:prstGeom>
        </p:spPr>
      </p:pic>
      <p:sp>
        <p:nvSpPr>
          <p:cNvPr id="8" name="g1_t"/>
          <p:cNvSpPr txBox="1"/>
          <p:nvPr/>
        </p:nvSpPr>
        <p:spPr>
          <a:xfrm>
            <a:off x="123444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Solução própria, aberta e de baixo custo, pensada também para quem não tem smartphone.</a:t>
            </a:r>
            <a:endParaRPr lang="en-US" sz="1500" dirty="0"/>
          </a:p>
        </p:txBody>
      </p:sp>
      <p:sp>
        <p:nvSpPr>
          <p:cNvPr id="9" name="g2_ic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g2_im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3743554"/>
            <a:ext cx="285293" cy="285293"/>
          </a:xfrm>
          <a:prstGeom prst="rect">
            <a:avLst/>
          </a:prstGeom>
        </p:spPr>
      </p:pic>
      <p:sp>
        <p:nvSpPr>
          <p:cNvPr id="11" name="g2_t"/>
          <p:cNvSpPr txBox="1"/>
          <p:nvPr/>
        </p:nvSpPr>
        <p:spPr>
          <a:xfrm>
            <a:off x="1234440" y="3520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Próximos passos: medir no posto, construir o protótipo e testar com utentes.</a:t>
            </a:r>
            <a:endParaRPr lang="en-US" sz="1500" dirty="0"/>
          </a:p>
        </p:txBody>
      </p:sp>
      <p:sp>
        <p:nvSpPr>
          <p:cNvPr id="12" name="g3_card"/>
          <p:cNvSpPr/>
          <p:nvPr/>
        </p:nvSpPr>
        <p:spPr>
          <a:xfrm>
            <a:off x="5394960" y="1188720"/>
            <a:ext cx="3291840" cy="338328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g3_logo" descr="Logótipo do SIA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17320"/>
            <a:ext cx="2651760" cy="1353312"/>
          </a:xfrm>
          <a:prstGeom prst="rect">
            <a:avLst/>
          </a:prstGeom>
        </p:spPr>
      </p:pic>
      <p:sp>
        <p:nvSpPr>
          <p:cNvPr id="14" name="g4_ob"/>
          <p:cNvSpPr txBox="1"/>
          <p:nvPr/>
        </p:nvSpPr>
        <p:spPr>
          <a:xfrm>
            <a:off x="539496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15" name="g5_pq"/>
          <p:cNvSpPr txBox="1"/>
          <p:nvPr/>
        </p:nvSpPr>
        <p:spPr>
          <a:xfrm>
            <a:off x="539496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SIAC Defesa">
  <a:themeElements>
    <a:clrScheme name="SIAC Defesa">
      <a:dk1>
        <a:srgbClr val="1F2026"/>
      </a:dk1>
      <a:lt1>
        <a:srgbClr val="FFFFFF"/>
      </a:lt1>
      <a:dk2>
        <a:srgbClr val="2B2D36"/>
      </a:dk2>
      <a:lt2>
        <a:srgbClr val="F3F5F9"/>
      </a:lt2>
      <a:accent1>
        <a:srgbClr val="D7263D"/>
      </a:accent1>
      <a:accent2>
        <a:srgbClr val="0077B6"/>
      </a:accent2>
      <a:accent3>
        <a:srgbClr val="FFC72C"/>
      </a:accent3>
      <a:accent4>
        <a:srgbClr val="2E9E6B"/>
      </a:accent4>
      <a:accent5>
        <a:srgbClr val="5B6472"/>
      </a:accent5>
      <a:accent6>
        <a:srgbClr val="8A94A6"/>
      </a:accent6>
      <a:hlink>
        <a:srgbClr val="0077B6"/>
      </a:hlink>
      <a:folHlink>
        <a:srgbClr val="5B6472"/>
      </a:folHlink>
    </a:clrScheme>
    <a:fontScheme name="SIAC Defes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Agendamento e Gestão de Filas de Atendimento para o SIAC</dc:title>
  <dc:subject>PptxGenJS Presentation</dc:subject>
  <dc:creator>Manuel Mavitidi Da Cunha</dc:creator>
  <cp:lastModifiedBy>Manuel Mavitidi Da Cunha</cp:lastModifiedBy>
  <cp:revision>1</cp:revision>
  <dcterms:created xsi:type="dcterms:W3CDTF">2026-10-20T18:38:37Z</dcterms:created>
  <dcterms:modified xsi:type="dcterms:W3CDTF">2026-10-20T18:38:37Z</dcterms:modified>
</cp:coreProperties>
</file>